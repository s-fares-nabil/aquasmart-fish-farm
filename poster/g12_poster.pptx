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4"/>
  </p:sldMasterIdLst>
  <p:notesMasterIdLst>
    <p:notesMasterId r:id="rId6"/>
  </p:notesMasterIdLst>
  <p:sldIdLst>
    <p:sldId id="259" r:id="rId5"/>
  </p:sldIdLst>
  <p:sldSz cx="23039388" cy="17279938"/>
  <p:notesSz cx="6858000" cy="9144000"/>
  <p:embeddedFontLst>
    <p:embeddedFont>
      <p:font typeface="Agency FB" panose="020B0503020202020204" pitchFamily="34" charset="0"/>
      <p:regular r:id="rId7"/>
      <p:bold r:id="rId8"/>
    </p:embeddedFont>
    <p:embeddedFont>
      <p:font typeface="Aharoni" panose="020F0502020204030204" pitchFamily="2" charset="-79"/>
      <p:bold r:id="rId9"/>
    </p:embeddedFont>
    <p:embeddedFont>
      <p:font typeface="Boucherie Block" panose="020F0502020204030204" pitchFamily="2" charset="0"/>
      <p:regular r:id="rId10"/>
      <p:bold r:id="rId11"/>
      <p:italic r:id="rId12"/>
    </p:embeddedFont>
    <p:embeddedFont>
      <p:font typeface="Cambria Math" panose="02040503050406030204" pitchFamily="18" charset="0"/>
      <p:regular r:id="rId13"/>
    </p:embeddedFont>
    <p:embeddedFont>
      <p:font typeface="Copperplate Gothic Bold" panose="020E0705020206020404" pitchFamily="34" charset="0"/>
      <p:regular r:id="rId14"/>
    </p:embeddedFont>
    <p:embeddedFont>
      <p:font typeface="Montserrat ExtraBold" panose="020F0502020204030204" pitchFamily="2" charset="0"/>
      <p:bold r:id="rId15"/>
      <p:boldItalic r:id="rId16"/>
    </p:embeddedFont>
    <p:embeddedFont>
      <p:font typeface="Roboto" panose="02000000000000000000"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2360"/>
    <a:srgbClr val="00232E"/>
    <a:srgbClr val="D1F4FF"/>
    <a:srgbClr val="E7EAED"/>
    <a:srgbClr val="7F8FA9"/>
    <a:srgbClr val="90EFF1"/>
    <a:srgbClr val="156082"/>
    <a:srgbClr val="C1E4F5"/>
    <a:srgbClr val="6E86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64BFCB-BB8A-4346-B99F-6A47D88A5EA2}" v="116" dt="2024-12-06T22:06:53.430"/>
  </p1510:revLst>
</p1510:revInfo>
</file>

<file path=ppt/tableStyles.xml><?xml version="1.0" encoding="utf-8"?>
<a:tblStyleLst xmlns:a="http://schemas.openxmlformats.org/drawingml/2006/main" def="{55C1C05B-401E-477D-A8F9-8E3F798A3D32}">
  <a:tblStyle styleId="{55C1C05B-401E-477D-A8F9-8E3F798A3D3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699" autoAdjust="0"/>
  </p:normalViewPr>
  <p:slideViewPr>
    <p:cSldViewPr snapToGrid="0">
      <p:cViewPr>
        <p:scale>
          <a:sx n="75" d="100"/>
          <a:sy n="75" d="100"/>
        </p:scale>
        <p:origin x="82" y="-463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font" Target="fonts/font10.fntdata"/><Relationship Id="rId20" Type="http://schemas.openxmlformats.org/officeDocument/2006/relationships/font" Target="fonts/font14.fntdata"/><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font" Target="fonts/font5.fntdata"/><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9.fntdata"/><Relationship Id="rId23" Type="http://schemas.openxmlformats.org/officeDocument/2006/relationships/theme" Target="theme/theme1.xml"/><Relationship Id="rId10" Type="http://schemas.openxmlformats.org/officeDocument/2006/relationships/font" Target="fonts/font4.fntdata"/><Relationship Id="rId19" Type="http://schemas.openxmlformats.org/officeDocument/2006/relationships/font" Target="fonts/font13.fntdata"/><Relationship Id="rId4" Type="http://schemas.openxmlformats.org/officeDocument/2006/relationships/slideMaster" Target="slideMasters/slideMaster1.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11e59c9ce89_0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11e59c9ce8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9"/>
        <p:cNvGrpSpPr/>
        <p:nvPr/>
      </p:nvGrpSpPr>
      <p:grpSpPr>
        <a:xfrm>
          <a:off x="0" y="0"/>
          <a:ext cx="0" cy="0"/>
          <a:chOff x="0" y="0"/>
          <a:chExt cx="0" cy="0"/>
        </a:xfrm>
      </p:grpSpPr>
      <p:sp>
        <p:nvSpPr>
          <p:cNvPr id="90" name="Google Shape;90;p3"/>
          <p:cNvSpPr txBox="1">
            <a:spLocks noGrp="1"/>
          </p:cNvSpPr>
          <p:nvPr>
            <p:ph type="title"/>
          </p:nvPr>
        </p:nvSpPr>
        <p:spPr>
          <a:xfrm>
            <a:off x="785386" y="7225953"/>
            <a:ext cx="21469200" cy="2828100"/>
          </a:xfrm>
          <a:prstGeom prst="rect">
            <a:avLst/>
          </a:prstGeom>
        </p:spPr>
        <p:txBody>
          <a:bodyPr spcFirstLastPara="1" wrap="square" lIns="255950" tIns="255950" rIns="255950" bIns="255950" anchor="ctr" anchorCtr="0">
            <a:normAutofit/>
          </a:bodyPr>
          <a:lstStyle>
            <a:lvl1pPr lvl="0" algn="ctr">
              <a:spcBef>
                <a:spcPts val="0"/>
              </a:spcBef>
              <a:spcAft>
                <a:spcPts val="0"/>
              </a:spcAft>
              <a:buSzPts val="10100"/>
              <a:buNone/>
              <a:defRPr sz="10100"/>
            </a:lvl1pPr>
            <a:lvl2pPr lvl="1" algn="ctr">
              <a:spcBef>
                <a:spcPts val="0"/>
              </a:spcBef>
              <a:spcAft>
                <a:spcPts val="0"/>
              </a:spcAft>
              <a:buSzPts val="10100"/>
              <a:buNone/>
              <a:defRPr sz="10100"/>
            </a:lvl2pPr>
            <a:lvl3pPr lvl="2" algn="ctr">
              <a:spcBef>
                <a:spcPts val="0"/>
              </a:spcBef>
              <a:spcAft>
                <a:spcPts val="0"/>
              </a:spcAft>
              <a:buSzPts val="10100"/>
              <a:buNone/>
              <a:defRPr sz="10100"/>
            </a:lvl3pPr>
            <a:lvl4pPr lvl="3" algn="ctr">
              <a:spcBef>
                <a:spcPts val="0"/>
              </a:spcBef>
              <a:spcAft>
                <a:spcPts val="0"/>
              </a:spcAft>
              <a:buSzPts val="10100"/>
              <a:buNone/>
              <a:defRPr sz="10100"/>
            </a:lvl4pPr>
            <a:lvl5pPr lvl="4" algn="ctr">
              <a:spcBef>
                <a:spcPts val="0"/>
              </a:spcBef>
              <a:spcAft>
                <a:spcPts val="0"/>
              </a:spcAft>
              <a:buSzPts val="10100"/>
              <a:buNone/>
              <a:defRPr sz="10100"/>
            </a:lvl5pPr>
            <a:lvl6pPr lvl="5" algn="ctr">
              <a:spcBef>
                <a:spcPts val="0"/>
              </a:spcBef>
              <a:spcAft>
                <a:spcPts val="0"/>
              </a:spcAft>
              <a:buSzPts val="10100"/>
              <a:buNone/>
              <a:defRPr sz="10100"/>
            </a:lvl6pPr>
            <a:lvl7pPr lvl="6" algn="ctr">
              <a:spcBef>
                <a:spcPts val="0"/>
              </a:spcBef>
              <a:spcAft>
                <a:spcPts val="0"/>
              </a:spcAft>
              <a:buSzPts val="10100"/>
              <a:buNone/>
              <a:defRPr sz="10100"/>
            </a:lvl7pPr>
            <a:lvl8pPr lvl="7" algn="ctr">
              <a:spcBef>
                <a:spcPts val="0"/>
              </a:spcBef>
              <a:spcAft>
                <a:spcPts val="0"/>
              </a:spcAft>
              <a:buSzPts val="10100"/>
              <a:buNone/>
              <a:defRPr sz="10100"/>
            </a:lvl8pPr>
            <a:lvl9pPr lvl="8" algn="ctr">
              <a:spcBef>
                <a:spcPts val="0"/>
              </a:spcBef>
              <a:spcAft>
                <a:spcPts val="0"/>
              </a:spcAft>
              <a:buSzPts val="10100"/>
              <a:buNone/>
              <a:defRPr sz="10100"/>
            </a:lvl9pPr>
          </a:lstStyle>
          <a:p>
            <a:endParaRPr/>
          </a:p>
        </p:txBody>
      </p:sp>
      <p:sp>
        <p:nvSpPr>
          <p:cNvPr id="91" name="Google Shape;91;p3"/>
          <p:cNvSpPr txBox="1">
            <a:spLocks noGrp="1"/>
          </p:cNvSpPr>
          <p:nvPr>
            <p:ph type="sldNum" idx="12"/>
          </p:nvPr>
        </p:nvSpPr>
        <p:spPr>
          <a:xfrm>
            <a:off x="21347925" y="15666450"/>
            <a:ext cx="1382700" cy="13224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6"/>
        <p:cNvGrpSpPr/>
        <p:nvPr/>
      </p:nvGrpSpPr>
      <p:grpSpPr>
        <a:xfrm>
          <a:off x="0" y="0"/>
          <a:ext cx="0" cy="0"/>
          <a:chOff x="0" y="0"/>
          <a:chExt cx="0" cy="0"/>
        </a:xfrm>
      </p:grpSpPr>
      <p:sp>
        <p:nvSpPr>
          <p:cNvPr id="177" name="Google Shape;177;p5"/>
          <p:cNvSpPr txBox="1">
            <a:spLocks noGrp="1"/>
          </p:cNvSpPr>
          <p:nvPr>
            <p:ph type="title"/>
          </p:nvPr>
        </p:nvSpPr>
        <p:spPr>
          <a:xfrm>
            <a:off x="785386" y="1495097"/>
            <a:ext cx="21469200" cy="1923900"/>
          </a:xfrm>
          <a:prstGeom prst="rect">
            <a:avLst/>
          </a:prstGeom>
        </p:spPr>
        <p:txBody>
          <a:bodyPr spcFirstLastPara="1" wrap="square" lIns="255950" tIns="255950" rIns="255950" bIns="255950" anchor="t" anchorCtr="0">
            <a:normAutofit/>
          </a:bodyPr>
          <a:lstStyle>
            <a:lvl1pPr lvl="0">
              <a:spcBef>
                <a:spcPts val="0"/>
              </a:spcBef>
              <a:spcAft>
                <a:spcPts val="0"/>
              </a:spcAft>
              <a:buSzPts val="7800"/>
              <a:buNone/>
              <a:defRPr/>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sp>
        <p:nvSpPr>
          <p:cNvPr id="178" name="Google Shape;178;p5"/>
          <p:cNvSpPr txBox="1">
            <a:spLocks noGrp="1"/>
          </p:cNvSpPr>
          <p:nvPr>
            <p:ph type="body" idx="1"/>
          </p:nvPr>
        </p:nvSpPr>
        <p:spPr>
          <a:xfrm>
            <a:off x="785386" y="3871832"/>
            <a:ext cx="10078500" cy="11477700"/>
          </a:xfrm>
          <a:prstGeom prst="rect">
            <a:avLst/>
          </a:prstGeom>
        </p:spPr>
        <p:txBody>
          <a:bodyPr spcFirstLastPara="1" wrap="square" lIns="255950" tIns="255950" rIns="255950" bIns="255950" anchor="t" anchorCtr="0">
            <a:normAutofit/>
          </a:bodyPr>
          <a:lstStyle>
            <a:lvl1pPr marL="457200" lvl="0" indent="-476250">
              <a:spcBef>
                <a:spcPts val="0"/>
              </a:spcBef>
              <a:spcAft>
                <a:spcPts val="0"/>
              </a:spcAft>
              <a:buSzPts val="3900"/>
              <a:buChar char="●"/>
              <a:defRPr sz="3900"/>
            </a:lvl1pPr>
            <a:lvl2pPr marL="914400" lvl="1" indent="-444500">
              <a:spcBef>
                <a:spcPts val="0"/>
              </a:spcBef>
              <a:spcAft>
                <a:spcPts val="0"/>
              </a:spcAft>
              <a:buSzPts val="3400"/>
              <a:buChar char="○"/>
              <a:defRPr sz="3400"/>
            </a:lvl2pPr>
            <a:lvl3pPr marL="1371600" lvl="2" indent="-444500">
              <a:spcBef>
                <a:spcPts val="0"/>
              </a:spcBef>
              <a:spcAft>
                <a:spcPts val="0"/>
              </a:spcAft>
              <a:buSzPts val="3400"/>
              <a:buChar char="■"/>
              <a:defRPr sz="3400"/>
            </a:lvl3pPr>
            <a:lvl4pPr marL="1828800" lvl="3" indent="-444500">
              <a:spcBef>
                <a:spcPts val="0"/>
              </a:spcBef>
              <a:spcAft>
                <a:spcPts val="0"/>
              </a:spcAft>
              <a:buSzPts val="3400"/>
              <a:buChar char="●"/>
              <a:defRPr sz="3400"/>
            </a:lvl4pPr>
            <a:lvl5pPr marL="2286000" lvl="4" indent="-444500">
              <a:spcBef>
                <a:spcPts val="0"/>
              </a:spcBef>
              <a:spcAft>
                <a:spcPts val="0"/>
              </a:spcAft>
              <a:buSzPts val="3400"/>
              <a:buChar char="○"/>
              <a:defRPr sz="3400"/>
            </a:lvl5pPr>
            <a:lvl6pPr marL="2743200" lvl="5" indent="-444500">
              <a:spcBef>
                <a:spcPts val="0"/>
              </a:spcBef>
              <a:spcAft>
                <a:spcPts val="0"/>
              </a:spcAft>
              <a:buSzPts val="3400"/>
              <a:buChar char="■"/>
              <a:defRPr sz="3400"/>
            </a:lvl6pPr>
            <a:lvl7pPr marL="3200400" lvl="6" indent="-444500">
              <a:spcBef>
                <a:spcPts val="0"/>
              </a:spcBef>
              <a:spcAft>
                <a:spcPts val="0"/>
              </a:spcAft>
              <a:buSzPts val="3400"/>
              <a:buChar char="●"/>
              <a:defRPr sz="3400"/>
            </a:lvl7pPr>
            <a:lvl8pPr marL="3657600" lvl="7" indent="-444500">
              <a:spcBef>
                <a:spcPts val="0"/>
              </a:spcBef>
              <a:spcAft>
                <a:spcPts val="0"/>
              </a:spcAft>
              <a:buSzPts val="3400"/>
              <a:buChar char="○"/>
              <a:defRPr sz="3400"/>
            </a:lvl8pPr>
            <a:lvl9pPr marL="4114800" lvl="8" indent="-444500">
              <a:spcBef>
                <a:spcPts val="0"/>
              </a:spcBef>
              <a:spcAft>
                <a:spcPts val="0"/>
              </a:spcAft>
              <a:buSzPts val="3400"/>
              <a:buChar char="■"/>
              <a:defRPr sz="3400"/>
            </a:lvl9pPr>
          </a:lstStyle>
          <a:p>
            <a:endParaRPr/>
          </a:p>
        </p:txBody>
      </p:sp>
      <p:sp>
        <p:nvSpPr>
          <p:cNvPr id="179" name="Google Shape;179;p5"/>
          <p:cNvSpPr txBox="1">
            <a:spLocks noGrp="1"/>
          </p:cNvSpPr>
          <p:nvPr>
            <p:ph type="body" idx="2"/>
          </p:nvPr>
        </p:nvSpPr>
        <p:spPr>
          <a:xfrm>
            <a:off x="12176126" y="3871832"/>
            <a:ext cx="10078500" cy="11477700"/>
          </a:xfrm>
          <a:prstGeom prst="rect">
            <a:avLst/>
          </a:prstGeom>
        </p:spPr>
        <p:txBody>
          <a:bodyPr spcFirstLastPara="1" wrap="square" lIns="255950" tIns="255950" rIns="255950" bIns="255950" anchor="t" anchorCtr="0">
            <a:normAutofit/>
          </a:bodyPr>
          <a:lstStyle>
            <a:lvl1pPr marL="457200" lvl="0" indent="-476250">
              <a:spcBef>
                <a:spcPts val="0"/>
              </a:spcBef>
              <a:spcAft>
                <a:spcPts val="0"/>
              </a:spcAft>
              <a:buSzPts val="3900"/>
              <a:buChar char="●"/>
              <a:defRPr sz="3900"/>
            </a:lvl1pPr>
            <a:lvl2pPr marL="914400" lvl="1" indent="-444500">
              <a:spcBef>
                <a:spcPts val="0"/>
              </a:spcBef>
              <a:spcAft>
                <a:spcPts val="0"/>
              </a:spcAft>
              <a:buSzPts val="3400"/>
              <a:buChar char="○"/>
              <a:defRPr sz="3400"/>
            </a:lvl2pPr>
            <a:lvl3pPr marL="1371600" lvl="2" indent="-444500">
              <a:spcBef>
                <a:spcPts val="0"/>
              </a:spcBef>
              <a:spcAft>
                <a:spcPts val="0"/>
              </a:spcAft>
              <a:buSzPts val="3400"/>
              <a:buChar char="■"/>
              <a:defRPr sz="3400"/>
            </a:lvl3pPr>
            <a:lvl4pPr marL="1828800" lvl="3" indent="-444500">
              <a:spcBef>
                <a:spcPts val="0"/>
              </a:spcBef>
              <a:spcAft>
                <a:spcPts val="0"/>
              </a:spcAft>
              <a:buSzPts val="3400"/>
              <a:buChar char="●"/>
              <a:defRPr sz="3400"/>
            </a:lvl4pPr>
            <a:lvl5pPr marL="2286000" lvl="4" indent="-444500">
              <a:spcBef>
                <a:spcPts val="0"/>
              </a:spcBef>
              <a:spcAft>
                <a:spcPts val="0"/>
              </a:spcAft>
              <a:buSzPts val="3400"/>
              <a:buChar char="○"/>
              <a:defRPr sz="3400"/>
            </a:lvl5pPr>
            <a:lvl6pPr marL="2743200" lvl="5" indent="-444500">
              <a:spcBef>
                <a:spcPts val="0"/>
              </a:spcBef>
              <a:spcAft>
                <a:spcPts val="0"/>
              </a:spcAft>
              <a:buSzPts val="3400"/>
              <a:buChar char="■"/>
              <a:defRPr sz="3400"/>
            </a:lvl6pPr>
            <a:lvl7pPr marL="3200400" lvl="6" indent="-444500">
              <a:spcBef>
                <a:spcPts val="0"/>
              </a:spcBef>
              <a:spcAft>
                <a:spcPts val="0"/>
              </a:spcAft>
              <a:buSzPts val="3400"/>
              <a:buChar char="●"/>
              <a:defRPr sz="3400"/>
            </a:lvl7pPr>
            <a:lvl8pPr marL="3657600" lvl="7" indent="-444500">
              <a:spcBef>
                <a:spcPts val="0"/>
              </a:spcBef>
              <a:spcAft>
                <a:spcPts val="0"/>
              </a:spcAft>
              <a:buSzPts val="3400"/>
              <a:buChar char="○"/>
              <a:defRPr sz="3400"/>
            </a:lvl8pPr>
            <a:lvl9pPr marL="4114800" lvl="8" indent="-444500">
              <a:spcBef>
                <a:spcPts val="0"/>
              </a:spcBef>
              <a:spcAft>
                <a:spcPts val="0"/>
              </a:spcAft>
              <a:buSzPts val="3400"/>
              <a:buChar char="■"/>
              <a:defRPr sz="3400"/>
            </a:lvl9pPr>
          </a:lstStyle>
          <a:p>
            <a:endParaRPr/>
          </a:p>
        </p:txBody>
      </p:sp>
      <p:sp>
        <p:nvSpPr>
          <p:cNvPr id="180" name="Google Shape;180;p5"/>
          <p:cNvSpPr txBox="1">
            <a:spLocks noGrp="1"/>
          </p:cNvSpPr>
          <p:nvPr>
            <p:ph type="sldNum" idx="12"/>
          </p:nvPr>
        </p:nvSpPr>
        <p:spPr>
          <a:xfrm>
            <a:off x="21347925" y="15666450"/>
            <a:ext cx="1382700" cy="13224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181"/>
        <p:cNvGrpSpPr/>
        <p:nvPr/>
      </p:nvGrpSpPr>
      <p:grpSpPr>
        <a:xfrm>
          <a:off x="0" y="0"/>
          <a:ext cx="0" cy="0"/>
          <a:chOff x="0" y="0"/>
          <a:chExt cx="0" cy="0"/>
        </a:xfrm>
      </p:grpSpPr>
      <p:sp>
        <p:nvSpPr>
          <p:cNvPr id="182" name="Google Shape;182;p6"/>
          <p:cNvSpPr txBox="1">
            <a:spLocks noGrp="1"/>
          </p:cNvSpPr>
          <p:nvPr>
            <p:ph type="title"/>
          </p:nvPr>
        </p:nvSpPr>
        <p:spPr>
          <a:xfrm>
            <a:off x="1042500" y="794255"/>
            <a:ext cx="20955000" cy="1097400"/>
          </a:xfrm>
          <a:prstGeom prst="rect">
            <a:avLst/>
          </a:prstGeom>
        </p:spPr>
        <p:txBody>
          <a:bodyPr spcFirstLastPara="1" wrap="square" lIns="255950" tIns="255950" rIns="255950" bIns="255950" anchor="ctr" anchorCtr="0">
            <a:normAutofit/>
          </a:bodyPr>
          <a:lstStyle>
            <a:lvl1pPr lvl="0" algn="ctr">
              <a:spcBef>
                <a:spcPts val="0"/>
              </a:spcBef>
              <a:spcAft>
                <a:spcPts val="0"/>
              </a:spcAft>
              <a:buSzPts val="7800"/>
              <a:buNone/>
              <a:defRPr sz="9020"/>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sp>
        <p:nvSpPr>
          <p:cNvPr id="183" name="Google Shape;183;p6"/>
          <p:cNvSpPr/>
          <p:nvPr/>
        </p:nvSpPr>
        <p:spPr>
          <a:xfrm>
            <a:off x="457200" y="530875"/>
            <a:ext cx="22119300" cy="318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6"/>
          <p:cNvSpPr/>
          <p:nvPr/>
        </p:nvSpPr>
        <p:spPr>
          <a:xfrm>
            <a:off x="457200" y="4111475"/>
            <a:ext cx="5331900" cy="1271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6"/>
          <p:cNvSpPr/>
          <p:nvPr/>
        </p:nvSpPr>
        <p:spPr>
          <a:xfrm>
            <a:off x="6053059" y="4111475"/>
            <a:ext cx="10927800" cy="12713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6"/>
          <p:cNvSpPr/>
          <p:nvPr/>
        </p:nvSpPr>
        <p:spPr>
          <a:xfrm>
            <a:off x="17244725" y="4111475"/>
            <a:ext cx="5331900" cy="1271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7" name="Google Shape;187;p6"/>
          <p:cNvCxnSpPr/>
          <p:nvPr/>
        </p:nvCxnSpPr>
        <p:spPr>
          <a:xfrm rot="10800000">
            <a:off x="16240500" y="454225"/>
            <a:ext cx="8397000" cy="0"/>
          </a:xfrm>
          <a:prstGeom prst="straightConnector1">
            <a:avLst/>
          </a:prstGeom>
          <a:noFill/>
          <a:ln w="76200" cap="flat" cmpd="sng">
            <a:solidFill>
              <a:schemeClr val="dk1"/>
            </a:solidFill>
            <a:prstDash val="solid"/>
            <a:round/>
            <a:headEnd type="none" w="med" len="med"/>
            <a:tailEnd type="none" w="med" len="med"/>
          </a:ln>
        </p:spPr>
      </p:cxnSp>
      <p:grpSp>
        <p:nvGrpSpPr>
          <p:cNvPr id="188" name="Google Shape;188;p6"/>
          <p:cNvGrpSpPr/>
          <p:nvPr/>
        </p:nvGrpSpPr>
        <p:grpSpPr>
          <a:xfrm rot="10800000" flipH="1">
            <a:off x="19994960" y="337045"/>
            <a:ext cx="2002543" cy="2011809"/>
            <a:chOff x="16774148" y="4499496"/>
            <a:chExt cx="676284" cy="679390"/>
          </a:xfrm>
        </p:grpSpPr>
        <p:sp>
          <p:nvSpPr>
            <p:cNvPr id="189" name="Google Shape;189;p6"/>
            <p:cNvSpPr/>
            <p:nvPr/>
          </p:nvSpPr>
          <p:spPr>
            <a:xfrm>
              <a:off x="16774148" y="5026474"/>
              <a:ext cx="155418" cy="152412"/>
            </a:xfrm>
            <a:custGeom>
              <a:avLst/>
              <a:gdLst/>
              <a:ahLst/>
              <a:cxnLst/>
              <a:rect l="l" t="t" r="r" b="b"/>
              <a:pathLst>
                <a:path w="1551" h="1521" extrusionOk="0">
                  <a:moveTo>
                    <a:pt x="1" y="0"/>
                  </a:moveTo>
                  <a:lnTo>
                    <a:pt x="1" y="274"/>
                  </a:lnTo>
                  <a:lnTo>
                    <a:pt x="1247" y="1520"/>
                  </a:lnTo>
                  <a:lnTo>
                    <a:pt x="1551" y="152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6"/>
            <p:cNvSpPr/>
            <p:nvPr/>
          </p:nvSpPr>
          <p:spPr>
            <a:xfrm>
              <a:off x="16774148" y="4615233"/>
              <a:ext cx="563553" cy="563653"/>
            </a:xfrm>
            <a:custGeom>
              <a:avLst/>
              <a:gdLst/>
              <a:ahLst/>
              <a:cxnLst/>
              <a:rect l="l" t="t" r="r" b="b"/>
              <a:pathLst>
                <a:path w="5624" h="5625" extrusionOk="0">
                  <a:moveTo>
                    <a:pt x="1" y="1"/>
                  </a:moveTo>
                  <a:lnTo>
                    <a:pt x="1" y="305"/>
                  </a:lnTo>
                  <a:lnTo>
                    <a:pt x="5320" y="5624"/>
                  </a:lnTo>
                  <a:lnTo>
                    <a:pt x="5624" y="5624"/>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6"/>
            <p:cNvSpPr/>
            <p:nvPr/>
          </p:nvSpPr>
          <p:spPr>
            <a:xfrm>
              <a:off x="16774148" y="4889394"/>
              <a:ext cx="289492" cy="289492"/>
            </a:xfrm>
            <a:custGeom>
              <a:avLst/>
              <a:gdLst/>
              <a:ahLst/>
              <a:cxnLst/>
              <a:rect l="l" t="t" r="r" b="b"/>
              <a:pathLst>
                <a:path w="2889" h="2889" extrusionOk="0">
                  <a:moveTo>
                    <a:pt x="1" y="1"/>
                  </a:moveTo>
                  <a:lnTo>
                    <a:pt x="1" y="305"/>
                  </a:lnTo>
                  <a:lnTo>
                    <a:pt x="2615" y="2888"/>
                  </a:lnTo>
                  <a:lnTo>
                    <a:pt x="2888" y="288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6"/>
            <p:cNvSpPr/>
            <p:nvPr/>
          </p:nvSpPr>
          <p:spPr>
            <a:xfrm>
              <a:off x="16774148" y="4499496"/>
              <a:ext cx="676284" cy="679390"/>
            </a:xfrm>
            <a:custGeom>
              <a:avLst/>
              <a:gdLst/>
              <a:ahLst/>
              <a:cxnLst/>
              <a:rect l="l" t="t" r="r" b="b"/>
              <a:pathLst>
                <a:path w="6749" h="6780" extrusionOk="0">
                  <a:moveTo>
                    <a:pt x="1" y="1"/>
                  </a:moveTo>
                  <a:lnTo>
                    <a:pt x="1" y="92"/>
                  </a:lnTo>
                  <a:lnTo>
                    <a:pt x="6688" y="6779"/>
                  </a:lnTo>
                  <a:lnTo>
                    <a:pt x="6748" y="6779"/>
                  </a:lnTo>
                  <a:lnTo>
                    <a:pt x="6748" y="6597"/>
                  </a:ln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6"/>
            <p:cNvSpPr/>
            <p:nvPr/>
          </p:nvSpPr>
          <p:spPr>
            <a:xfrm>
              <a:off x="16774148" y="4752313"/>
              <a:ext cx="426573" cy="426573"/>
            </a:xfrm>
            <a:custGeom>
              <a:avLst/>
              <a:gdLst/>
              <a:ahLst/>
              <a:cxnLst/>
              <a:rect l="l" t="t" r="r" b="b"/>
              <a:pathLst>
                <a:path w="4257" h="4257" extrusionOk="0">
                  <a:moveTo>
                    <a:pt x="1" y="1"/>
                  </a:moveTo>
                  <a:lnTo>
                    <a:pt x="1" y="305"/>
                  </a:lnTo>
                  <a:lnTo>
                    <a:pt x="3952" y="4256"/>
                  </a:lnTo>
                  <a:lnTo>
                    <a:pt x="4256" y="425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6"/>
            <p:cNvSpPr/>
            <p:nvPr/>
          </p:nvSpPr>
          <p:spPr>
            <a:xfrm>
              <a:off x="17173165" y="4499496"/>
              <a:ext cx="277267" cy="280374"/>
            </a:xfrm>
            <a:custGeom>
              <a:avLst/>
              <a:gdLst/>
              <a:ahLst/>
              <a:cxnLst/>
              <a:rect l="l" t="t" r="r" b="b"/>
              <a:pathLst>
                <a:path w="2767" h="2798" extrusionOk="0">
                  <a:moveTo>
                    <a:pt x="0" y="1"/>
                  </a:moveTo>
                  <a:lnTo>
                    <a:pt x="2766" y="2797"/>
                  </a:lnTo>
                  <a:lnTo>
                    <a:pt x="2766" y="2493"/>
                  </a:lnTo>
                  <a:lnTo>
                    <a:pt x="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17310245" y="4499496"/>
              <a:ext cx="140187" cy="143293"/>
            </a:xfrm>
            <a:custGeom>
              <a:avLst/>
              <a:gdLst/>
              <a:ahLst/>
              <a:cxnLst/>
              <a:rect l="l" t="t" r="r" b="b"/>
              <a:pathLst>
                <a:path w="1399" h="1430" extrusionOk="0">
                  <a:moveTo>
                    <a:pt x="0" y="1"/>
                  </a:moveTo>
                  <a:lnTo>
                    <a:pt x="1398" y="1430"/>
                  </a:lnTo>
                  <a:lnTo>
                    <a:pt x="1398" y="1126"/>
                  </a:lnTo>
                  <a:lnTo>
                    <a:pt x="3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p:nvPr/>
          </p:nvSpPr>
          <p:spPr>
            <a:xfrm>
              <a:off x="16902110" y="4499496"/>
              <a:ext cx="548322" cy="548422"/>
            </a:xfrm>
            <a:custGeom>
              <a:avLst/>
              <a:gdLst/>
              <a:ahLst/>
              <a:cxnLst/>
              <a:rect l="l" t="t" r="r" b="b"/>
              <a:pathLst>
                <a:path w="5472" h="5473" extrusionOk="0">
                  <a:moveTo>
                    <a:pt x="0" y="1"/>
                  </a:moveTo>
                  <a:lnTo>
                    <a:pt x="5471" y="5472"/>
                  </a:lnTo>
                  <a:lnTo>
                    <a:pt x="5471" y="5229"/>
                  </a:lnTo>
                  <a:lnTo>
                    <a:pt x="2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a:off x="17039191" y="4499496"/>
              <a:ext cx="411241" cy="417454"/>
            </a:xfrm>
            <a:custGeom>
              <a:avLst/>
              <a:gdLst/>
              <a:ahLst/>
              <a:cxnLst/>
              <a:rect l="l" t="t" r="r" b="b"/>
              <a:pathLst>
                <a:path w="4104" h="4166" extrusionOk="0">
                  <a:moveTo>
                    <a:pt x="0" y="1"/>
                  </a:moveTo>
                  <a:lnTo>
                    <a:pt x="4103" y="4165"/>
                  </a:lnTo>
                  <a:lnTo>
                    <a:pt x="4103" y="3861"/>
                  </a:lnTo>
                  <a:lnTo>
                    <a:pt x="2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32"/>
        <p:cNvGrpSpPr/>
        <p:nvPr/>
      </p:nvGrpSpPr>
      <p:grpSpPr>
        <a:xfrm>
          <a:off x="0" y="0"/>
          <a:ext cx="0" cy="0"/>
          <a:chOff x="0" y="0"/>
          <a:chExt cx="0" cy="0"/>
        </a:xfrm>
      </p:grpSpPr>
      <p:sp>
        <p:nvSpPr>
          <p:cNvPr id="233" name="Google Shape;233;p8"/>
          <p:cNvSpPr txBox="1">
            <a:spLocks noGrp="1"/>
          </p:cNvSpPr>
          <p:nvPr>
            <p:ph type="title"/>
          </p:nvPr>
        </p:nvSpPr>
        <p:spPr>
          <a:xfrm>
            <a:off x="785386" y="1866583"/>
            <a:ext cx="7075200" cy="2538900"/>
          </a:xfrm>
          <a:prstGeom prst="rect">
            <a:avLst/>
          </a:prstGeom>
        </p:spPr>
        <p:txBody>
          <a:bodyPr spcFirstLastPara="1" wrap="square" lIns="255950" tIns="255950" rIns="255950" bIns="255950" anchor="b" anchorCtr="0">
            <a:normAutofit/>
          </a:bodyPr>
          <a:lstStyle>
            <a:lvl1pPr lvl="0">
              <a:spcBef>
                <a:spcPts val="0"/>
              </a:spcBef>
              <a:spcAft>
                <a:spcPts val="0"/>
              </a:spcAft>
              <a:buSzPts val="6700"/>
              <a:buNone/>
              <a:defRPr sz="6700"/>
            </a:lvl1pPr>
            <a:lvl2pPr lvl="1">
              <a:spcBef>
                <a:spcPts val="0"/>
              </a:spcBef>
              <a:spcAft>
                <a:spcPts val="0"/>
              </a:spcAft>
              <a:buSzPts val="6700"/>
              <a:buNone/>
              <a:defRPr sz="6700"/>
            </a:lvl2pPr>
            <a:lvl3pPr lvl="2">
              <a:spcBef>
                <a:spcPts val="0"/>
              </a:spcBef>
              <a:spcAft>
                <a:spcPts val="0"/>
              </a:spcAft>
              <a:buSzPts val="6700"/>
              <a:buNone/>
              <a:defRPr sz="6700"/>
            </a:lvl3pPr>
            <a:lvl4pPr lvl="3">
              <a:spcBef>
                <a:spcPts val="0"/>
              </a:spcBef>
              <a:spcAft>
                <a:spcPts val="0"/>
              </a:spcAft>
              <a:buSzPts val="6700"/>
              <a:buNone/>
              <a:defRPr sz="6700"/>
            </a:lvl4pPr>
            <a:lvl5pPr lvl="4">
              <a:spcBef>
                <a:spcPts val="0"/>
              </a:spcBef>
              <a:spcAft>
                <a:spcPts val="0"/>
              </a:spcAft>
              <a:buSzPts val="6700"/>
              <a:buNone/>
              <a:defRPr sz="6700"/>
            </a:lvl5pPr>
            <a:lvl6pPr lvl="5">
              <a:spcBef>
                <a:spcPts val="0"/>
              </a:spcBef>
              <a:spcAft>
                <a:spcPts val="0"/>
              </a:spcAft>
              <a:buSzPts val="6700"/>
              <a:buNone/>
              <a:defRPr sz="6700"/>
            </a:lvl6pPr>
            <a:lvl7pPr lvl="6">
              <a:spcBef>
                <a:spcPts val="0"/>
              </a:spcBef>
              <a:spcAft>
                <a:spcPts val="0"/>
              </a:spcAft>
              <a:buSzPts val="6700"/>
              <a:buNone/>
              <a:defRPr sz="6700"/>
            </a:lvl7pPr>
            <a:lvl8pPr lvl="7">
              <a:spcBef>
                <a:spcPts val="0"/>
              </a:spcBef>
              <a:spcAft>
                <a:spcPts val="0"/>
              </a:spcAft>
              <a:buSzPts val="6700"/>
              <a:buNone/>
              <a:defRPr sz="6700"/>
            </a:lvl8pPr>
            <a:lvl9pPr lvl="8">
              <a:spcBef>
                <a:spcPts val="0"/>
              </a:spcBef>
              <a:spcAft>
                <a:spcPts val="0"/>
              </a:spcAft>
              <a:buSzPts val="6700"/>
              <a:buNone/>
              <a:defRPr sz="6700"/>
            </a:lvl9pPr>
          </a:lstStyle>
          <a:p>
            <a:endParaRPr/>
          </a:p>
        </p:txBody>
      </p:sp>
      <p:sp>
        <p:nvSpPr>
          <p:cNvPr id="234" name="Google Shape;234;p8"/>
          <p:cNvSpPr txBox="1">
            <a:spLocks noGrp="1"/>
          </p:cNvSpPr>
          <p:nvPr>
            <p:ph type="body" idx="1"/>
          </p:nvPr>
        </p:nvSpPr>
        <p:spPr>
          <a:xfrm>
            <a:off x="785386" y="4668472"/>
            <a:ext cx="7075200" cy="10681500"/>
          </a:xfrm>
          <a:prstGeom prst="rect">
            <a:avLst/>
          </a:prstGeom>
        </p:spPr>
        <p:txBody>
          <a:bodyPr spcFirstLastPara="1" wrap="square" lIns="255950" tIns="255950" rIns="255950" bIns="255950" anchor="t" anchorCtr="0">
            <a:normAutofit/>
          </a:bodyPr>
          <a:lstStyle>
            <a:lvl1pPr marL="457200" lvl="0" indent="-444500">
              <a:spcBef>
                <a:spcPts val="0"/>
              </a:spcBef>
              <a:spcAft>
                <a:spcPts val="0"/>
              </a:spcAft>
              <a:buSzPts val="3400"/>
              <a:buChar char="●"/>
              <a:defRPr sz="3400"/>
            </a:lvl1pPr>
            <a:lvl2pPr marL="914400" lvl="1" indent="-444500">
              <a:spcBef>
                <a:spcPts val="0"/>
              </a:spcBef>
              <a:spcAft>
                <a:spcPts val="0"/>
              </a:spcAft>
              <a:buSzPts val="3400"/>
              <a:buChar char="○"/>
              <a:defRPr sz="3400"/>
            </a:lvl2pPr>
            <a:lvl3pPr marL="1371600" lvl="2" indent="-444500">
              <a:spcBef>
                <a:spcPts val="0"/>
              </a:spcBef>
              <a:spcAft>
                <a:spcPts val="0"/>
              </a:spcAft>
              <a:buSzPts val="3400"/>
              <a:buChar char="■"/>
              <a:defRPr sz="3400"/>
            </a:lvl3pPr>
            <a:lvl4pPr marL="1828800" lvl="3" indent="-444500">
              <a:spcBef>
                <a:spcPts val="0"/>
              </a:spcBef>
              <a:spcAft>
                <a:spcPts val="0"/>
              </a:spcAft>
              <a:buSzPts val="3400"/>
              <a:buChar char="●"/>
              <a:defRPr sz="3400"/>
            </a:lvl4pPr>
            <a:lvl5pPr marL="2286000" lvl="4" indent="-444500">
              <a:spcBef>
                <a:spcPts val="0"/>
              </a:spcBef>
              <a:spcAft>
                <a:spcPts val="0"/>
              </a:spcAft>
              <a:buSzPts val="3400"/>
              <a:buChar char="○"/>
              <a:defRPr sz="3400"/>
            </a:lvl5pPr>
            <a:lvl6pPr marL="2743200" lvl="5" indent="-444500">
              <a:spcBef>
                <a:spcPts val="0"/>
              </a:spcBef>
              <a:spcAft>
                <a:spcPts val="0"/>
              </a:spcAft>
              <a:buSzPts val="3400"/>
              <a:buChar char="■"/>
              <a:defRPr sz="3400"/>
            </a:lvl6pPr>
            <a:lvl7pPr marL="3200400" lvl="6" indent="-444500">
              <a:spcBef>
                <a:spcPts val="0"/>
              </a:spcBef>
              <a:spcAft>
                <a:spcPts val="0"/>
              </a:spcAft>
              <a:buSzPts val="3400"/>
              <a:buChar char="●"/>
              <a:defRPr sz="3400"/>
            </a:lvl7pPr>
            <a:lvl8pPr marL="3657600" lvl="7" indent="-444500">
              <a:spcBef>
                <a:spcPts val="0"/>
              </a:spcBef>
              <a:spcAft>
                <a:spcPts val="0"/>
              </a:spcAft>
              <a:buSzPts val="3400"/>
              <a:buChar char="○"/>
              <a:defRPr sz="3400"/>
            </a:lvl8pPr>
            <a:lvl9pPr marL="4114800" lvl="8" indent="-444500">
              <a:spcBef>
                <a:spcPts val="0"/>
              </a:spcBef>
              <a:spcAft>
                <a:spcPts val="0"/>
              </a:spcAft>
              <a:buSzPts val="3400"/>
              <a:buChar char="■"/>
              <a:defRPr sz="3400"/>
            </a:lvl9pPr>
          </a:lstStyle>
          <a:p>
            <a:endParaRPr/>
          </a:p>
        </p:txBody>
      </p:sp>
      <p:sp>
        <p:nvSpPr>
          <p:cNvPr id="235" name="Google Shape;235;p8"/>
          <p:cNvSpPr txBox="1">
            <a:spLocks noGrp="1"/>
          </p:cNvSpPr>
          <p:nvPr>
            <p:ph type="sldNum" idx="12"/>
          </p:nvPr>
        </p:nvSpPr>
        <p:spPr>
          <a:xfrm>
            <a:off x="21347925" y="15666450"/>
            <a:ext cx="1382700" cy="13224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36"/>
        <p:cNvGrpSpPr/>
        <p:nvPr/>
      </p:nvGrpSpPr>
      <p:grpSpPr>
        <a:xfrm>
          <a:off x="0" y="0"/>
          <a:ext cx="0" cy="0"/>
          <a:chOff x="0" y="0"/>
          <a:chExt cx="0" cy="0"/>
        </a:xfrm>
      </p:grpSpPr>
      <p:sp>
        <p:nvSpPr>
          <p:cNvPr id="237" name="Google Shape;237;p9"/>
          <p:cNvSpPr txBox="1">
            <a:spLocks noGrp="1"/>
          </p:cNvSpPr>
          <p:nvPr>
            <p:ph type="title"/>
          </p:nvPr>
        </p:nvSpPr>
        <p:spPr>
          <a:xfrm>
            <a:off x="1235276" y="1512315"/>
            <a:ext cx="16044900" cy="13743300"/>
          </a:xfrm>
          <a:prstGeom prst="rect">
            <a:avLst/>
          </a:prstGeom>
        </p:spPr>
        <p:txBody>
          <a:bodyPr spcFirstLastPara="1" wrap="square" lIns="255950" tIns="255950" rIns="255950" bIns="255950" anchor="ctr" anchorCtr="0">
            <a:normAutofit/>
          </a:bodyPr>
          <a:lstStyle>
            <a:lvl1pPr lvl="0">
              <a:spcBef>
                <a:spcPts val="0"/>
              </a:spcBef>
              <a:spcAft>
                <a:spcPts val="0"/>
              </a:spcAft>
              <a:buSzPts val="13400"/>
              <a:buNone/>
              <a:defRPr sz="13400"/>
            </a:lvl1pPr>
            <a:lvl2pPr lvl="1">
              <a:spcBef>
                <a:spcPts val="0"/>
              </a:spcBef>
              <a:spcAft>
                <a:spcPts val="0"/>
              </a:spcAft>
              <a:buSzPts val="13400"/>
              <a:buNone/>
              <a:defRPr sz="13400"/>
            </a:lvl2pPr>
            <a:lvl3pPr lvl="2">
              <a:spcBef>
                <a:spcPts val="0"/>
              </a:spcBef>
              <a:spcAft>
                <a:spcPts val="0"/>
              </a:spcAft>
              <a:buSzPts val="13400"/>
              <a:buNone/>
              <a:defRPr sz="13400"/>
            </a:lvl3pPr>
            <a:lvl4pPr lvl="3">
              <a:spcBef>
                <a:spcPts val="0"/>
              </a:spcBef>
              <a:spcAft>
                <a:spcPts val="0"/>
              </a:spcAft>
              <a:buSzPts val="13400"/>
              <a:buNone/>
              <a:defRPr sz="13400"/>
            </a:lvl4pPr>
            <a:lvl5pPr lvl="4">
              <a:spcBef>
                <a:spcPts val="0"/>
              </a:spcBef>
              <a:spcAft>
                <a:spcPts val="0"/>
              </a:spcAft>
              <a:buSzPts val="13400"/>
              <a:buNone/>
              <a:defRPr sz="13400"/>
            </a:lvl5pPr>
            <a:lvl6pPr lvl="5">
              <a:spcBef>
                <a:spcPts val="0"/>
              </a:spcBef>
              <a:spcAft>
                <a:spcPts val="0"/>
              </a:spcAft>
              <a:buSzPts val="13400"/>
              <a:buNone/>
              <a:defRPr sz="13400"/>
            </a:lvl6pPr>
            <a:lvl7pPr lvl="6">
              <a:spcBef>
                <a:spcPts val="0"/>
              </a:spcBef>
              <a:spcAft>
                <a:spcPts val="0"/>
              </a:spcAft>
              <a:buSzPts val="13400"/>
              <a:buNone/>
              <a:defRPr sz="13400"/>
            </a:lvl7pPr>
            <a:lvl8pPr lvl="7">
              <a:spcBef>
                <a:spcPts val="0"/>
              </a:spcBef>
              <a:spcAft>
                <a:spcPts val="0"/>
              </a:spcAft>
              <a:buSzPts val="13400"/>
              <a:buNone/>
              <a:defRPr sz="13400"/>
            </a:lvl8pPr>
            <a:lvl9pPr lvl="8">
              <a:spcBef>
                <a:spcPts val="0"/>
              </a:spcBef>
              <a:spcAft>
                <a:spcPts val="0"/>
              </a:spcAft>
              <a:buSzPts val="13400"/>
              <a:buNone/>
              <a:defRPr sz="13400"/>
            </a:lvl9pPr>
          </a:lstStyle>
          <a:p>
            <a:endParaRPr/>
          </a:p>
        </p:txBody>
      </p:sp>
      <p:sp>
        <p:nvSpPr>
          <p:cNvPr id="238" name="Google Shape;238;p9"/>
          <p:cNvSpPr txBox="1">
            <a:spLocks noGrp="1"/>
          </p:cNvSpPr>
          <p:nvPr>
            <p:ph type="sldNum" idx="12"/>
          </p:nvPr>
        </p:nvSpPr>
        <p:spPr>
          <a:xfrm>
            <a:off x="21347925" y="15666450"/>
            <a:ext cx="1382700" cy="13224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39"/>
        <p:cNvGrpSpPr/>
        <p:nvPr/>
      </p:nvGrpSpPr>
      <p:grpSpPr>
        <a:xfrm>
          <a:off x="0" y="0"/>
          <a:ext cx="0" cy="0"/>
          <a:chOff x="0" y="0"/>
          <a:chExt cx="0" cy="0"/>
        </a:xfrm>
      </p:grpSpPr>
      <p:sp>
        <p:nvSpPr>
          <p:cNvPr id="240" name="Google Shape;240;p10"/>
          <p:cNvSpPr/>
          <p:nvPr/>
        </p:nvSpPr>
        <p:spPr>
          <a:xfrm>
            <a:off x="11520000" y="-420"/>
            <a:ext cx="11520000" cy="17280000"/>
          </a:xfrm>
          <a:prstGeom prst="rect">
            <a:avLst/>
          </a:prstGeom>
          <a:solidFill>
            <a:schemeClr val="lt2"/>
          </a:solidFill>
          <a:ln>
            <a:noFill/>
          </a:ln>
        </p:spPr>
        <p:txBody>
          <a:bodyPr spcFirstLastPara="1" wrap="square" lIns="255950" tIns="255950" rIns="255950" bIns="255950" anchor="ctr" anchorCtr="0">
            <a:noAutofit/>
          </a:bodyPr>
          <a:lstStyle/>
          <a:p>
            <a:pPr marL="0" lvl="0" indent="0" algn="l" rtl="0">
              <a:spcBef>
                <a:spcPts val="0"/>
              </a:spcBef>
              <a:spcAft>
                <a:spcPts val="0"/>
              </a:spcAft>
              <a:buNone/>
            </a:pPr>
            <a:endParaRPr/>
          </a:p>
        </p:txBody>
      </p:sp>
      <p:sp>
        <p:nvSpPr>
          <p:cNvPr id="241" name="Google Shape;241;p10"/>
          <p:cNvSpPr txBox="1">
            <a:spLocks noGrp="1"/>
          </p:cNvSpPr>
          <p:nvPr>
            <p:ph type="title"/>
          </p:nvPr>
        </p:nvSpPr>
        <p:spPr>
          <a:xfrm>
            <a:off x="668976" y="4142950"/>
            <a:ext cx="10192500" cy="4980000"/>
          </a:xfrm>
          <a:prstGeom prst="rect">
            <a:avLst/>
          </a:prstGeom>
        </p:spPr>
        <p:txBody>
          <a:bodyPr spcFirstLastPara="1" wrap="square" lIns="255950" tIns="255950" rIns="255950" bIns="255950" anchor="b" anchorCtr="0">
            <a:normAutofit/>
          </a:bodyPr>
          <a:lstStyle>
            <a:lvl1pPr lvl="0" algn="ctr">
              <a:spcBef>
                <a:spcPts val="0"/>
              </a:spcBef>
              <a:spcAft>
                <a:spcPts val="0"/>
              </a:spcAft>
              <a:buSzPts val="11800"/>
              <a:buNone/>
              <a:defRPr sz="11800"/>
            </a:lvl1pPr>
            <a:lvl2pPr lvl="1" algn="ctr">
              <a:spcBef>
                <a:spcPts val="0"/>
              </a:spcBef>
              <a:spcAft>
                <a:spcPts val="0"/>
              </a:spcAft>
              <a:buSzPts val="11800"/>
              <a:buNone/>
              <a:defRPr sz="11800"/>
            </a:lvl2pPr>
            <a:lvl3pPr lvl="2" algn="ctr">
              <a:spcBef>
                <a:spcPts val="0"/>
              </a:spcBef>
              <a:spcAft>
                <a:spcPts val="0"/>
              </a:spcAft>
              <a:buSzPts val="11800"/>
              <a:buNone/>
              <a:defRPr sz="11800"/>
            </a:lvl3pPr>
            <a:lvl4pPr lvl="3" algn="ctr">
              <a:spcBef>
                <a:spcPts val="0"/>
              </a:spcBef>
              <a:spcAft>
                <a:spcPts val="0"/>
              </a:spcAft>
              <a:buSzPts val="11800"/>
              <a:buNone/>
              <a:defRPr sz="11800"/>
            </a:lvl4pPr>
            <a:lvl5pPr lvl="4" algn="ctr">
              <a:spcBef>
                <a:spcPts val="0"/>
              </a:spcBef>
              <a:spcAft>
                <a:spcPts val="0"/>
              </a:spcAft>
              <a:buSzPts val="11800"/>
              <a:buNone/>
              <a:defRPr sz="11800"/>
            </a:lvl5pPr>
            <a:lvl6pPr lvl="5" algn="ctr">
              <a:spcBef>
                <a:spcPts val="0"/>
              </a:spcBef>
              <a:spcAft>
                <a:spcPts val="0"/>
              </a:spcAft>
              <a:buSzPts val="11800"/>
              <a:buNone/>
              <a:defRPr sz="11800"/>
            </a:lvl6pPr>
            <a:lvl7pPr lvl="6" algn="ctr">
              <a:spcBef>
                <a:spcPts val="0"/>
              </a:spcBef>
              <a:spcAft>
                <a:spcPts val="0"/>
              </a:spcAft>
              <a:buSzPts val="11800"/>
              <a:buNone/>
              <a:defRPr sz="11800"/>
            </a:lvl7pPr>
            <a:lvl8pPr lvl="7" algn="ctr">
              <a:spcBef>
                <a:spcPts val="0"/>
              </a:spcBef>
              <a:spcAft>
                <a:spcPts val="0"/>
              </a:spcAft>
              <a:buSzPts val="11800"/>
              <a:buNone/>
              <a:defRPr sz="11800"/>
            </a:lvl8pPr>
            <a:lvl9pPr lvl="8" algn="ctr">
              <a:spcBef>
                <a:spcPts val="0"/>
              </a:spcBef>
              <a:spcAft>
                <a:spcPts val="0"/>
              </a:spcAft>
              <a:buSzPts val="11800"/>
              <a:buNone/>
              <a:defRPr sz="11800"/>
            </a:lvl9pPr>
          </a:lstStyle>
          <a:p>
            <a:endParaRPr/>
          </a:p>
        </p:txBody>
      </p:sp>
      <p:sp>
        <p:nvSpPr>
          <p:cNvPr id="242" name="Google Shape;242;p10"/>
          <p:cNvSpPr txBox="1">
            <a:spLocks noGrp="1"/>
          </p:cNvSpPr>
          <p:nvPr>
            <p:ph type="subTitle" idx="1"/>
          </p:nvPr>
        </p:nvSpPr>
        <p:spPr>
          <a:xfrm>
            <a:off x="668976" y="9417155"/>
            <a:ext cx="10192500" cy="4149300"/>
          </a:xfrm>
          <a:prstGeom prst="rect">
            <a:avLst/>
          </a:prstGeom>
        </p:spPr>
        <p:txBody>
          <a:bodyPr spcFirstLastPara="1" wrap="square" lIns="255950" tIns="255950" rIns="255950" bIns="255950" anchor="t" anchorCtr="0">
            <a:normAutofit/>
          </a:bodyPr>
          <a:lstStyle>
            <a:lvl1pPr lvl="0" algn="ctr">
              <a:lnSpc>
                <a:spcPct val="100000"/>
              </a:lnSpc>
              <a:spcBef>
                <a:spcPts val="0"/>
              </a:spcBef>
              <a:spcAft>
                <a:spcPts val="0"/>
              </a:spcAft>
              <a:buSzPts val="5900"/>
              <a:buNone/>
              <a:defRPr sz="5900"/>
            </a:lvl1pPr>
            <a:lvl2pPr lvl="1" algn="ctr">
              <a:lnSpc>
                <a:spcPct val="100000"/>
              </a:lnSpc>
              <a:spcBef>
                <a:spcPts val="0"/>
              </a:spcBef>
              <a:spcAft>
                <a:spcPts val="0"/>
              </a:spcAft>
              <a:buSzPts val="5900"/>
              <a:buNone/>
              <a:defRPr sz="5900"/>
            </a:lvl2pPr>
            <a:lvl3pPr lvl="2" algn="ctr">
              <a:lnSpc>
                <a:spcPct val="100000"/>
              </a:lnSpc>
              <a:spcBef>
                <a:spcPts val="0"/>
              </a:spcBef>
              <a:spcAft>
                <a:spcPts val="0"/>
              </a:spcAft>
              <a:buSzPts val="5900"/>
              <a:buNone/>
              <a:defRPr sz="5900"/>
            </a:lvl3pPr>
            <a:lvl4pPr lvl="3" algn="ctr">
              <a:lnSpc>
                <a:spcPct val="100000"/>
              </a:lnSpc>
              <a:spcBef>
                <a:spcPts val="0"/>
              </a:spcBef>
              <a:spcAft>
                <a:spcPts val="0"/>
              </a:spcAft>
              <a:buSzPts val="5900"/>
              <a:buNone/>
              <a:defRPr sz="5900"/>
            </a:lvl4pPr>
            <a:lvl5pPr lvl="4" algn="ctr">
              <a:lnSpc>
                <a:spcPct val="100000"/>
              </a:lnSpc>
              <a:spcBef>
                <a:spcPts val="0"/>
              </a:spcBef>
              <a:spcAft>
                <a:spcPts val="0"/>
              </a:spcAft>
              <a:buSzPts val="5900"/>
              <a:buNone/>
              <a:defRPr sz="5900"/>
            </a:lvl5pPr>
            <a:lvl6pPr lvl="5" algn="ctr">
              <a:lnSpc>
                <a:spcPct val="100000"/>
              </a:lnSpc>
              <a:spcBef>
                <a:spcPts val="0"/>
              </a:spcBef>
              <a:spcAft>
                <a:spcPts val="0"/>
              </a:spcAft>
              <a:buSzPts val="5900"/>
              <a:buNone/>
              <a:defRPr sz="5900"/>
            </a:lvl6pPr>
            <a:lvl7pPr lvl="6" algn="ctr">
              <a:lnSpc>
                <a:spcPct val="100000"/>
              </a:lnSpc>
              <a:spcBef>
                <a:spcPts val="0"/>
              </a:spcBef>
              <a:spcAft>
                <a:spcPts val="0"/>
              </a:spcAft>
              <a:buSzPts val="5900"/>
              <a:buNone/>
              <a:defRPr sz="5900"/>
            </a:lvl7pPr>
            <a:lvl8pPr lvl="7" algn="ctr">
              <a:lnSpc>
                <a:spcPct val="100000"/>
              </a:lnSpc>
              <a:spcBef>
                <a:spcPts val="0"/>
              </a:spcBef>
              <a:spcAft>
                <a:spcPts val="0"/>
              </a:spcAft>
              <a:buSzPts val="5900"/>
              <a:buNone/>
              <a:defRPr sz="5900"/>
            </a:lvl8pPr>
            <a:lvl9pPr lvl="8" algn="ctr">
              <a:lnSpc>
                <a:spcPct val="100000"/>
              </a:lnSpc>
              <a:spcBef>
                <a:spcPts val="0"/>
              </a:spcBef>
              <a:spcAft>
                <a:spcPts val="0"/>
              </a:spcAft>
              <a:buSzPts val="5900"/>
              <a:buNone/>
              <a:defRPr sz="5900"/>
            </a:lvl9pPr>
          </a:lstStyle>
          <a:p>
            <a:endParaRPr/>
          </a:p>
        </p:txBody>
      </p:sp>
      <p:sp>
        <p:nvSpPr>
          <p:cNvPr id="243" name="Google Shape;243;p10"/>
          <p:cNvSpPr txBox="1">
            <a:spLocks noGrp="1"/>
          </p:cNvSpPr>
          <p:nvPr>
            <p:ph type="body" idx="2"/>
          </p:nvPr>
        </p:nvSpPr>
        <p:spPr>
          <a:xfrm>
            <a:off x="12445984" y="2432588"/>
            <a:ext cx="9668100" cy="12414000"/>
          </a:xfrm>
          <a:prstGeom prst="rect">
            <a:avLst/>
          </a:prstGeom>
        </p:spPr>
        <p:txBody>
          <a:bodyPr spcFirstLastPara="1" wrap="square" lIns="255950" tIns="255950" rIns="255950" bIns="255950" anchor="ctr" anchorCtr="0">
            <a:normAutofit/>
          </a:bodyPr>
          <a:lstStyle>
            <a:lvl1pPr marL="457200" lvl="0" indent="-546100">
              <a:spcBef>
                <a:spcPts val="0"/>
              </a:spcBef>
              <a:spcAft>
                <a:spcPts val="0"/>
              </a:spcAft>
              <a:buSzPts val="5000"/>
              <a:buChar char="●"/>
              <a:defRPr/>
            </a:lvl1pPr>
            <a:lvl2pPr marL="914400" lvl="1" indent="-476250">
              <a:spcBef>
                <a:spcPts val="0"/>
              </a:spcBef>
              <a:spcAft>
                <a:spcPts val="0"/>
              </a:spcAft>
              <a:buSzPts val="3900"/>
              <a:buChar char="○"/>
              <a:defRPr/>
            </a:lvl2pPr>
            <a:lvl3pPr marL="1371600" lvl="2" indent="-476250">
              <a:spcBef>
                <a:spcPts val="0"/>
              </a:spcBef>
              <a:spcAft>
                <a:spcPts val="0"/>
              </a:spcAft>
              <a:buSzPts val="3900"/>
              <a:buChar char="■"/>
              <a:defRPr/>
            </a:lvl3pPr>
            <a:lvl4pPr marL="1828800" lvl="3" indent="-476250">
              <a:spcBef>
                <a:spcPts val="0"/>
              </a:spcBef>
              <a:spcAft>
                <a:spcPts val="0"/>
              </a:spcAft>
              <a:buSzPts val="3900"/>
              <a:buChar char="●"/>
              <a:defRPr/>
            </a:lvl4pPr>
            <a:lvl5pPr marL="2286000" lvl="4" indent="-476250">
              <a:spcBef>
                <a:spcPts val="0"/>
              </a:spcBef>
              <a:spcAft>
                <a:spcPts val="0"/>
              </a:spcAft>
              <a:buSzPts val="3900"/>
              <a:buChar char="○"/>
              <a:defRPr/>
            </a:lvl5pPr>
            <a:lvl6pPr marL="2743200" lvl="5" indent="-476250">
              <a:spcBef>
                <a:spcPts val="0"/>
              </a:spcBef>
              <a:spcAft>
                <a:spcPts val="0"/>
              </a:spcAft>
              <a:buSzPts val="3900"/>
              <a:buChar char="■"/>
              <a:defRPr/>
            </a:lvl6pPr>
            <a:lvl7pPr marL="3200400" lvl="6" indent="-476250">
              <a:spcBef>
                <a:spcPts val="0"/>
              </a:spcBef>
              <a:spcAft>
                <a:spcPts val="0"/>
              </a:spcAft>
              <a:buSzPts val="3900"/>
              <a:buChar char="●"/>
              <a:defRPr/>
            </a:lvl7pPr>
            <a:lvl8pPr marL="3657600" lvl="7" indent="-476250">
              <a:spcBef>
                <a:spcPts val="0"/>
              </a:spcBef>
              <a:spcAft>
                <a:spcPts val="0"/>
              </a:spcAft>
              <a:buSzPts val="3900"/>
              <a:buChar char="○"/>
              <a:defRPr/>
            </a:lvl8pPr>
            <a:lvl9pPr marL="4114800" lvl="8" indent="-476250">
              <a:spcBef>
                <a:spcPts val="0"/>
              </a:spcBef>
              <a:spcAft>
                <a:spcPts val="0"/>
              </a:spcAft>
              <a:buSzPts val="3900"/>
              <a:buChar char="■"/>
              <a:defRPr/>
            </a:lvl9pPr>
          </a:lstStyle>
          <a:p>
            <a:endParaRPr/>
          </a:p>
        </p:txBody>
      </p:sp>
      <p:sp>
        <p:nvSpPr>
          <p:cNvPr id="244" name="Google Shape;244;p10"/>
          <p:cNvSpPr txBox="1">
            <a:spLocks noGrp="1"/>
          </p:cNvSpPr>
          <p:nvPr>
            <p:ph type="sldNum" idx="12"/>
          </p:nvPr>
        </p:nvSpPr>
        <p:spPr>
          <a:xfrm>
            <a:off x="21347925" y="15666450"/>
            <a:ext cx="1382700" cy="13224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5"/>
        <p:cNvGrpSpPr/>
        <p:nvPr/>
      </p:nvGrpSpPr>
      <p:grpSpPr>
        <a:xfrm>
          <a:off x="0" y="0"/>
          <a:ext cx="0" cy="0"/>
          <a:chOff x="0" y="0"/>
          <a:chExt cx="0" cy="0"/>
        </a:xfrm>
      </p:grpSpPr>
      <p:sp>
        <p:nvSpPr>
          <p:cNvPr id="246" name="Google Shape;246;p11"/>
          <p:cNvSpPr txBox="1">
            <a:spLocks noGrp="1"/>
          </p:cNvSpPr>
          <p:nvPr>
            <p:ph type="body" idx="1"/>
          </p:nvPr>
        </p:nvSpPr>
        <p:spPr>
          <a:xfrm>
            <a:off x="785386" y="14212955"/>
            <a:ext cx="15115200" cy="2032800"/>
          </a:xfrm>
          <a:prstGeom prst="rect">
            <a:avLst/>
          </a:prstGeom>
        </p:spPr>
        <p:txBody>
          <a:bodyPr spcFirstLastPara="1" wrap="square" lIns="255950" tIns="255950" rIns="255950" bIns="255950" anchor="ctr" anchorCtr="0">
            <a:normAutofit/>
          </a:bodyPr>
          <a:lstStyle>
            <a:lvl1pPr marL="457200" lvl="0" indent="-228600">
              <a:lnSpc>
                <a:spcPct val="100000"/>
              </a:lnSpc>
              <a:spcBef>
                <a:spcPts val="0"/>
              </a:spcBef>
              <a:spcAft>
                <a:spcPts val="0"/>
              </a:spcAft>
              <a:buSzPts val="5000"/>
              <a:buNone/>
              <a:defRPr/>
            </a:lvl1pPr>
          </a:lstStyle>
          <a:p>
            <a:endParaRPr/>
          </a:p>
        </p:txBody>
      </p:sp>
      <p:sp>
        <p:nvSpPr>
          <p:cNvPr id="247" name="Google Shape;247;p11"/>
          <p:cNvSpPr txBox="1">
            <a:spLocks noGrp="1"/>
          </p:cNvSpPr>
          <p:nvPr>
            <p:ph type="sldNum" idx="12"/>
          </p:nvPr>
        </p:nvSpPr>
        <p:spPr>
          <a:xfrm>
            <a:off x="21347925" y="15666450"/>
            <a:ext cx="1382700" cy="13224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8"/>
        <p:cNvGrpSpPr/>
        <p:nvPr/>
      </p:nvGrpSpPr>
      <p:grpSpPr>
        <a:xfrm>
          <a:off x="0" y="0"/>
          <a:ext cx="0" cy="0"/>
          <a:chOff x="0" y="0"/>
          <a:chExt cx="0" cy="0"/>
        </a:xfrm>
      </p:grpSpPr>
      <p:sp>
        <p:nvSpPr>
          <p:cNvPr id="249" name="Google Shape;249;p12"/>
          <p:cNvSpPr txBox="1">
            <a:spLocks noGrp="1"/>
          </p:cNvSpPr>
          <p:nvPr>
            <p:ph type="title" hasCustomPrompt="1"/>
          </p:nvPr>
        </p:nvSpPr>
        <p:spPr>
          <a:xfrm>
            <a:off x="785386" y="3716115"/>
            <a:ext cx="21469200" cy="6596400"/>
          </a:xfrm>
          <a:prstGeom prst="rect">
            <a:avLst/>
          </a:prstGeom>
        </p:spPr>
        <p:txBody>
          <a:bodyPr spcFirstLastPara="1" wrap="square" lIns="255950" tIns="255950" rIns="255950" bIns="255950" anchor="b" anchorCtr="0">
            <a:normAutofit/>
          </a:bodyPr>
          <a:lstStyle>
            <a:lvl1pPr lvl="0" algn="ctr">
              <a:spcBef>
                <a:spcPts val="0"/>
              </a:spcBef>
              <a:spcAft>
                <a:spcPts val="0"/>
              </a:spcAft>
              <a:buSzPts val="33600"/>
              <a:buNone/>
              <a:defRPr sz="33600"/>
            </a:lvl1pPr>
            <a:lvl2pPr lvl="1" algn="ctr">
              <a:spcBef>
                <a:spcPts val="0"/>
              </a:spcBef>
              <a:spcAft>
                <a:spcPts val="0"/>
              </a:spcAft>
              <a:buSzPts val="33600"/>
              <a:buNone/>
              <a:defRPr sz="33600"/>
            </a:lvl2pPr>
            <a:lvl3pPr lvl="2" algn="ctr">
              <a:spcBef>
                <a:spcPts val="0"/>
              </a:spcBef>
              <a:spcAft>
                <a:spcPts val="0"/>
              </a:spcAft>
              <a:buSzPts val="33600"/>
              <a:buNone/>
              <a:defRPr sz="33600"/>
            </a:lvl3pPr>
            <a:lvl4pPr lvl="3" algn="ctr">
              <a:spcBef>
                <a:spcPts val="0"/>
              </a:spcBef>
              <a:spcAft>
                <a:spcPts val="0"/>
              </a:spcAft>
              <a:buSzPts val="33600"/>
              <a:buNone/>
              <a:defRPr sz="33600"/>
            </a:lvl4pPr>
            <a:lvl5pPr lvl="4" algn="ctr">
              <a:spcBef>
                <a:spcPts val="0"/>
              </a:spcBef>
              <a:spcAft>
                <a:spcPts val="0"/>
              </a:spcAft>
              <a:buSzPts val="33600"/>
              <a:buNone/>
              <a:defRPr sz="33600"/>
            </a:lvl5pPr>
            <a:lvl6pPr lvl="5" algn="ctr">
              <a:spcBef>
                <a:spcPts val="0"/>
              </a:spcBef>
              <a:spcAft>
                <a:spcPts val="0"/>
              </a:spcAft>
              <a:buSzPts val="33600"/>
              <a:buNone/>
              <a:defRPr sz="33600"/>
            </a:lvl6pPr>
            <a:lvl7pPr lvl="6" algn="ctr">
              <a:spcBef>
                <a:spcPts val="0"/>
              </a:spcBef>
              <a:spcAft>
                <a:spcPts val="0"/>
              </a:spcAft>
              <a:buSzPts val="33600"/>
              <a:buNone/>
              <a:defRPr sz="33600"/>
            </a:lvl7pPr>
            <a:lvl8pPr lvl="7" algn="ctr">
              <a:spcBef>
                <a:spcPts val="0"/>
              </a:spcBef>
              <a:spcAft>
                <a:spcPts val="0"/>
              </a:spcAft>
              <a:buSzPts val="33600"/>
              <a:buNone/>
              <a:defRPr sz="33600"/>
            </a:lvl8pPr>
            <a:lvl9pPr lvl="8" algn="ctr">
              <a:spcBef>
                <a:spcPts val="0"/>
              </a:spcBef>
              <a:spcAft>
                <a:spcPts val="0"/>
              </a:spcAft>
              <a:buSzPts val="33600"/>
              <a:buNone/>
              <a:defRPr sz="33600"/>
            </a:lvl9pPr>
          </a:lstStyle>
          <a:p>
            <a:r>
              <a:t>xx%</a:t>
            </a:r>
          </a:p>
        </p:txBody>
      </p:sp>
      <p:sp>
        <p:nvSpPr>
          <p:cNvPr id="250" name="Google Shape;250;p12"/>
          <p:cNvSpPr txBox="1">
            <a:spLocks noGrp="1"/>
          </p:cNvSpPr>
          <p:nvPr>
            <p:ph type="body" idx="1"/>
          </p:nvPr>
        </p:nvSpPr>
        <p:spPr>
          <a:xfrm>
            <a:off x="785386" y="10590152"/>
            <a:ext cx="21469200" cy="4370100"/>
          </a:xfrm>
          <a:prstGeom prst="rect">
            <a:avLst/>
          </a:prstGeom>
        </p:spPr>
        <p:txBody>
          <a:bodyPr spcFirstLastPara="1" wrap="square" lIns="255950" tIns="255950" rIns="255950" bIns="255950" anchor="t" anchorCtr="0">
            <a:normAutofit/>
          </a:bodyPr>
          <a:lstStyle>
            <a:lvl1pPr marL="457200" lvl="0" indent="-546100" algn="ctr">
              <a:spcBef>
                <a:spcPts val="0"/>
              </a:spcBef>
              <a:spcAft>
                <a:spcPts val="0"/>
              </a:spcAft>
              <a:buSzPts val="5000"/>
              <a:buChar char="●"/>
              <a:defRPr/>
            </a:lvl1pPr>
            <a:lvl2pPr marL="914400" lvl="1" indent="-476250" algn="ctr">
              <a:spcBef>
                <a:spcPts val="0"/>
              </a:spcBef>
              <a:spcAft>
                <a:spcPts val="0"/>
              </a:spcAft>
              <a:buSzPts val="3900"/>
              <a:buChar char="○"/>
              <a:defRPr/>
            </a:lvl2pPr>
            <a:lvl3pPr marL="1371600" lvl="2" indent="-476250" algn="ctr">
              <a:spcBef>
                <a:spcPts val="0"/>
              </a:spcBef>
              <a:spcAft>
                <a:spcPts val="0"/>
              </a:spcAft>
              <a:buSzPts val="3900"/>
              <a:buChar char="■"/>
              <a:defRPr/>
            </a:lvl3pPr>
            <a:lvl4pPr marL="1828800" lvl="3" indent="-476250" algn="ctr">
              <a:spcBef>
                <a:spcPts val="0"/>
              </a:spcBef>
              <a:spcAft>
                <a:spcPts val="0"/>
              </a:spcAft>
              <a:buSzPts val="3900"/>
              <a:buChar char="●"/>
              <a:defRPr/>
            </a:lvl4pPr>
            <a:lvl5pPr marL="2286000" lvl="4" indent="-476250" algn="ctr">
              <a:spcBef>
                <a:spcPts val="0"/>
              </a:spcBef>
              <a:spcAft>
                <a:spcPts val="0"/>
              </a:spcAft>
              <a:buSzPts val="3900"/>
              <a:buChar char="○"/>
              <a:defRPr/>
            </a:lvl5pPr>
            <a:lvl6pPr marL="2743200" lvl="5" indent="-476250" algn="ctr">
              <a:spcBef>
                <a:spcPts val="0"/>
              </a:spcBef>
              <a:spcAft>
                <a:spcPts val="0"/>
              </a:spcAft>
              <a:buSzPts val="3900"/>
              <a:buChar char="■"/>
              <a:defRPr/>
            </a:lvl6pPr>
            <a:lvl7pPr marL="3200400" lvl="6" indent="-476250" algn="ctr">
              <a:spcBef>
                <a:spcPts val="0"/>
              </a:spcBef>
              <a:spcAft>
                <a:spcPts val="0"/>
              </a:spcAft>
              <a:buSzPts val="3900"/>
              <a:buChar char="●"/>
              <a:defRPr/>
            </a:lvl7pPr>
            <a:lvl8pPr marL="3657600" lvl="7" indent="-476250" algn="ctr">
              <a:spcBef>
                <a:spcPts val="0"/>
              </a:spcBef>
              <a:spcAft>
                <a:spcPts val="0"/>
              </a:spcAft>
              <a:buSzPts val="3900"/>
              <a:buChar char="○"/>
              <a:defRPr/>
            </a:lvl8pPr>
            <a:lvl9pPr marL="4114800" lvl="8" indent="-476250" algn="ctr">
              <a:spcBef>
                <a:spcPts val="0"/>
              </a:spcBef>
              <a:spcAft>
                <a:spcPts val="0"/>
              </a:spcAft>
              <a:buSzPts val="3900"/>
              <a:buChar char="■"/>
              <a:defRPr/>
            </a:lvl9pPr>
          </a:lstStyle>
          <a:p>
            <a:endParaRPr/>
          </a:p>
        </p:txBody>
      </p:sp>
      <p:sp>
        <p:nvSpPr>
          <p:cNvPr id="251" name="Google Shape;251;p12"/>
          <p:cNvSpPr txBox="1">
            <a:spLocks noGrp="1"/>
          </p:cNvSpPr>
          <p:nvPr>
            <p:ph type="sldNum" idx="12"/>
          </p:nvPr>
        </p:nvSpPr>
        <p:spPr>
          <a:xfrm>
            <a:off x="21347925" y="15666450"/>
            <a:ext cx="1382700" cy="13224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52"/>
        <p:cNvGrpSpPr/>
        <p:nvPr/>
      </p:nvGrpSpPr>
      <p:grpSpPr>
        <a:xfrm>
          <a:off x="0" y="0"/>
          <a:ext cx="0" cy="0"/>
          <a:chOff x="0" y="0"/>
          <a:chExt cx="0" cy="0"/>
        </a:xfrm>
      </p:grpSpPr>
      <p:sp>
        <p:nvSpPr>
          <p:cNvPr id="253" name="Google Shape;253;p13"/>
          <p:cNvSpPr txBox="1">
            <a:spLocks noGrp="1"/>
          </p:cNvSpPr>
          <p:nvPr>
            <p:ph type="sldNum" idx="12"/>
          </p:nvPr>
        </p:nvSpPr>
        <p:spPr>
          <a:xfrm>
            <a:off x="21347925" y="15666450"/>
            <a:ext cx="1382700" cy="13224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85386" y="1495097"/>
            <a:ext cx="21469200" cy="1923900"/>
          </a:xfrm>
          <a:prstGeom prst="rect">
            <a:avLst/>
          </a:prstGeom>
          <a:noFill/>
          <a:ln>
            <a:noFill/>
          </a:ln>
        </p:spPr>
        <p:txBody>
          <a:bodyPr spcFirstLastPara="1" wrap="square" lIns="255950" tIns="255950" rIns="255950" bIns="255950" anchor="t" anchorCtr="0">
            <a:normAutofit/>
          </a:bodyPr>
          <a:lstStyle>
            <a:lvl1pPr lvl="0">
              <a:spcBef>
                <a:spcPts val="0"/>
              </a:spcBef>
              <a:spcAft>
                <a:spcPts val="0"/>
              </a:spcAft>
              <a:buClr>
                <a:schemeClr val="dk1"/>
              </a:buClr>
              <a:buSzPts val="7800"/>
              <a:buFont typeface="Montserrat ExtraBold"/>
              <a:buNone/>
              <a:defRPr sz="7800">
                <a:solidFill>
                  <a:schemeClr val="dk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7800"/>
              <a:buFont typeface="Montserrat ExtraBold"/>
              <a:buNone/>
              <a:defRPr sz="7800">
                <a:solidFill>
                  <a:schemeClr val="dk1"/>
                </a:solidFill>
                <a:latin typeface="Montserrat ExtraBold"/>
                <a:ea typeface="Montserrat ExtraBold"/>
                <a:cs typeface="Montserrat ExtraBold"/>
                <a:sym typeface="Montserrat ExtraBold"/>
              </a:defRPr>
            </a:lvl2pPr>
            <a:lvl3pPr lvl="2">
              <a:spcBef>
                <a:spcPts val="0"/>
              </a:spcBef>
              <a:spcAft>
                <a:spcPts val="0"/>
              </a:spcAft>
              <a:buClr>
                <a:schemeClr val="dk1"/>
              </a:buClr>
              <a:buSzPts val="7800"/>
              <a:buFont typeface="Montserrat ExtraBold"/>
              <a:buNone/>
              <a:defRPr sz="7800">
                <a:solidFill>
                  <a:schemeClr val="dk1"/>
                </a:solidFill>
                <a:latin typeface="Montserrat ExtraBold"/>
                <a:ea typeface="Montserrat ExtraBold"/>
                <a:cs typeface="Montserrat ExtraBold"/>
                <a:sym typeface="Montserrat ExtraBold"/>
              </a:defRPr>
            </a:lvl3pPr>
            <a:lvl4pPr lvl="3">
              <a:spcBef>
                <a:spcPts val="0"/>
              </a:spcBef>
              <a:spcAft>
                <a:spcPts val="0"/>
              </a:spcAft>
              <a:buClr>
                <a:schemeClr val="dk1"/>
              </a:buClr>
              <a:buSzPts val="7800"/>
              <a:buFont typeface="Montserrat ExtraBold"/>
              <a:buNone/>
              <a:defRPr sz="7800">
                <a:solidFill>
                  <a:schemeClr val="dk1"/>
                </a:solidFill>
                <a:latin typeface="Montserrat ExtraBold"/>
                <a:ea typeface="Montserrat ExtraBold"/>
                <a:cs typeface="Montserrat ExtraBold"/>
                <a:sym typeface="Montserrat ExtraBold"/>
              </a:defRPr>
            </a:lvl4pPr>
            <a:lvl5pPr lvl="4">
              <a:spcBef>
                <a:spcPts val="0"/>
              </a:spcBef>
              <a:spcAft>
                <a:spcPts val="0"/>
              </a:spcAft>
              <a:buClr>
                <a:schemeClr val="dk1"/>
              </a:buClr>
              <a:buSzPts val="7800"/>
              <a:buFont typeface="Montserrat ExtraBold"/>
              <a:buNone/>
              <a:defRPr sz="7800">
                <a:solidFill>
                  <a:schemeClr val="dk1"/>
                </a:solidFill>
                <a:latin typeface="Montserrat ExtraBold"/>
                <a:ea typeface="Montserrat ExtraBold"/>
                <a:cs typeface="Montserrat ExtraBold"/>
                <a:sym typeface="Montserrat ExtraBold"/>
              </a:defRPr>
            </a:lvl5pPr>
            <a:lvl6pPr lvl="5">
              <a:spcBef>
                <a:spcPts val="0"/>
              </a:spcBef>
              <a:spcAft>
                <a:spcPts val="0"/>
              </a:spcAft>
              <a:buClr>
                <a:schemeClr val="dk1"/>
              </a:buClr>
              <a:buSzPts val="7800"/>
              <a:buFont typeface="Montserrat ExtraBold"/>
              <a:buNone/>
              <a:defRPr sz="7800">
                <a:solidFill>
                  <a:schemeClr val="dk1"/>
                </a:solidFill>
                <a:latin typeface="Montserrat ExtraBold"/>
                <a:ea typeface="Montserrat ExtraBold"/>
                <a:cs typeface="Montserrat ExtraBold"/>
                <a:sym typeface="Montserrat ExtraBold"/>
              </a:defRPr>
            </a:lvl6pPr>
            <a:lvl7pPr lvl="6">
              <a:spcBef>
                <a:spcPts val="0"/>
              </a:spcBef>
              <a:spcAft>
                <a:spcPts val="0"/>
              </a:spcAft>
              <a:buClr>
                <a:schemeClr val="dk1"/>
              </a:buClr>
              <a:buSzPts val="7800"/>
              <a:buFont typeface="Montserrat ExtraBold"/>
              <a:buNone/>
              <a:defRPr sz="7800">
                <a:solidFill>
                  <a:schemeClr val="dk1"/>
                </a:solidFill>
                <a:latin typeface="Montserrat ExtraBold"/>
                <a:ea typeface="Montserrat ExtraBold"/>
                <a:cs typeface="Montserrat ExtraBold"/>
                <a:sym typeface="Montserrat ExtraBold"/>
              </a:defRPr>
            </a:lvl7pPr>
            <a:lvl8pPr lvl="7">
              <a:spcBef>
                <a:spcPts val="0"/>
              </a:spcBef>
              <a:spcAft>
                <a:spcPts val="0"/>
              </a:spcAft>
              <a:buClr>
                <a:schemeClr val="dk1"/>
              </a:buClr>
              <a:buSzPts val="7800"/>
              <a:buFont typeface="Montserrat ExtraBold"/>
              <a:buNone/>
              <a:defRPr sz="7800">
                <a:solidFill>
                  <a:schemeClr val="dk1"/>
                </a:solidFill>
                <a:latin typeface="Montserrat ExtraBold"/>
                <a:ea typeface="Montserrat ExtraBold"/>
                <a:cs typeface="Montserrat ExtraBold"/>
                <a:sym typeface="Montserrat ExtraBold"/>
              </a:defRPr>
            </a:lvl8pPr>
            <a:lvl9pPr lvl="8">
              <a:spcBef>
                <a:spcPts val="0"/>
              </a:spcBef>
              <a:spcAft>
                <a:spcPts val="0"/>
              </a:spcAft>
              <a:buClr>
                <a:schemeClr val="dk1"/>
              </a:buClr>
              <a:buSzPts val="7800"/>
              <a:buFont typeface="Montserrat ExtraBold"/>
              <a:buNone/>
              <a:defRPr sz="7800">
                <a:solidFill>
                  <a:schemeClr val="dk1"/>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785386" y="3871832"/>
            <a:ext cx="21469200" cy="11477700"/>
          </a:xfrm>
          <a:prstGeom prst="rect">
            <a:avLst/>
          </a:prstGeom>
          <a:noFill/>
          <a:ln>
            <a:noFill/>
          </a:ln>
        </p:spPr>
        <p:txBody>
          <a:bodyPr spcFirstLastPara="1" wrap="square" lIns="255950" tIns="255950" rIns="255950" bIns="255950" anchor="t" anchorCtr="0">
            <a:normAutofit/>
          </a:bodyPr>
          <a:lstStyle>
            <a:lvl1pPr marL="457200" lvl="0" indent="-546100">
              <a:lnSpc>
                <a:spcPct val="115000"/>
              </a:lnSpc>
              <a:spcBef>
                <a:spcPts val="0"/>
              </a:spcBef>
              <a:spcAft>
                <a:spcPts val="0"/>
              </a:spcAft>
              <a:buClr>
                <a:schemeClr val="dk1"/>
              </a:buClr>
              <a:buSzPts val="5000"/>
              <a:buFont typeface="Roboto"/>
              <a:buChar char="●"/>
              <a:defRPr sz="5000">
                <a:solidFill>
                  <a:schemeClr val="dk1"/>
                </a:solidFill>
                <a:latin typeface="Roboto"/>
                <a:ea typeface="Roboto"/>
                <a:cs typeface="Roboto"/>
                <a:sym typeface="Roboto"/>
              </a:defRPr>
            </a:lvl1pPr>
            <a:lvl2pPr marL="914400" lvl="1" indent="-476250">
              <a:lnSpc>
                <a:spcPct val="115000"/>
              </a:lnSpc>
              <a:spcBef>
                <a:spcPts val="0"/>
              </a:spcBef>
              <a:spcAft>
                <a:spcPts val="0"/>
              </a:spcAft>
              <a:buClr>
                <a:schemeClr val="dk1"/>
              </a:buClr>
              <a:buSzPts val="3900"/>
              <a:buFont typeface="Roboto"/>
              <a:buChar char="○"/>
              <a:defRPr sz="3900">
                <a:solidFill>
                  <a:schemeClr val="dk1"/>
                </a:solidFill>
                <a:latin typeface="Roboto"/>
                <a:ea typeface="Roboto"/>
                <a:cs typeface="Roboto"/>
                <a:sym typeface="Roboto"/>
              </a:defRPr>
            </a:lvl2pPr>
            <a:lvl3pPr marL="1371600" lvl="2" indent="-476250">
              <a:lnSpc>
                <a:spcPct val="115000"/>
              </a:lnSpc>
              <a:spcBef>
                <a:spcPts val="0"/>
              </a:spcBef>
              <a:spcAft>
                <a:spcPts val="0"/>
              </a:spcAft>
              <a:buClr>
                <a:schemeClr val="dk1"/>
              </a:buClr>
              <a:buSzPts val="3900"/>
              <a:buFont typeface="Roboto"/>
              <a:buChar char="■"/>
              <a:defRPr sz="3900">
                <a:solidFill>
                  <a:schemeClr val="dk1"/>
                </a:solidFill>
                <a:latin typeface="Roboto"/>
                <a:ea typeface="Roboto"/>
                <a:cs typeface="Roboto"/>
                <a:sym typeface="Roboto"/>
              </a:defRPr>
            </a:lvl3pPr>
            <a:lvl4pPr marL="1828800" lvl="3" indent="-476250">
              <a:lnSpc>
                <a:spcPct val="115000"/>
              </a:lnSpc>
              <a:spcBef>
                <a:spcPts val="0"/>
              </a:spcBef>
              <a:spcAft>
                <a:spcPts val="0"/>
              </a:spcAft>
              <a:buClr>
                <a:schemeClr val="dk1"/>
              </a:buClr>
              <a:buSzPts val="3900"/>
              <a:buFont typeface="Roboto"/>
              <a:buChar char="●"/>
              <a:defRPr sz="3900">
                <a:solidFill>
                  <a:schemeClr val="dk1"/>
                </a:solidFill>
                <a:latin typeface="Roboto"/>
                <a:ea typeface="Roboto"/>
                <a:cs typeface="Roboto"/>
                <a:sym typeface="Roboto"/>
              </a:defRPr>
            </a:lvl4pPr>
            <a:lvl5pPr marL="2286000" lvl="4" indent="-476250">
              <a:lnSpc>
                <a:spcPct val="115000"/>
              </a:lnSpc>
              <a:spcBef>
                <a:spcPts val="0"/>
              </a:spcBef>
              <a:spcAft>
                <a:spcPts val="0"/>
              </a:spcAft>
              <a:buClr>
                <a:schemeClr val="dk1"/>
              </a:buClr>
              <a:buSzPts val="3900"/>
              <a:buFont typeface="Roboto"/>
              <a:buChar char="○"/>
              <a:defRPr sz="3900">
                <a:solidFill>
                  <a:schemeClr val="dk1"/>
                </a:solidFill>
                <a:latin typeface="Roboto"/>
                <a:ea typeface="Roboto"/>
                <a:cs typeface="Roboto"/>
                <a:sym typeface="Roboto"/>
              </a:defRPr>
            </a:lvl5pPr>
            <a:lvl6pPr marL="2743200" lvl="5" indent="-476250">
              <a:lnSpc>
                <a:spcPct val="115000"/>
              </a:lnSpc>
              <a:spcBef>
                <a:spcPts val="0"/>
              </a:spcBef>
              <a:spcAft>
                <a:spcPts val="0"/>
              </a:spcAft>
              <a:buClr>
                <a:schemeClr val="dk1"/>
              </a:buClr>
              <a:buSzPts val="3900"/>
              <a:buFont typeface="Roboto"/>
              <a:buChar char="■"/>
              <a:defRPr sz="3900">
                <a:solidFill>
                  <a:schemeClr val="dk1"/>
                </a:solidFill>
                <a:latin typeface="Roboto"/>
                <a:ea typeface="Roboto"/>
                <a:cs typeface="Roboto"/>
                <a:sym typeface="Roboto"/>
              </a:defRPr>
            </a:lvl6pPr>
            <a:lvl7pPr marL="3200400" lvl="6" indent="-476250">
              <a:lnSpc>
                <a:spcPct val="115000"/>
              </a:lnSpc>
              <a:spcBef>
                <a:spcPts val="0"/>
              </a:spcBef>
              <a:spcAft>
                <a:spcPts val="0"/>
              </a:spcAft>
              <a:buClr>
                <a:schemeClr val="dk1"/>
              </a:buClr>
              <a:buSzPts val="3900"/>
              <a:buFont typeface="Roboto"/>
              <a:buChar char="●"/>
              <a:defRPr sz="3900">
                <a:solidFill>
                  <a:schemeClr val="dk1"/>
                </a:solidFill>
                <a:latin typeface="Roboto"/>
                <a:ea typeface="Roboto"/>
                <a:cs typeface="Roboto"/>
                <a:sym typeface="Roboto"/>
              </a:defRPr>
            </a:lvl7pPr>
            <a:lvl8pPr marL="3657600" lvl="7" indent="-476250">
              <a:lnSpc>
                <a:spcPct val="115000"/>
              </a:lnSpc>
              <a:spcBef>
                <a:spcPts val="0"/>
              </a:spcBef>
              <a:spcAft>
                <a:spcPts val="0"/>
              </a:spcAft>
              <a:buClr>
                <a:schemeClr val="dk1"/>
              </a:buClr>
              <a:buSzPts val="3900"/>
              <a:buFont typeface="Roboto"/>
              <a:buChar char="○"/>
              <a:defRPr sz="3900">
                <a:solidFill>
                  <a:schemeClr val="dk1"/>
                </a:solidFill>
                <a:latin typeface="Roboto"/>
                <a:ea typeface="Roboto"/>
                <a:cs typeface="Roboto"/>
                <a:sym typeface="Roboto"/>
              </a:defRPr>
            </a:lvl8pPr>
            <a:lvl9pPr marL="4114800" lvl="8" indent="-476250">
              <a:lnSpc>
                <a:spcPct val="115000"/>
              </a:lnSpc>
              <a:spcBef>
                <a:spcPts val="0"/>
              </a:spcBef>
              <a:spcAft>
                <a:spcPts val="0"/>
              </a:spcAft>
              <a:buClr>
                <a:schemeClr val="dk1"/>
              </a:buClr>
              <a:buSzPts val="3900"/>
              <a:buFont typeface="Roboto"/>
              <a:buChar char="■"/>
              <a:defRPr sz="39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jpeg"/><Relationship Id="rId18" Type="http://schemas.openxmlformats.org/officeDocument/2006/relationships/image" Target="../media/image16.png"/><Relationship Id="rId26" Type="http://schemas.openxmlformats.org/officeDocument/2006/relationships/image" Target="../media/image22.png"/><Relationship Id="rId39" Type="http://schemas.openxmlformats.org/officeDocument/2006/relationships/hyperlink" Target="https://www.epa.gov/water-quality-monitoring/aquaculture" TargetMode="External"/><Relationship Id="rId21" Type="http://schemas.openxmlformats.org/officeDocument/2006/relationships/image" Target="../media/image16.jpeg"/><Relationship Id="rId34" Type="http://schemas.openxmlformats.org/officeDocument/2006/relationships/image" Target="../media/image30.png"/><Relationship Id="rId42" Type="http://schemas.openxmlformats.org/officeDocument/2006/relationships/hyperlink" Target="mailto:-Ahmed.2522029@stemelsadat.moe.edu.eg" TargetMode="External"/><Relationship Id="rId7" Type="http://schemas.openxmlformats.org/officeDocument/2006/relationships/image" Target="../media/image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41" Type="http://schemas.openxmlformats.org/officeDocument/2006/relationships/hyperlink" Target="mailto:-mohamed.2522043@stemelsadat.moe.edu.eg" TargetMode="Externa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0.png"/><Relationship Id="rId32" Type="http://schemas.openxmlformats.org/officeDocument/2006/relationships/image" Target="../media/image28.png"/><Relationship Id="rId37" Type="http://schemas.openxmlformats.org/officeDocument/2006/relationships/hyperlink" Target="https://doi.org/10.4028/www.scientific.net/amr.605-607.910" TargetMode="External"/><Relationship Id="rId40" Type="http://schemas.openxmlformats.org/officeDocument/2006/relationships/image" Target="../media/image31.jpeg"/><Relationship Id="rId5" Type="http://schemas.openxmlformats.org/officeDocument/2006/relationships/image" Target="../media/image3.jpeg"/><Relationship Id="rId15" Type="http://schemas.openxmlformats.org/officeDocument/2006/relationships/image" Target="../media/image13.jpeg"/><Relationship Id="rId23" Type="http://schemas.openxmlformats.org/officeDocument/2006/relationships/image" Target="../media/image19.png"/><Relationship Id="rId28" Type="http://schemas.openxmlformats.org/officeDocument/2006/relationships/image" Target="../media/image24.png"/><Relationship Id="rId36" Type="http://schemas.openxmlformats.org/officeDocument/2006/relationships/hyperlink" Target="https://doi.org/10.3390/s22176700" TargetMode="External"/><Relationship Id="rId10" Type="http://schemas.openxmlformats.org/officeDocument/2006/relationships/image" Target="../media/image8.jpeg"/><Relationship Id="rId19" Type="http://schemas.openxmlformats.org/officeDocument/2006/relationships/image" Target="../media/image17.png"/><Relationship Id="rId31" Type="http://schemas.openxmlformats.org/officeDocument/2006/relationships/image" Target="../media/image26.png"/><Relationship Id="rId44" Type="http://schemas.openxmlformats.org/officeDocument/2006/relationships/image" Target="../media/image32.sv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jpeg"/><Relationship Id="rId22" Type="http://schemas.openxmlformats.org/officeDocument/2006/relationships/image" Target="../media/image17.jpeg"/><Relationship Id="rId27" Type="http://schemas.openxmlformats.org/officeDocument/2006/relationships/image" Target="../media/image23.png"/><Relationship Id="rId30" Type="http://schemas.openxmlformats.org/officeDocument/2006/relationships/image" Target="../media/image25.jpeg"/><Relationship Id="rId35" Type="http://schemas.openxmlformats.org/officeDocument/2006/relationships/hyperlink" Target="https://www.fao.org/aquaculture" TargetMode="External"/><Relationship Id="rId43" Type="http://schemas.openxmlformats.org/officeDocument/2006/relationships/hyperlink" Target="mailto:-fares.2522038@stemelsadat.moe.edu.eg" TargetMode="External"/><Relationship Id="rId8" Type="http://schemas.openxmlformats.org/officeDocument/2006/relationships/image" Target="../media/image6.png"/><Relationship Id="rId3" Type="http://schemas.openxmlformats.org/officeDocument/2006/relationships/image" Target="../media/image1.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1.png"/><Relationship Id="rId33" Type="http://schemas.openxmlformats.org/officeDocument/2006/relationships/image" Target="../media/image29.png"/><Relationship Id="rId38" Type="http://schemas.openxmlformats.org/officeDocument/2006/relationships/hyperlink" Target="https://doi.org/10.1007/978-3-319-50751-4_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84"/>
        <p:cNvGrpSpPr/>
        <p:nvPr/>
      </p:nvGrpSpPr>
      <p:grpSpPr>
        <a:xfrm>
          <a:off x="0" y="0"/>
          <a:ext cx="0" cy="0"/>
          <a:chOff x="0" y="0"/>
          <a:chExt cx="0" cy="0"/>
        </a:xfrm>
      </p:grpSpPr>
      <p:grpSp>
        <p:nvGrpSpPr>
          <p:cNvPr id="423" name="Google Shape;423;p20"/>
          <p:cNvGrpSpPr/>
          <p:nvPr/>
        </p:nvGrpSpPr>
        <p:grpSpPr>
          <a:xfrm>
            <a:off x="-3467812" y="-932209"/>
            <a:ext cx="4570885" cy="3434035"/>
            <a:chOff x="-2763501" y="-73332"/>
            <a:chExt cx="4570885" cy="3434035"/>
          </a:xfrm>
        </p:grpSpPr>
        <p:sp>
          <p:nvSpPr>
            <p:cNvPr id="424" name="Google Shape;424;p20"/>
            <p:cNvSpPr/>
            <p:nvPr/>
          </p:nvSpPr>
          <p:spPr>
            <a:xfrm rot="-5400000">
              <a:off x="-480435" y="1068304"/>
              <a:ext cx="2287838" cy="2287800"/>
            </a:xfrm>
            <a:custGeom>
              <a:avLst/>
              <a:gdLst/>
              <a:ahLst/>
              <a:cxnLst/>
              <a:rect l="l" t="t" r="r" b="b"/>
              <a:pathLst>
                <a:path w="14986" h="14986" extrusionOk="0">
                  <a:moveTo>
                    <a:pt x="7508" y="0"/>
                  </a:moveTo>
                  <a:lnTo>
                    <a:pt x="1" y="7478"/>
                  </a:lnTo>
                  <a:lnTo>
                    <a:pt x="7508" y="14985"/>
                  </a:lnTo>
                  <a:lnTo>
                    <a:pt x="14986" y="7478"/>
                  </a:lnTo>
                  <a:lnTo>
                    <a:pt x="75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0"/>
            <p:cNvSpPr/>
            <p:nvPr/>
          </p:nvSpPr>
          <p:spPr>
            <a:xfrm rot="-5400000">
              <a:off x="266713" y="1820018"/>
              <a:ext cx="788973" cy="788960"/>
            </a:xfrm>
            <a:custGeom>
              <a:avLst/>
              <a:gdLst/>
              <a:ahLst/>
              <a:cxnLst/>
              <a:rect l="l" t="t" r="r" b="b"/>
              <a:pathLst>
                <a:path w="5168" h="5168" extrusionOk="0">
                  <a:moveTo>
                    <a:pt x="2584" y="0"/>
                  </a:moveTo>
                  <a:lnTo>
                    <a:pt x="0" y="2584"/>
                  </a:lnTo>
                  <a:lnTo>
                    <a:pt x="2584" y="5167"/>
                  </a:lnTo>
                  <a:lnTo>
                    <a:pt x="5168" y="2584"/>
                  </a:lnTo>
                  <a:lnTo>
                    <a:pt x="25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0"/>
            <p:cNvSpPr/>
            <p:nvPr/>
          </p:nvSpPr>
          <p:spPr>
            <a:xfrm rot="-5400000">
              <a:off x="-2763520" y="1072884"/>
              <a:ext cx="2287838" cy="2287800"/>
            </a:xfrm>
            <a:custGeom>
              <a:avLst/>
              <a:gdLst/>
              <a:ahLst/>
              <a:cxnLst/>
              <a:rect l="l" t="t" r="r" b="b"/>
              <a:pathLst>
                <a:path w="14986" h="14986" extrusionOk="0">
                  <a:moveTo>
                    <a:pt x="7508" y="1"/>
                  </a:moveTo>
                  <a:lnTo>
                    <a:pt x="0" y="7478"/>
                  </a:lnTo>
                  <a:lnTo>
                    <a:pt x="7508" y="14986"/>
                  </a:lnTo>
                  <a:lnTo>
                    <a:pt x="14985" y="7478"/>
                  </a:lnTo>
                  <a:lnTo>
                    <a:pt x="7508" y="1"/>
                  </a:lnTo>
                  <a:close/>
                </a:path>
              </a:pathLst>
            </a:custGeom>
            <a:solidFill>
              <a:srgbClr val="0055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0"/>
            <p:cNvSpPr/>
            <p:nvPr/>
          </p:nvSpPr>
          <p:spPr>
            <a:xfrm rot="-5400000">
              <a:off x="-1626634" y="-68587"/>
              <a:ext cx="2287838" cy="2287800"/>
            </a:xfrm>
            <a:custGeom>
              <a:avLst/>
              <a:gdLst/>
              <a:ahLst/>
              <a:cxnLst/>
              <a:rect l="l" t="t" r="r" b="b"/>
              <a:pathLst>
                <a:path w="14986" h="14986" extrusionOk="0">
                  <a:moveTo>
                    <a:pt x="7508" y="1"/>
                  </a:moveTo>
                  <a:lnTo>
                    <a:pt x="1" y="7508"/>
                  </a:lnTo>
                  <a:lnTo>
                    <a:pt x="7508" y="14986"/>
                  </a:lnTo>
                  <a:lnTo>
                    <a:pt x="14986" y="7508"/>
                  </a:lnTo>
                  <a:lnTo>
                    <a:pt x="75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 name="Google Shape;428;p20"/>
            <p:cNvSpPr/>
            <p:nvPr/>
          </p:nvSpPr>
          <p:spPr>
            <a:xfrm rot="-5400000">
              <a:off x="-1065208" y="-128963"/>
              <a:ext cx="1164987" cy="2287800"/>
            </a:xfrm>
            <a:custGeom>
              <a:avLst/>
              <a:gdLst/>
              <a:ahLst/>
              <a:cxnLst/>
              <a:rect l="l" t="t" r="r" b="b"/>
              <a:pathLst>
                <a:path w="7631" h="14986" extrusionOk="0">
                  <a:moveTo>
                    <a:pt x="3496" y="1"/>
                  </a:moveTo>
                  <a:lnTo>
                    <a:pt x="1" y="3496"/>
                  </a:lnTo>
                  <a:cubicBezTo>
                    <a:pt x="2220" y="5715"/>
                    <a:pt x="2220" y="9332"/>
                    <a:pt x="31" y="11551"/>
                  </a:cubicBezTo>
                  <a:lnTo>
                    <a:pt x="3496" y="14986"/>
                  </a:lnTo>
                  <a:lnTo>
                    <a:pt x="4135" y="14347"/>
                  </a:lnTo>
                  <a:cubicBezTo>
                    <a:pt x="7630" y="10183"/>
                    <a:pt x="7448" y="3983"/>
                    <a:pt x="3527" y="31"/>
                  </a:cubicBezTo>
                  <a:cubicBezTo>
                    <a:pt x="3527" y="31"/>
                    <a:pt x="3496" y="31"/>
                    <a:pt x="34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0"/>
            <p:cNvSpPr/>
            <p:nvPr/>
          </p:nvSpPr>
          <p:spPr>
            <a:xfrm rot="-5400000">
              <a:off x="90303" y="-644052"/>
              <a:ext cx="1146361" cy="2287800"/>
            </a:xfrm>
            <a:custGeom>
              <a:avLst/>
              <a:gdLst/>
              <a:ahLst/>
              <a:cxnLst/>
              <a:rect l="l" t="t" r="r" b="b"/>
              <a:pathLst>
                <a:path w="7509" h="14986" extrusionOk="0">
                  <a:moveTo>
                    <a:pt x="7508" y="0"/>
                  </a:moveTo>
                  <a:lnTo>
                    <a:pt x="0" y="7478"/>
                  </a:lnTo>
                  <a:lnTo>
                    <a:pt x="7508" y="14985"/>
                  </a:lnTo>
                  <a:lnTo>
                    <a:pt x="75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0"/>
            <p:cNvSpPr/>
            <p:nvPr/>
          </p:nvSpPr>
          <p:spPr>
            <a:xfrm rot="-5400000">
              <a:off x="-1051240" y="1643698"/>
              <a:ext cx="1141782" cy="2283068"/>
            </a:xfrm>
            <a:custGeom>
              <a:avLst/>
              <a:gdLst/>
              <a:ahLst/>
              <a:cxnLst/>
              <a:rect l="l" t="t" r="r" b="b"/>
              <a:pathLst>
                <a:path w="7479" h="14955" extrusionOk="0">
                  <a:moveTo>
                    <a:pt x="1" y="0"/>
                  </a:moveTo>
                  <a:lnTo>
                    <a:pt x="1" y="14955"/>
                  </a:lnTo>
                  <a:lnTo>
                    <a:pt x="7478" y="747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0" name="Rectangle 489">
            <a:extLst>
              <a:ext uri="{FF2B5EF4-FFF2-40B4-BE49-F238E27FC236}">
                <a16:creationId xmlns:a16="http://schemas.microsoft.com/office/drawing/2014/main" id="{C2545212-EF82-8D6E-3FC2-C14BFEB64070}"/>
              </a:ext>
            </a:extLst>
          </p:cNvPr>
          <p:cNvSpPr>
            <a:spLocks/>
          </p:cNvSpPr>
          <p:nvPr/>
        </p:nvSpPr>
        <p:spPr>
          <a:xfrm>
            <a:off x="17242570" y="2100718"/>
            <a:ext cx="5290531" cy="1885055"/>
          </a:xfrm>
          <a:prstGeom prst="rect">
            <a:avLst/>
          </a:prstGeom>
          <a:solidFill>
            <a:srgbClr val="D1F4FF"/>
          </a:solidFill>
          <a:ln>
            <a:solidFill>
              <a:srgbClr val="D1F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2C4226D-2A45-2861-229A-3FBA78C992F8}"/>
              </a:ext>
            </a:extLst>
          </p:cNvPr>
          <p:cNvSpPr>
            <a:spLocks noGrp="1" noRot="1" noMove="1" noResize="1" noEditPoints="1" noAdjustHandles="1" noChangeArrowheads="1" noChangeShapeType="1"/>
          </p:cNvSpPr>
          <p:nvPr/>
        </p:nvSpPr>
        <p:spPr>
          <a:xfrm>
            <a:off x="474170" y="2100718"/>
            <a:ext cx="5290531" cy="2087369"/>
          </a:xfrm>
          <a:prstGeom prst="rect">
            <a:avLst/>
          </a:prstGeom>
          <a:solidFill>
            <a:srgbClr val="D1F4FF"/>
          </a:solidFill>
          <a:ln>
            <a:solidFill>
              <a:srgbClr val="D1F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963EE34A-46E0-DE79-A647-09D80C925378}"/>
              </a:ext>
            </a:extLst>
          </p:cNvPr>
          <p:cNvSpPr/>
          <p:nvPr/>
        </p:nvSpPr>
        <p:spPr>
          <a:xfrm>
            <a:off x="17253290" y="3723035"/>
            <a:ext cx="5335869" cy="895837"/>
          </a:xfrm>
          <a:prstGeom prst="rect">
            <a:avLst/>
          </a:prstGeom>
          <a:solidFill>
            <a:srgbClr val="7F8F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1" name="Rectangle 430">
            <a:extLst>
              <a:ext uri="{FF2B5EF4-FFF2-40B4-BE49-F238E27FC236}">
                <a16:creationId xmlns:a16="http://schemas.microsoft.com/office/drawing/2014/main" id="{2505BC9D-F3D0-75B5-D82B-1816F2D5CA2A}"/>
              </a:ext>
            </a:extLst>
          </p:cNvPr>
          <p:cNvSpPr>
            <a:spLocks/>
          </p:cNvSpPr>
          <p:nvPr/>
        </p:nvSpPr>
        <p:spPr>
          <a:xfrm>
            <a:off x="6055519" y="1648602"/>
            <a:ext cx="10927556" cy="2489373"/>
          </a:xfrm>
          <a:prstGeom prst="rect">
            <a:avLst/>
          </a:prstGeom>
          <a:solidFill>
            <a:srgbClr val="90EF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Google Shape;389;p20"/>
          <p:cNvSpPr txBox="1">
            <a:spLocks noGrp="1"/>
          </p:cNvSpPr>
          <p:nvPr>
            <p:ph type="title"/>
          </p:nvPr>
        </p:nvSpPr>
        <p:spPr>
          <a:xfrm>
            <a:off x="462677" y="1946957"/>
            <a:ext cx="5081700" cy="82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600" dirty="0"/>
              <a:t>Abstarct</a:t>
            </a:r>
            <a:endParaRPr sz="4000" dirty="0"/>
          </a:p>
        </p:txBody>
      </p:sp>
      <p:sp>
        <p:nvSpPr>
          <p:cNvPr id="391" name="Google Shape;391;p20"/>
          <p:cNvSpPr txBox="1">
            <a:spLocks noGrp="1"/>
          </p:cNvSpPr>
          <p:nvPr>
            <p:ph type="title"/>
          </p:nvPr>
        </p:nvSpPr>
        <p:spPr>
          <a:xfrm>
            <a:off x="469732" y="12007400"/>
            <a:ext cx="4846200" cy="63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solidFill>
                  <a:srgbClr val="142360"/>
                </a:solidFill>
              </a:rPr>
              <a:t>Material&amp; Methods</a:t>
            </a:r>
            <a:endParaRPr sz="3000" dirty="0">
              <a:solidFill>
                <a:srgbClr val="142360"/>
              </a:solidFill>
            </a:endParaRPr>
          </a:p>
        </p:txBody>
      </p:sp>
      <p:sp>
        <p:nvSpPr>
          <p:cNvPr id="392" name="Google Shape;392;p20"/>
          <p:cNvSpPr txBox="1"/>
          <p:nvPr/>
        </p:nvSpPr>
        <p:spPr>
          <a:xfrm>
            <a:off x="462677" y="2532854"/>
            <a:ext cx="5432174" cy="210098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Agency FB" panose="020B0503020202020204" pitchFamily="34" charset="0"/>
                <a:ea typeface="Roboto"/>
                <a:cs typeface="Aptos Serif" panose="020B0502040204020203" pitchFamily="18" charset="0"/>
                <a:sym typeface="Roboto"/>
              </a:rPr>
              <a:t>Aquaculture plays an important role in solving global food problems. To maintain the health and development of aquatic organisms, high-quality water is required. This paper proposes a low-cost IoT-based water quality monitoring system. A microcontroller, the ESP32, collects data from sensors that measure water level, temperature, and flow rate. Dissolved oxygen is calculated using a new equation based on temperature and flow rate, reducing the dependency on expensive DO sensors. Real-time monitoring and notification can be done using the Blynk dashboard, while the data is logged in Excel for further analysis. The tested prototype was effective in monitoring and notifying the key water parameters, thus providing a low-cost method for the maintenance of sustainable aquaculture.</a:t>
            </a:r>
          </a:p>
        </p:txBody>
      </p:sp>
      <p:sp>
        <p:nvSpPr>
          <p:cNvPr id="404" name="Google Shape;404;p20"/>
          <p:cNvSpPr txBox="1">
            <a:spLocks noGrp="1"/>
          </p:cNvSpPr>
          <p:nvPr>
            <p:ph type="title"/>
          </p:nvPr>
        </p:nvSpPr>
        <p:spPr>
          <a:xfrm>
            <a:off x="6061642" y="3947123"/>
            <a:ext cx="48384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solidFill>
                  <a:schemeClr val="tx2">
                    <a:lumMod val="10000"/>
                  </a:schemeClr>
                </a:solidFill>
              </a:rPr>
              <a:t>Results</a:t>
            </a:r>
            <a:endParaRPr sz="3000" dirty="0">
              <a:solidFill>
                <a:schemeClr val="tx2">
                  <a:lumMod val="10000"/>
                </a:schemeClr>
              </a:solidFill>
            </a:endParaRPr>
          </a:p>
        </p:txBody>
      </p:sp>
      <p:sp>
        <p:nvSpPr>
          <p:cNvPr id="3" name="Title 2">
            <a:extLst>
              <a:ext uri="{FF2B5EF4-FFF2-40B4-BE49-F238E27FC236}">
                <a16:creationId xmlns:a16="http://schemas.microsoft.com/office/drawing/2014/main" id="{16D2AB05-566C-A54F-7F2A-630D2DBD6F24}"/>
              </a:ext>
            </a:extLst>
          </p:cNvPr>
          <p:cNvSpPr>
            <a:spLocks noGrp="1"/>
          </p:cNvSpPr>
          <p:nvPr>
            <p:ph type="title"/>
          </p:nvPr>
        </p:nvSpPr>
        <p:spPr>
          <a:xfrm>
            <a:off x="752463" y="-102689"/>
            <a:ext cx="20696232" cy="1097400"/>
          </a:xfrm>
        </p:spPr>
        <p:txBody>
          <a:bodyPr>
            <a:noAutofit/>
          </a:bodyPr>
          <a:lstStyle/>
          <a:p>
            <a:r>
              <a:rPr lang="en-US" sz="4000" dirty="0" err="1"/>
              <a:t>Aquasmart</a:t>
            </a:r>
            <a:r>
              <a:rPr lang="en-US" sz="4000" dirty="0"/>
              <a:t> system “ESS”</a:t>
            </a:r>
          </a:p>
        </p:txBody>
      </p:sp>
      <p:sp>
        <p:nvSpPr>
          <p:cNvPr id="10" name="Google Shape;389;p20">
            <a:extLst>
              <a:ext uri="{FF2B5EF4-FFF2-40B4-BE49-F238E27FC236}">
                <a16:creationId xmlns:a16="http://schemas.microsoft.com/office/drawing/2014/main" id="{F37FD913-F8C5-63DD-691C-A11F6380C5A2}"/>
              </a:ext>
            </a:extLst>
          </p:cNvPr>
          <p:cNvSpPr txBox="1">
            <a:spLocks/>
          </p:cNvSpPr>
          <p:nvPr/>
        </p:nvSpPr>
        <p:spPr>
          <a:xfrm>
            <a:off x="485663" y="4470110"/>
            <a:ext cx="5081700" cy="822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Montserrat ExtraBold"/>
              <a:buNone/>
              <a:defRPr sz="902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9pPr>
          </a:lstStyle>
          <a:p>
            <a:pPr algn="l"/>
            <a:r>
              <a:rPr lang="en-US" sz="3600" dirty="0"/>
              <a:t>Introduction</a:t>
            </a:r>
            <a:endParaRPr lang="en-US" sz="4000" dirty="0"/>
          </a:p>
        </p:txBody>
      </p:sp>
      <p:sp>
        <p:nvSpPr>
          <p:cNvPr id="14" name="Google Shape;392;p20">
            <a:extLst>
              <a:ext uri="{FF2B5EF4-FFF2-40B4-BE49-F238E27FC236}">
                <a16:creationId xmlns:a16="http://schemas.microsoft.com/office/drawing/2014/main" id="{8F22DEAF-5A4B-499F-941B-C411E765339D}"/>
              </a:ext>
            </a:extLst>
          </p:cNvPr>
          <p:cNvSpPr txBox="1"/>
          <p:nvPr/>
        </p:nvSpPr>
        <p:spPr>
          <a:xfrm>
            <a:off x="469732" y="4996754"/>
            <a:ext cx="5313307" cy="20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latin typeface="Agency FB" panose="020B0503020202020204" pitchFamily="34" charset="0"/>
                <a:ea typeface="Roboto"/>
                <a:cs typeface="Roboto"/>
                <a:sym typeface="Roboto"/>
              </a:rPr>
              <a:t>Water resource management is one of the critical big-picture challenges facing Egypt, particularly aquaculture, which plays a key role in guaranteeing food security and driving economic growth. The maintenance of optimum water quality is an indispensable requirement for the survival and proper productivity of aquatic species. Poor water quality causes reduced yields, higher mortalities, and environmental deterioration, all of which work to threaten the sustainability of the aquaculture sector. Given the limited freshwater resources in Egypt, effective management of water quality is critical to the sustainable future of industry. Previous methods of water quality monitoring have shown some limitations. One such method is the </a:t>
            </a:r>
          </a:p>
          <a:p>
            <a:pPr marL="0" lvl="0" indent="0" algn="l" rtl="0">
              <a:spcBef>
                <a:spcPts val="0"/>
              </a:spcBef>
              <a:spcAft>
                <a:spcPts val="0"/>
              </a:spcAft>
              <a:buNone/>
            </a:pPr>
            <a:r>
              <a:rPr lang="en-US" b="1" dirty="0">
                <a:solidFill>
                  <a:schemeClr val="dk1"/>
                </a:solidFill>
                <a:latin typeface="Agency FB" panose="020B0503020202020204" pitchFamily="34" charset="0"/>
                <a:ea typeface="Roboto"/>
                <a:cs typeface="Roboto"/>
                <a:sym typeface="Roboto"/>
              </a:rPr>
              <a:t>automatic fish feeding system in Hainan, China,</a:t>
            </a:r>
          </a:p>
          <a:p>
            <a:pPr marL="0" lvl="0" indent="0" algn="l" rtl="0">
              <a:spcBef>
                <a:spcPts val="0"/>
              </a:spcBef>
              <a:spcAft>
                <a:spcPts val="0"/>
              </a:spcAft>
              <a:buNone/>
            </a:pPr>
            <a:r>
              <a:rPr lang="en-US" b="1" dirty="0">
                <a:solidFill>
                  <a:schemeClr val="dk1"/>
                </a:solidFill>
                <a:latin typeface="Agency FB" panose="020B0503020202020204" pitchFamily="34" charset="0"/>
                <a:ea typeface="Roboto"/>
                <a:cs typeface="Roboto"/>
                <a:sym typeface="Roboto"/>
              </a:rPr>
              <a:t> shown in fig(1)</a:t>
            </a:r>
            <a:r>
              <a:rPr lang="en-US" dirty="0">
                <a:solidFill>
                  <a:schemeClr val="dk1"/>
                </a:solidFill>
                <a:latin typeface="Agency FB" panose="020B0503020202020204" pitchFamily="34" charset="0"/>
                <a:ea typeface="Roboto"/>
                <a:cs typeface="Roboto"/>
                <a:sym typeface="Roboto"/>
              </a:rPr>
              <a:t> which uses real-time information</a:t>
            </a:r>
          </a:p>
          <a:p>
            <a:pPr marL="0" lvl="0" indent="0" algn="l" rtl="0">
              <a:spcBef>
                <a:spcPts val="0"/>
              </a:spcBef>
              <a:spcAft>
                <a:spcPts val="0"/>
              </a:spcAft>
              <a:buNone/>
            </a:pPr>
            <a:r>
              <a:rPr lang="en-US" dirty="0">
                <a:solidFill>
                  <a:schemeClr val="dk1"/>
                </a:solidFill>
                <a:latin typeface="Agency FB" panose="020B0503020202020204" pitchFamily="34" charset="0"/>
                <a:ea typeface="Roboto"/>
                <a:cs typeface="Roboto"/>
                <a:sym typeface="Roboto"/>
              </a:rPr>
              <a:t> on water quality and fish behavior to increase</a:t>
            </a:r>
          </a:p>
          <a:p>
            <a:pPr marL="0" lvl="0" indent="0" algn="l" rtl="0">
              <a:spcBef>
                <a:spcPts val="0"/>
              </a:spcBef>
              <a:spcAft>
                <a:spcPts val="0"/>
              </a:spcAft>
              <a:buNone/>
            </a:pPr>
            <a:r>
              <a:rPr lang="en-US" dirty="0">
                <a:solidFill>
                  <a:schemeClr val="dk1"/>
                </a:solidFill>
                <a:latin typeface="Agency FB" panose="020B0503020202020204" pitchFamily="34" charset="0"/>
                <a:ea typeface="Roboto"/>
                <a:cs typeface="Roboto"/>
                <a:sym typeface="Roboto"/>
              </a:rPr>
              <a:t> feeding  efficiency. While this system reduces </a:t>
            </a:r>
          </a:p>
          <a:p>
            <a:pPr marL="0" lvl="0" indent="0" algn="l" rtl="0">
              <a:spcBef>
                <a:spcPts val="0"/>
              </a:spcBef>
              <a:spcAft>
                <a:spcPts val="0"/>
              </a:spcAft>
              <a:buNone/>
            </a:pPr>
            <a:r>
              <a:rPr lang="en-US" dirty="0">
                <a:solidFill>
                  <a:schemeClr val="dk1"/>
                </a:solidFill>
                <a:latin typeface="Agency FB" panose="020B0503020202020204" pitchFamily="34" charset="0"/>
                <a:ea typeface="Roboto"/>
                <a:cs typeface="Roboto"/>
                <a:sym typeface="Roboto"/>
              </a:rPr>
              <a:t>feed waste and helps improve water quality, the</a:t>
            </a:r>
          </a:p>
          <a:p>
            <a:pPr marL="0" lvl="0" indent="0" algn="l" rtl="0">
              <a:spcBef>
                <a:spcPts val="0"/>
              </a:spcBef>
              <a:spcAft>
                <a:spcPts val="0"/>
              </a:spcAft>
              <a:buNone/>
            </a:pPr>
            <a:r>
              <a:rPr lang="en-US" dirty="0">
                <a:solidFill>
                  <a:schemeClr val="dk1"/>
                </a:solidFill>
                <a:latin typeface="Agency FB" panose="020B0503020202020204" pitchFamily="34" charset="0"/>
                <a:ea typeface="Roboto"/>
                <a:cs typeface="Roboto"/>
                <a:sym typeface="Roboto"/>
              </a:rPr>
              <a:t> expensive sensors and complex infrastructure involved make it unfeasible for  smaller operations. It also does not consider other important water quality parameters like dissolved oxygen (DO) and pH, which are important for keeping healthy aquatic ecosystems. To bridge these gaps, our project proposes a low-cost, scalable IoT-based water quality monitoring system tailored to the needs of Egypt's aquaculture sector. The system has been designed with the following requirements in mind:</a:t>
            </a:r>
          </a:p>
          <a:p>
            <a:pPr marL="0" lvl="0" indent="0" algn="l" rtl="0">
              <a:spcBef>
                <a:spcPts val="0"/>
              </a:spcBef>
              <a:spcAft>
                <a:spcPts val="0"/>
              </a:spcAft>
              <a:buNone/>
            </a:pPr>
            <a:r>
              <a:rPr lang="en-US" dirty="0">
                <a:solidFill>
                  <a:schemeClr val="dk1"/>
                </a:solidFill>
                <a:latin typeface="Agency FB" panose="020B0503020202020204" pitchFamily="34" charset="0"/>
                <a:ea typeface="Roboto"/>
                <a:cs typeface="Roboto"/>
                <a:sym typeface="Roboto"/>
              </a:rPr>
              <a:t>-</a:t>
            </a:r>
            <a:r>
              <a:rPr lang="en-US" b="1" dirty="0">
                <a:solidFill>
                  <a:schemeClr val="accent1">
                    <a:lumMod val="50000"/>
                  </a:schemeClr>
                </a:solidFill>
                <a:latin typeface="Agency FB" panose="020B0503020202020204" pitchFamily="34" charset="0"/>
              </a:rPr>
              <a:t>Water Efficiency</a:t>
            </a:r>
            <a:r>
              <a:rPr lang="en-US" dirty="0">
                <a:solidFill>
                  <a:schemeClr val="accent1">
                    <a:lumMod val="50000"/>
                  </a:schemeClr>
                </a:solidFill>
                <a:latin typeface="Agency FB" panose="020B0503020202020204" pitchFamily="34" charset="0"/>
              </a:rPr>
              <a:t>: Minimize water usage and waste to improve fish cultivation.</a:t>
            </a:r>
          </a:p>
          <a:p>
            <a:pPr marL="0" lvl="0" indent="0" algn="l" rtl="0">
              <a:spcBef>
                <a:spcPts val="0"/>
              </a:spcBef>
              <a:spcAft>
                <a:spcPts val="0"/>
              </a:spcAft>
              <a:buNone/>
            </a:pPr>
            <a:r>
              <a:rPr lang="en-US" dirty="0">
                <a:solidFill>
                  <a:schemeClr val="dk1"/>
                </a:solidFill>
                <a:latin typeface="Agency FB" panose="020B0503020202020204" pitchFamily="34" charset="0"/>
                <a:ea typeface="Roboto"/>
                <a:cs typeface="Roboto"/>
                <a:sym typeface="Roboto"/>
              </a:rPr>
              <a:t>-</a:t>
            </a:r>
            <a:r>
              <a:rPr lang="en-US" b="1" dirty="0">
                <a:solidFill>
                  <a:schemeClr val="accent1">
                    <a:lumMod val="50000"/>
                  </a:schemeClr>
                </a:solidFill>
                <a:latin typeface="Agency FB" panose="020B0503020202020204" pitchFamily="34" charset="0"/>
              </a:rPr>
              <a:t>Data Visualization</a:t>
            </a:r>
            <a:r>
              <a:rPr lang="en-US" dirty="0">
                <a:solidFill>
                  <a:schemeClr val="accent1">
                    <a:lumMod val="50000"/>
                  </a:schemeClr>
                </a:solidFill>
                <a:latin typeface="Agency FB" panose="020B0503020202020204" pitchFamily="34" charset="0"/>
              </a:rPr>
              <a:t>: Provide clear and accessible data for smallholder farmers, ensuring ease of use and affordability.</a:t>
            </a:r>
          </a:p>
          <a:p>
            <a:pPr marL="0" lvl="0" indent="0" algn="l" rtl="0">
              <a:spcBef>
                <a:spcPts val="0"/>
              </a:spcBef>
              <a:spcAft>
                <a:spcPts val="0"/>
              </a:spcAft>
              <a:buNone/>
            </a:pPr>
            <a:r>
              <a:rPr lang="en-US" dirty="0">
                <a:solidFill>
                  <a:schemeClr val="accent1">
                    <a:lumMod val="50000"/>
                  </a:schemeClr>
                </a:solidFill>
                <a:latin typeface="Agency FB" panose="020B0503020202020204" pitchFamily="34" charset="0"/>
                <a:ea typeface="Roboto"/>
                <a:cs typeface="Roboto"/>
                <a:sym typeface="Roboto"/>
              </a:rPr>
              <a:t>-</a:t>
            </a:r>
            <a:r>
              <a:rPr lang="en-US" b="1" dirty="0">
                <a:solidFill>
                  <a:schemeClr val="accent1">
                    <a:lumMod val="50000"/>
                  </a:schemeClr>
                </a:solidFill>
                <a:latin typeface="Agency FB" panose="020B0503020202020204" pitchFamily="34" charset="0"/>
              </a:rPr>
              <a:t>Alert System</a:t>
            </a:r>
            <a:r>
              <a:rPr lang="en-US" dirty="0">
                <a:solidFill>
                  <a:schemeClr val="accent1">
                    <a:lumMod val="50000"/>
                  </a:schemeClr>
                </a:solidFill>
                <a:latin typeface="Agency FB" panose="020B0503020202020204" pitchFamily="34" charset="0"/>
              </a:rPr>
              <a:t>: Send notifications when abnormal data is detected, enabling quick action.</a:t>
            </a:r>
            <a:r>
              <a:rPr lang="en-US" dirty="0">
                <a:solidFill>
                  <a:schemeClr val="accent1">
                    <a:lumMod val="50000"/>
                  </a:schemeClr>
                </a:solidFill>
                <a:latin typeface="Agency FB" panose="020B0503020202020204" pitchFamily="34" charset="0"/>
                <a:ea typeface="Roboto"/>
                <a:cs typeface="Roboto"/>
                <a:sym typeface="Roboto"/>
              </a:rPr>
              <a:t>.</a:t>
            </a:r>
          </a:p>
          <a:p>
            <a:pPr marL="0" lvl="0" indent="0" algn="l" rtl="0">
              <a:spcBef>
                <a:spcPts val="0"/>
              </a:spcBef>
              <a:spcAft>
                <a:spcPts val="0"/>
              </a:spcAft>
              <a:buNone/>
            </a:pPr>
            <a:r>
              <a:rPr lang="en-US" b="1" dirty="0">
                <a:solidFill>
                  <a:schemeClr val="accent1">
                    <a:lumMod val="50000"/>
                  </a:schemeClr>
                </a:solidFill>
                <a:latin typeface="Agency FB" panose="020B0503020202020204" pitchFamily="34" charset="0"/>
                <a:ea typeface="Roboto"/>
                <a:cs typeface="Roboto"/>
                <a:sym typeface="Roboto"/>
              </a:rPr>
              <a:t>-Ease of Use: </a:t>
            </a:r>
            <a:r>
              <a:rPr lang="en-US" dirty="0">
                <a:solidFill>
                  <a:schemeClr val="dk1"/>
                </a:solidFill>
                <a:latin typeface="Agency FB" panose="020B0503020202020204" pitchFamily="34" charset="0"/>
                <a:ea typeface="Roboto"/>
                <a:cs typeface="Roboto"/>
                <a:sym typeface="Roboto"/>
              </a:rPr>
              <a:t>User-friendly features such as remote monitoring and real-time alerts. The system has an ESP32 microcontroller with a built-in pH, temperature, water level, and flow rate sensor. DO is estimated from the novel equation based on temperature and flow rate, minimizing the dependency on costly sensors. The method guarantees the aquaculture water quality management a cost-effective, reliable, and user-friendly solution. Our solution addresses Egypt's grand challenge by providing an accessible and scalable tool for the management of water quality in aquaculture. The following sections present the implementation and testing of the prototype, demonstrating that it is effective in satisfying the design requirements.</a:t>
            </a:r>
          </a:p>
        </p:txBody>
      </p:sp>
      <p:pic>
        <p:nvPicPr>
          <p:cNvPr id="20" name="Picture 19">
            <a:extLst>
              <a:ext uri="{FF2B5EF4-FFF2-40B4-BE49-F238E27FC236}">
                <a16:creationId xmlns:a16="http://schemas.microsoft.com/office/drawing/2014/main" id="{CE000B16-F605-9437-A6F5-83B40B7AC19F}"/>
              </a:ext>
            </a:extLst>
          </p:cNvPr>
          <p:cNvPicPr>
            <a:picLocks noChangeAspect="1"/>
          </p:cNvPicPr>
          <p:nvPr/>
        </p:nvPicPr>
        <p:blipFill>
          <a:blip r:embed="rId3"/>
          <a:stretch>
            <a:fillRect/>
          </a:stretch>
        </p:blipFill>
        <p:spPr>
          <a:xfrm>
            <a:off x="1054828" y="12805434"/>
            <a:ext cx="582877" cy="546150"/>
          </a:xfrm>
          <a:prstGeom prst="ellipse">
            <a:avLst/>
          </a:prstGeom>
          <a:ln w="63500" cap="rnd">
            <a:solidFill>
              <a:srgbClr val="00232E"/>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1" name="Picture 20" descr="A white rectangular object with red and blue lines&#10;&#10;Description automatically generated">
            <a:extLst>
              <a:ext uri="{FF2B5EF4-FFF2-40B4-BE49-F238E27FC236}">
                <a16:creationId xmlns:a16="http://schemas.microsoft.com/office/drawing/2014/main" id="{613AAFBB-E3E0-5537-C1DB-37FDC1529D6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4828" y="13672364"/>
            <a:ext cx="582876" cy="546151"/>
          </a:xfrm>
          <a:prstGeom prst="ellipse">
            <a:avLst/>
          </a:prstGeom>
          <a:ln w="63500" cap="rnd">
            <a:solidFill>
              <a:srgbClr val="00232E"/>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descr="YF-S201 G1/2 Water flow sensor 1-30L/min - Nyereka Tech || STEM and IoT,  Raspberry Pi and Sensors Store in Rwanda, Uganda, Kenya, Tanzania">
            <a:extLst>
              <a:ext uri="{FF2B5EF4-FFF2-40B4-BE49-F238E27FC236}">
                <a16:creationId xmlns:a16="http://schemas.microsoft.com/office/drawing/2014/main" id="{32FA3832-7DF8-967C-ABE9-B0E566ED9CD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3213458" y="14487272"/>
            <a:ext cx="582875" cy="546153"/>
          </a:xfrm>
          <a:prstGeom prst="ellipse">
            <a:avLst/>
          </a:prstGeom>
          <a:ln w="63500" cap="rnd">
            <a:solidFill>
              <a:srgbClr val="00232E"/>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a:extLst>
              <a:ext uri="{FF2B5EF4-FFF2-40B4-BE49-F238E27FC236}">
                <a16:creationId xmlns:a16="http://schemas.microsoft.com/office/drawing/2014/main" id="{AC3AECA3-D9DE-DD36-2100-A271250D75B2}"/>
              </a:ext>
            </a:extLst>
          </p:cNvPr>
          <p:cNvPicPr>
            <a:picLocks noChangeAspect="1"/>
          </p:cNvPicPr>
          <p:nvPr/>
        </p:nvPicPr>
        <p:blipFill>
          <a:blip r:embed="rId6"/>
          <a:stretch>
            <a:fillRect/>
          </a:stretch>
        </p:blipFill>
        <p:spPr>
          <a:xfrm>
            <a:off x="3211900" y="12754902"/>
            <a:ext cx="582874" cy="546152"/>
          </a:xfrm>
          <a:prstGeom prst="ellipse">
            <a:avLst/>
          </a:prstGeom>
          <a:ln w="63500" cap="rnd">
            <a:solidFill>
              <a:srgbClr val="00232E"/>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7D3E4EDC-28AE-0A17-8295-89E3E24DA387}"/>
              </a:ext>
            </a:extLst>
          </p:cNvPr>
          <p:cNvPicPr>
            <a:picLocks noChangeAspect="1"/>
          </p:cNvPicPr>
          <p:nvPr/>
        </p:nvPicPr>
        <p:blipFill>
          <a:blip r:embed="rId7"/>
          <a:stretch>
            <a:fillRect/>
          </a:stretch>
        </p:blipFill>
        <p:spPr>
          <a:xfrm>
            <a:off x="1072519" y="14494690"/>
            <a:ext cx="582875" cy="546153"/>
          </a:xfrm>
          <a:prstGeom prst="ellipse">
            <a:avLst/>
          </a:prstGeom>
          <a:ln w="63500" cap="rnd">
            <a:solidFill>
              <a:srgbClr val="00232E"/>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9" name="TextBox 8">
            <a:extLst>
              <a:ext uri="{FF2B5EF4-FFF2-40B4-BE49-F238E27FC236}">
                <a16:creationId xmlns:a16="http://schemas.microsoft.com/office/drawing/2014/main" id="{52979AA4-70ED-9D12-3783-1875C9B8A0D3}"/>
              </a:ext>
            </a:extLst>
          </p:cNvPr>
          <p:cNvSpPr txBox="1"/>
          <p:nvPr/>
        </p:nvSpPr>
        <p:spPr>
          <a:xfrm>
            <a:off x="1637704" y="13825550"/>
            <a:ext cx="2031913" cy="400110"/>
          </a:xfrm>
          <a:prstGeom prst="rect">
            <a:avLst/>
          </a:prstGeom>
          <a:noFill/>
        </p:spPr>
        <p:txBody>
          <a:bodyPr wrap="square" rtlCol="0">
            <a:spAutoFit/>
          </a:bodyPr>
          <a:lstStyle/>
          <a:p>
            <a:r>
              <a:rPr lang="en-US" sz="2000" dirty="0">
                <a:solidFill>
                  <a:srgbClr val="142360"/>
                </a:solidFill>
                <a:latin typeface="Boucherie Block" panose="020F0502020204030204" pitchFamily="2" charset="0"/>
              </a:rPr>
              <a:t>Bread Board</a:t>
            </a:r>
          </a:p>
        </p:txBody>
      </p:sp>
      <p:pic>
        <p:nvPicPr>
          <p:cNvPr id="11" name="Picture 10">
            <a:extLst>
              <a:ext uri="{FF2B5EF4-FFF2-40B4-BE49-F238E27FC236}">
                <a16:creationId xmlns:a16="http://schemas.microsoft.com/office/drawing/2014/main" id="{38898680-5D92-D48D-0697-B3792CAF2F77}"/>
              </a:ext>
            </a:extLst>
          </p:cNvPr>
          <p:cNvPicPr>
            <a:picLocks noChangeAspect="1"/>
          </p:cNvPicPr>
          <p:nvPr/>
        </p:nvPicPr>
        <p:blipFill>
          <a:blip r:embed="rId8"/>
          <a:stretch>
            <a:fillRect/>
          </a:stretch>
        </p:blipFill>
        <p:spPr>
          <a:xfrm>
            <a:off x="3211900" y="13644382"/>
            <a:ext cx="582874" cy="546152"/>
          </a:xfrm>
          <a:prstGeom prst="ellipse">
            <a:avLst/>
          </a:prstGeom>
          <a:ln w="63500" cap="rnd">
            <a:solidFill>
              <a:srgbClr val="00232E"/>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2" name="TextBox 11">
            <a:extLst>
              <a:ext uri="{FF2B5EF4-FFF2-40B4-BE49-F238E27FC236}">
                <a16:creationId xmlns:a16="http://schemas.microsoft.com/office/drawing/2014/main" id="{09D68975-B1A7-4A96-D863-B1F83FADEF41}"/>
              </a:ext>
            </a:extLst>
          </p:cNvPr>
          <p:cNvSpPr txBox="1"/>
          <p:nvPr/>
        </p:nvSpPr>
        <p:spPr>
          <a:xfrm>
            <a:off x="3794774" y="13729758"/>
            <a:ext cx="2031913" cy="400110"/>
          </a:xfrm>
          <a:prstGeom prst="rect">
            <a:avLst/>
          </a:prstGeom>
          <a:noFill/>
        </p:spPr>
        <p:txBody>
          <a:bodyPr wrap="square" rtlCol="0">
            <a:spAutoFit/>
          </a:bodyPr>
          <a:lstStyle/>
          <a:p>
            <a:r>
              <a:rPr lang="en-US" sz="2000" dirty="0">
                <a:solidFill>
                  <a:srgbClr val="142360"/>
                </a:solidFill>
                <a:latin typeface="Boucherie Block" panose="020F0502020204030204" pitchFamily="2" charset="0"/>
              </a:rPr>
              <a:t>PH sensor</a:t>
            </a:r>
          </a:p>
        </p:txBody>
      </p:sp>
      <p:sp>
        <p:nvSpPr>
          <p:cNvPr id="13" name="TextBox 12">
            <a:extLst>
              <a:ext uri="{FF2B5EF4-FFF2-40B4-BE49-F238E27FC236}">
                <a16:creationId xmlns:a16="http://schemas.microsoft.com/office/drawing/2014/main" id="{DA279D7F-4EF7-524B-6A44-042D6B0B075B}"/>
              </a:ext>
            </a:extLst>
          </p:cNvPr>
          <p:cNvSpPr txBox="1"/>
          <p:nvPr/>
        </p:nvSpPr>
        <p:spPr>
          <a:xfrm>
            <a:off x="1637704" y="12752616"/>
            <a:ext cx="1589507" cy="707886"/>
          </a:xfrm>
          <a:prstGeom prst="rect">
            <a:avLst/>
          </a:prstGeom>
          <a:noFill/>
        </p:spPr>
        <p:txBody>
          <a:bodyPr wrap="square" rtlCol="0">
            <a:spAutoFit/>
          </a:bodyPr>
          <a:lstStyle/>
          <a:p>
            <a:r>
              <a:rPr lang="en-US" sz="2000" dirty="0">
                <a:solidFill>
                  <a:srgbClr val="142360"/>
                </a:solidFill>
                <a:latin typeface="Boucherie Block" panose="020F0502020204030204" pitchFamily="2" charset="0"/>
              </a:rPr>
              <a:t>Water temp. sensor</a:t>
            </a:r>
          </a:p>
        </p:txBody>
      </p:sp>
      <p:sp>
        <p:nvSpPr>
          <p:cNvPr id="15" name="TextBox 14">
            <a:extLst>
              <a:ext uri="{FF2B5EF4-FFF2-40B4-BE49-F238E27FC236}">
                <a16:creationId xmlns:a16="http://schemas.microsoft.com/office/drawing/2014/main" id="{15F7C008-F69C-146E-7050-EA4B2862F394}"/>
              </a:ext>
            </a:extLst>
          </p:cNvPr>
          <p:cNvSpPr txBox="1"/>
          <p:nvPr/>
        </p:nvSpPr>
        <p:spPr>
          <a:xfrm>
            <a:off x="3796332" y="14450687"/>
            <a:ext cx="1669695" cy="707886"/>
          </a:xfrm>
          <a:prstGeom prst="rect">
            <a:avLst/>
          </a:prstGeom>
          <a:noFill/>
        </p:spPr>
        <p:txBody>
          <a:bodyPr wrap="square" rtlCol="0">
            <a:spAutoFit/>
          </a:bodyPr>
          <a:lstStyle/>
          <a:p>
            <a:r>
              <a:rPr lang="en-US" sz="2000" dirty="0">
                <a:solidFill>
                  <a:srgbClr val="142360"/>
                </a:solidFill>
                <a:latin typeface="Boucherie Block" panose="020F0502020204030204" pitchFamily="2" charset="0"/>
              </a:rPr>
              <a:t>Water flow rate sensor</a:t>
            </a:r>
          </a:p>
        </p:txBody>
      </p:sp>
      <p:sp>
        <p:nvSpPr>
          <p:cNvPr id="16" name="TextBox 15">
            <a:extLst>
              <a:ext uri="{FF2B5EF4-FFF2-40B4-BE49-F238E27FC236}">
                <a16:creationId xmlns:a16="http://schemas.microsoft.com/office/drawing/2014/main" id="{2F3879BC-1729-7A59-16F2-3BC74E8D4FC2}"/>
              </a:ext>
            </a:extLst>
          </p:cNvPr>
          <p:cNvSpPr txBox="1"/>
          <p:nvPr/>
        </p:nvSpPr>
        <p:spPr>
          <a:xfrm>
            <a:off x="3792712" y="12661791"/>
            <a:ext cx="1669695" cy="707886"/>
          </a:xfrm>
          <a:prstGeom prst="rect">
            <a:avLst/>
          </a:prstGeom>
          <a:noFill/>
        </p:spPr>
        <p:txBody>
          <a:bodyPr wrap="square" rtlCol="0">
            <a:spAutoFit/>
          </a:bodyPr>
          <a:lstStyle/>
          <a:p>
            <a:r>
              <a:rPr lang="en-US" sz="2000" dirty="0">
                <a:solidFill>
                  <a:srgbClr val="142360"/>
                </a:solidFill>
                <a:latin typeface="Boucherie Block" panose="020F0502020204030204" pitchFamily="2" charset="0"/>
              </a:rPr>
              <a:t>Water level sensor</a:t>
            </a:r>
          </a:p>
        </p:txBody>
      </p:sp>
      <p:sp>
        <p:nvSpPr>
          <p:cNvPr id="17" name="TextBox 16">
            <a:extLst>
              <a:ext uri="{FF2B5EF4-FFF2-40B4-BE49-F238E27FC236}">
                <a16:creationId xmlns:a16="http://schemas.microsoft.com/office/drawing/2014/main" id="{B3C54B7E-5036-2050-D1FA-21F9E3BBB551}"/>
              </a:ext>
            </a:extLst>
          </p:cNvPr>
          <p:cNvSpPr txBox="1"/>
          <p:nvPr/>
        </p:nvSpPr>
        <p:spPr>
          <a:xfrm>
            <a:off x="1655394" y="14580947"/>
            <a:ext cx="1188123" cy="400110"/>
          </a:xfrm>
          <a:prstGeom prst="rect">
            <a:avLst/>
          </a:prstGeom>
          <a:noFill/>
        </p:spPr>
        <p:txBody>
          <a:bodyPr wrap="square" rtlCol="0">
            <a:spAutoFit/>
          </a:bodyPr>
          <a:lstStyle/>
          <a:p>
            <a:r>
              <a:rPr lang="en-US" sz="2000" dirty="0">
                <a:solidFill>
                  <a:srgbClr val="142360"/>
                </a:solidFill>
                <a:latin typeface="Boucherie Block" panose="020F0502020204030204" pitchFamily="2" charset="0"/>
              </a:rPr>
              <a:t>Esp 32</a:t>
            </a:r>
          </a:p>
        </p:txBody>
      </p:sp>
      <p:sp>
        <p:nvSpPr>
          <p:cNvPr id="18" name="TextBox 17">
            <a:extLst>
              <a:ext uri="{FF2B5EF4-FFF2-40B4-BE49-F238E27FC236}">
                <a16:creationId xmlns:a16="http://schemas.microsoft.com/office/drawing/2014/main" id="{55043A0A-DCF2-390C-E314-85ED10CED1EA}"/>
              </a:ext>
            </a:extLst>
          </p:cNvPr>
          <p:cNvSpPr txBox="1"/>
          <p:nvPr/>
        </p:nvSpPr>
        <p:spPr>
          <a:xfrm rot="16200000">
            <a:off x="-859869" y="13776975"/>
            <a:ext cx="3224665" cy="461665"/>
          </a:xfrm>
          <a:prstGeom prst="rect">
            <a:avLst/>
          </a:prstGeom>
          <a:noFill/>
        </p:spPr>
        <p:txBody>
          <a:bodyPr wrap="square" rtlCol="0">
            <a:spAutoFit/>
          </a:bodyPr>
          <a:lstStyle/>
          <a:p>
            <a:pPr algn="ctr"/>
            <a:r>
              <a:rPr lang="en-US" sz="2400" dirty="0">
                <a:solidFill>
                  <a:schemeClr val="tx2">
                    <a:lumMod val="25000"/>
                  </a:schemeClr>
                </a:solidFill>
                <a:latin typeface="Aharoni" panose="020F0502020204030204" pitchFamily="2" charset="-79"/>
                <a:cs typeface="Aharoni" panose="020F0502020204030204" pitchFamily="2" charset="-79"/>
              </a:rPr>
              <a:t>Total price: LE</a:t>
            </a:r>
          </a:p>
        </p:txBody>
      </p:sp>
      <p:grpSp>
        <p:nvGrpSpPr>
          <p:cNvPr id="56" name="Group 55">
            <a:extLst>
              <a:ext uri="{FF2B5EF4-FFF2-40B4-BE49-F238E27FC236}">
                <a16:creationId xmlns:a16="http://schemas.microsoft.com/office/drawing/2014/main" id="{E55F3CC4-8B80-FF03-7125-49E740750F23}"/>
              </a:ext>
            </a:extLst>
          </p:cNvPr>
          <p:cNvGrpSpPr/>
          <p:nvPr/>
        </p:nvGrpSpPr>
        <p:grpSpPr>
          <a:xfrm>
            <a:off x="3590949" y="6858495"/>
            <a:ext cx="1994752" cy="2222325"/>
            <a:chOff x="3726499" y="8850494"/>
            <a:chExt cx="1994752" cy="2011800"/>
          </a:xfrm>
        </p:grpSpPr>
        <p:pic>
          <p:nvPicPr>
            <p:cNvPr id="26" name="Picture 25">
              <a:extLst>
                <a:ext uri="{FF2B5EF4-FFF2-40B4-BE49-F238E27FC236}">
                  <a16:creationId xmlns:a16="http://schemas.microsoft.com/office/drawing/2014/main" id="{788201CA-C462-1694-88CB-3CD8E6EBFF24}"/>
                </a:ext>
              </a:extLst>
            </p:cNvPr>
            <p:cNvPicPr>
              <a:picLocks noChangeAspect="1"/>
            </p:cNvPicPr>
            <p:nvPr/>
          </p:nvPicPr>
          <p:blipFill>
            <a:blip r:embed="rId9"/>
            <a:stretch>
              <a:fillRect/>
            </a:stretch>
          </p:blipFill>
          <p:spPr>
            <a:xfrm>
              <a:off x="3726499" y="8850494"/>
              <a:ext cx="1714938" cy="2011800"/>
            </a:xfrm>
            <a:prstGeom prst="rect">
              <a:avLst/>
            </a:prstGeom>
            <a:ln>
              <a:noFill/>
            </a:ln>
            <a:effectLst>
              <a:outerShdw blurRad="190500" algn="tl" rotWithShape="0">
                <a:srgbClr val="000000">
                  <a:alpha val="70000"/>
                </a:srgbClr>
              </a:outerShdw>
            </a:effectLst>
          </p:spPr>
        </p:pic>
        <p:sp>
          <p:nvSpPr>
            <p:cNvPr id="50" name="TextBox 49">
              <a:extLst>
                <a:ext uri="{FF2B5EF4-FFF2-40B4-BE49-F238E27FC236}">
                  <a16:creationId xmlns:a16="http://schemas.microsoft.com/office/drawing/2014/main" id="{49A4BEF3-7398-2EB3-6E76-812D680E0A5E}"/>
                </a:ext>
              </a:extLst>
            </p:cNvPr>
            <p:cNvSpPr txBox="1"/>
            <p:nvPr/>
          </p:nvSpPr>
          <p:spPr>
            <a:xfrm rot="5400000">
              <a:off x="5090980" y="9199529"/>
              <a:ext cx="952766"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Figure (1)</a:t>
              </a:r>
              <a:endParaRPr lang="en-US" sz="1200" b="1" dirty="0">
                <a:solidFill>
                  <a:srgbClr val="C1E4F5"/>
                </a:solidFill>
                <a:latin typeface="Copperplate Gothic Bold" panose="020E0705020206020404" pitchFamily="34" charset="0"/>
              </a:endParaRPr>
            </a:p>
          </p:txBody>
        </p:sp>
      </p:grpSp>
      <p:grpSp>
        <p:nvGrpSpPr>
          <p:cNvPr id="434" name="Group 433">
            <a:extLst>
              <a:ext uri="{FF2B5EF4-FFF2-40B4-BE49-F238E27FC236}">
                <a16:creationId xmlns:a16="http://schemas.microsoft.com/office/drawing/2014/main" id="{BBEBD592-7397-9615-9049-247AFF869248}"/>
              </a:ext>
            </a:extLst>
          </p:cNvPr>
          <p:cNvGrpSpPr/>
          <p:nvPr/>
        </p:nvGrpSpPr>
        <p:grpSpPr>
          <a:xfrm>
            <a:off x="6051454" y="1626725"/>
            <a:ext cx="5181780" cy="2551468"/>
            <a:chOff x="6140744" y="1453751"/>
            <a:chExt cx="5181780" cy="2551468"/>
          </a:xfrm>
        </p:grpSpPr>
        <p:sp>
          <p:nvSpPr>
            <p:cNvPr id="27" name="TextBox 26">
              <a:extLst>
                <a:ext uri="{FF2B5EF4-FFF2-40B4-BE49-F238E27FC236}">
                  <a16:creationId xmlns:a16="http://schemas.microsoft.com/office/drawing/2014/main" id="{90178C1E-8A33-BB55-C499-AEE3E63FCEB0}"/>
                </a:ext>
              </a:extLst>
            </p:cNvPr>
            <p:cNvSpPr txBox="1"/>
            <p:nvPr/>
          </p:nvSpPr>
          <p:spPr>
            <a:xfrm>
              <a:off x="6140744" y="1453751"/>
              <a:ext cx="5181780" cy="2551468"/>
            </a:xfrm>
            <a:prstGeom prst="rect">
              <a:avLst/>
            </a:prstGeom>
            <a:noFill/>
          </p:spPr>
          <p:txBody>
            <a:bodyPr wrap="square" rtlCol="0">
              <a:spAutoFit/>
            </a:bodyPr>
            <a:lstStyle/>
            <a:p>
              <a:pPr>
                <a:lnSpc>
                  <a:spcPct val="90000"/>
                </a:lnSpc>
                <a:spcAft>
                  <a:spcPts val="600"/>
                </a:spcAft>
              </a:pPr>
              <a:r>
                <a:rPr lang="en-US" sz="1600" b="1" u="sng" dirty="0">
                  <a:solidFill>
                    <a:schemeClr val="tx2">
                      <a:lumMod val="10000"/>
                    </a:schemeClr>
                  </a:solidFill>
                  <a:latin typeface="Agency FB" panose="020B0503020202020204" pitchFamily="34" charset="0"/>
                </a:rPr>
                <a:t>Fish Aquarium Construction:</a:t>
              </a:r>
            </a:p>
            <a:p>
              <a:pPr>
                <a:lnSpc>
                  <a:spcPct val="90000"/>
                </a:lnSpc>
              </a:pPr>
              <a:r>
                <a:rPr lang="en-US" b="1" dirty="0">
                  <a:solidFill>
                    <a:schemeClr val="tx2">
                      <a:lumMod val="10000"/>
                    </a:schemeClr>
                  </a:solidFill>
                  <a:latin typeface="Agency FB" panose="020B0503020202020204" pitchFamily="34" charset="0"/>
                </a:rPr>
                <a:t>Step 1: </a:t>
              </a:r>
              <a:r>
                <a:rPr lang="en-US" dirty="0">
                  <a:solidFill>
                    <a:schemeClr val="tx2">
                      <a:lumMod val="10000"/>
                    </a:schemeClr>
                  </a:solidFill>
                  <a:latin typeface="Agency FB" panose="020B0503020202020204" pitchFamily="34" charset="0"/>
                </a:rPr>
                <a:t>A second-hand fish tank was acquired, filled with water, and the fish were added to give as realistic an aquaculture environment as possible.</a:t>
              </a:r>
            </a:p>
            <a:p>
              <a:pPr>
                <a:lnSpc>
                  <a:spcPct val="90000"/>
                </a:lnSpc>
              </a:pPr>
              <a:r>
                <a:rPr lang="en-US" b="1" dirty="0">
                  <a:solidFill>
                    <a:schemeClr val="tx2">
                      <a:lumMod val="10000"/>
                    </a:schemeClr>
                  </a:solidFill>
                  <a:latin typeface="Agency FB" panose="020B0503020202020204" pitchFamily="34" charset="0"/>
                </a:rPr>
                <a:t>Step 2: </a:t>
              </a:r>
              <a:r>
                <a:rPr lang="en-US" dirty="0">
                  <a:solidFill>
                    <a:schemeClr val="tx2">
                      <a:lumMod val="10000"/>
                    </a:schemeClr>
                  </a:solidFill>
                  <a:latin typeface="Agency FB" panose="020B0503020202020204" pitchFamily="34" charset="0"/>
                </a:rPr>
                <a:t>The water filter and oxygen pump were</a:t>
              </a:r>
            </a:p>
            <a:p>
              <a:pPr>
                <a:lnSpc>
                  <a:spcPct val="90000"/>
                </a:lnSpc>
              </a:pPr>
              <a:r>
                <a:rPr lang="en-US" dirty="0">
                  <a:solidFill>
                    <a:schemeClr val="tx2">
                      <a:lumMod val="10000"/>
                    </a:schemeClr>
                  </a:solidFill>
                  <a:latin typeface="Agency FB" panose="020B0503020202020204" pitchFamily="34" charset="0"/>
                </a:rPr>
                <a:t> installed to keep the quality of water good and </a:t>
              </a:r>
            </a:p>
            <a:p>
              <a:pPr>
                <a:lnSpc>
                  <a:spcPct val="90000"/>
                </a:lnSpc>
              </a:pPr>
              <a:r>
                <a:rPr lang="en-US" dirty="0">
                  <a:solidFill>
                    <a:schemeClr val="tx2">
                      <a:lumMod val="10000"/>
                    </a:schemeClr>
                  </a:solidFill>
                  <a:latin typeface="Agency FB" panose="020B0503020202020204" pitchFamily="34" charset="0"/>
                </a:rPr>
                <a:t>create a good environment for the fish.</a:t>
              </a:r>
            </a:p>
            <a:p>
              <a:pPr>
                <a:lnSpc>
                  <a:spcPct val="90000"/>
                </a:lnSpc>
              </a:pPr>
              <a:r>
                <a:rPr lang="en-US" b="1" dirty="0">
                  <a:solidFill>
                    <a:schemeClr val="tx2">
                      <a:lumMod val="10000"/>
                    </a:schemeClr>
                  </a:solidFill>
                  <a:latin typeface="Agency FB" panose="020B0503020202020204" pitchFamily="34" charset="0"/>
                </a:rPr>
                <a:t> Step 3: </a:t>
              </a:r>
              <a:r>
                <a:rPr lang="en-US" dirty="0">
                  <a:solidFill>
                    <a:schemeClr val="tx2">
                      <a:lumMod val="10000"/>
                    </a:schemeClr>
                  </a:solidFill>
                  <a:latin typeface="Agency FB" panose="020B0503020202020204" pitchFamily="34" charset="0"/>
                </a:rPr>
                <a:t>Sensors measuring pH, temperature, and water</a:t>
              </a:r>
            </a:p>
            <a:p>
              <a:pPr>
                <a:lnSpc>
                  <a:spcPct val="90000"/>
                </a:lnSpc>
              </a:pPr>
              <a:r>
                <a:rPr lang="en-US" dirty="0">
                  <a:solidFill>
                    <a:schemeClr val="tx2">
                      <a:lumMod val="10000"/>
                    </a:schemeClr>
                  </a:solidFill>
                  <a:latin typeface="Agency FB" panose="020B0503020202020204" pitchFamily="34" charset="0"/>
                </a:rPr>
                <a:t> level were installed in the aquatic environment to assess</a:t>
              </a:r>
            </a:p>
            <a:p>
              <a:pPr>
                <a:lnSpc>
                  <a:spcPct val="90000"/>
                </a:lnSpc>
              </a:pPr>
              <a:r>
                <a:rPr lang="en-US" dirty="0">
                  <a:solidFill>
                    <a:schemeClr val="tx2">
                      <a:lumMod val="10000"/>
                    </a:schemeClr>
                  </a:solidFill>
                  <a:latin typeface="Agency FB" panose="020B0503020202020204" pitchFamily="34" charset="0"/>
                </a:rPr>
                <a:t> essential water quality indicators shown in </a:t>
              </a:r>
              <a:r>
                <a:rPr lang="en-US" b="1" dirty="0">
                  <a:solidFill>
                    <a:schemeClr val="tx2">
                      <a:lumMod val="10000"/>
                    </a:schemeClr>
                  </a:solidFill>
                  <a:latin typeface="Agency FB" panose="020B0503020202020204" pitchFamily="34" charset="0"/>
                </a:rPr>
                <a:t>fig (3). </a:t>
              </a:r>
            </a:p>
            <a:p>
              <a:pPr>
                <a:lnSpc>
                  <a:spcPct val="90000"/>
                </a:lnSpc>
              </a:pPr>
              <a:r>
                <a:rPr lang="en-US" b="1" dirty="0">
                  <a:solidFill>
                    <a:schemeClr val="tx2">
                      <a:lumMod val="10000"/>
                    </a:schemeClr>
                  </a:solidFill>
                  <a:latin typeface="Agency FB" panose="020B0503020202020204" pitchFamily="34" charset="0"/>
                </a:rPr>
                <a:t>Step 4: </a:t>
              </a:r>
              <a:r>
                <a:rPr lang="en-US" dirty="0">
                  <a:solidFill>
                    <a:schemeClr val="tx2">
                      <a:lumMod val="10000"/>
                    </a:schemeClr>
                  </a:solidFill>
                  <a:latin typeface="Agency FB" panose="020B0503020202020204" pitchFamily="34" charset="0"/>
                </a:rPr>
                <a:t>The flow rate sensor was inserted in the water</a:t>
              </a:r>
            </a:p>
            <a:p>
              <a:pPr>
                <a:lnSpc>
                  <a:spcPct val="90000"/>
                </a:lnSpc>
              </a:pPr>
              <a:r>
                <a:rPr lang="en-US" dirty="0">
                  <a:solidFill>
                    <a:schemeClr val="tx2">
                      <a:lumMod val="10000"/>
                    </a:schemeClr>
                  </a:solidFill>
                  <a:latin typeface="Agency FB" panose="020B0503020202020204" pitchFamily="34" charset="0"/>
                </a:rPr>
                <a:t> filtration device so that the flow rate, a parameter used in </a:t>
              </a:r>
            </a:p>
            <a:p>
              <a:pPr>
                <a:lnSpc>
                  <a:spcPct val="90000"/>
                </a:lnSpc>
              </a:pPr>
              <a:r>
                <a:rPr lang="en-US" dirty="0">
                  <a:solidFill>
                    <a:schemeClr val="tx2">
                      <a:lumMod val="10000"/>
                    </a:schemeClr>
                  </a:solidFill>
                  <a:latin typeface="Agency FB" panose="020B0503020202020204" pitchFamily="34" charset="0"/>
                </a:rPr>
                <a:t>the determination of DO, could be </a:t>
              </a:r>
              <a:r>
                <a:rPr lang="en-US" sz="1600" dirty="0">
                  <a:solidFill>
                    <a:schemeClr val="tx2">
                      <a:lumMod val="10000"/>
                    </a:schemeClr>
                  </a:solidFill>
                  <a:latin typeface="Agency FB" panose="020B0503020202020204" pitchFamily="34" charset="0"/>
                </a:rPr>
                <a:t>measured.</a:t>
              </a:r>
            </a:p>
          </p:txBody>
        </p:sp>
        <p:grpSp>
          <p:nvGrpSpPr>
            <p:cNvPr id="55" name="Group 54">
              <a:extLst>
                <a:ext uri="{FF2B5EF4-FFF2-40B4-BE49-F238E27FC236}">
                  <a16:creationId xmlns:a16="http://schemas.microsoft.com/office/drawing/2014/main" id="{4288ED4D-A662-3E6C-BD68-DEB542195867}"/>
                </a:ext>
              </a:extLst>
            </p:cNvPr>
            <p:cNvGrpSpPr/>
            <p:nvPr/>
          </p:nvGrpSpPr>
          <p:grpSpPr>
            <a:xfrm>
              <a:off x="9615259" y="2084899"/>
              <a:ext cx="1608909" cy="1084453"/>
              <a:chOff x="9579317" y="5102846"/>
              <a:chExt cx="1608909" cy="1084453"/>
            </a:xfrm>
          </p:grpSpPr>
          <p:pic>
            <p:nvPicPr>
              <p:cNvPr id="36" name="Picture 35" descr="Fish in a fish tank&#10;&#10;Description automatically generated">
                <a:extLst>
                  <a:ext uri="{FF2B5EF4-FFF2-40B4-BE49-F238E27FC236}">
                    <a16:creationId xmlns:a16="http://schemas.microsoft.com/office/drawing/2014/main" id="{FE8A4926-178E-A475-5A42-A02CDB5F183D}"/>
                  </a:ext>
                </a:extLst>
              </p:cNvPr>
              <p:cNvPicPr>
                <a:picLocks noChangeAspect="1"/>
              </p:cNvPicPr>
              <p:nvPr/>
            </p:nvPicPr>
            <p:blipFill>
              <a:blip r:embed="rId10"/>
              <a:stretch>
                <a:fillRect/>
              </a:stretch>
            </p:blipFill>
            <p:spPr>
              <a:xfrm>
                <a:off x="9579317" y="5109938"/>
                <a:ext cx="1321995" cy="1070281"/>
              </a:xfrm>
              <a:prstGeom prst="rect">
                <a:avLst/>
              </a:prstGeom>
              <a:ln>
                <a:noFill/>
              </a:ln>
              <a:effectLst>
                <a:outerShdw blurRad="190500" algn="tl" rotWithShape="0">
                  <a:srgbClr val="000000">
                    <a:alpha val="70000"/>
                  </a:srgbClr>
                </a:outerShdw>
              </a:effectLst>
            </p:spPr>
          </p:pic>
          <p:sp>
            <p:nvSpPr>
              <p:cNvPr id="51" name="TextBox 50">
                <a:extLst>
                  <a:ext uri="{FF2B5EF4-FFF2-40B4-BE49-F238E27FC236}">
                    <a16:creationId xmlns:a16="http://schemas.microsoft.com/office/drawing/2014/main" id="{61CC9872-6CA6-480C-ACD3-A5F437B5EC82}"/>
                  </a:ext>
                </a:extLst>
              </p:cNvPr>
              <p:cNvSpPr txBox="1"/>
              <p:nvPr/>
            </p:nvSpPr>
            <p:spPr>
              <a:xfrm rot="5400000">
                <a:off x="10492111" y="5491184"/>
                <a:ext cx="1084453"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Figure (3)</a:t>
                </a:r>
                <a:endParaRPr lang="en-US" sz="1200" b="1" dirty="0">
                  <a:solidFill>
                    <a:srgbClr val="C1E4F5"/>
                  </a:solidFill>
                  <a:latin typeface="Copperplate Gothic Bold" panose="020E0705020206020404" pitchFamily="34" charset="0"/>
                </a:endParaRPr>
              </a:p>
            </p:txBody>
          </p:sp>
        </p:grpSp>
      </p:grpSp>
      <p:grpSp>
        <p:nvGrpSpPr>
          <p:cNvPr id="437" name="Group 436">
            <a:extLst>
              <a:ext uri="{FF2B5EF4-FFF2-40B4-BE49-F238E27FC236}">
                <a16:creationId xmlns:a16="http://schemas.microsoft.com/office/drawing/2014/main" id="{DFA80C1B-70F9-8441-16B8-86E7F6317A3B}"/>
              </a:ext>
            </a:extLst>
          </p:cNvPr>
          <p:cNvGrpSpPr/>
          <p:nvPr/>
        </p:nvGrpSpPr>
        <p:grpSpPr>
          <a:xfrm>
            <a:off x="6060164" y="4456912"/>
            <a:ext cx="5271866" cy="6751900"/>
            <a:chOff x="6149454" y="6422564"/>
            <a:chExt cx="5271866" cy="6751900"/>
          </a:xfrm>
        </p:grpSpPr>
        <p:sp>
          <p:nvSpPr>
            <p:cNvPr id="37" name="TextBox 36">
              <a:extLst>
                <a:ext uri="{FF2B5EF4-FFF2-40B4-BE49-F238E27FC236}">
                  <a16:creationId xmlns:a16="http://schemas.microsoft.com/office/drawing/2014/main" id="{75F44090-40D7-9164-0024-D283B1402B03}"/>
                </a:ext>
              </a:extLst>
            </p:cNvPr>
            <p:cNvSpPr txBox="1"/>
            <p:nvPr/>
          </p:nvSpPr>
          <p:spPr>
            <a:xfrm>
              <a:off x="6149454" y="6422564"/>
              <a:ext cx="5231490" cy="2754600"/>
            </a:xfrm>
            <a:prstGeom prst="rect">
              <a:avLst/>
            </a:prstGeom>
            <a:noFill/>
          </p:spPr>
          <p:txBody>
            <a:bodyPr wrap="square" rtlCol="0">
              <a:spAutoFit/>
            </a:bodyPr>
            <a:lstStyle/>
            <a:p>
              <a:r>
                <a:rPr lang="en-US" dirty="0">
                  <a:solidFill>
                    <a:srgbClr val="00232E"/>
                  </a:solidFill>
                  <a:effectLst/>
                  <a:latin typeface="Agency FB" panose="020B0503020202020204" pitchFamily="34" charset="0"/>
                  <a:ea typeface="Aptos" panose="020B0004020202020204" pitchFamily="34" charset="0"/>
                  <a:cs typeface="Arial" panose="020B0604020202020204" pitchFamily="34" charset="0"/>
                </a:rPr>
                <a:t>Great achievements have great results. In this report, we show the outcomes, findings, and achievements of our project as shown in -table (1) which provides the test location, duration, fish stocking density and the water volume.</a:t>
              </a:r>
              <a:br>
                <a:rPr lang="en-US"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r>
                <a:rPr lang="en-US" dirty="0">
                  <a:solidFill>
                    <a:srgbClr val="00232E"/>
                  </a:solidFill>
                  <a:effectLst/>
                  <a:latin typeface="Agency FB" panose="020B0503020202020204" pitchFamily="34" charset="0"/>
                  <a:ea typeface="Aptos" panose="020B0004020202020204" pitchFamily="34" charset="0"/>
                  <a:cs typeface="Arial" panose="020B0604020202020204" pitchFamily="34" charset="0"/>
                </a:rPr>
                <a:t>-table (2) provides the observed range and the expected ranges of the parameters of the project.</a:t>
              </a:r>
              <a:br>
                <a:rPr lang="en-US"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r>
                <a:rPr lang="en-US" dirty="0">
                  <a:solidFill>
                    <a:srgbClr val="00232E"/>
                  </a:solidFill>
                  <a:effectLst/>
                  <a:latin typeface="Agency FB" panose="020B0503020202020204" pitchFamily="34" charset="0"/>
                  <a:ea typeface="Aptos" panose="020B0004020202020204" pitchFamily="34" charset="0"/>
                  <a:cs typeface="Arial" panose="020B0604020202020204" pitchFamily="34" charset="0"/>
                </a:rPr>
                <a:t>-graph (1) provides variation of pH measurement during a 7 day test, the red color represent the safe range (high, low) of pH</a:t>
              </a:r>
              <a:br>
                <a:rPr lang="en-US"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r>
                <a:rPr lang="en-US" dirty="0">
                  <a:solidFill>
                    <a:srgbClr val="00232E"/>
                  </a:solidFill>
                  <a:effectLst/>
                  <a:latin typeface="Agency FB" panose="020B0503020202020204" pitchFamily="34" charset="0"/>
                  <a:ea typeface="Aptos" panose="020B0004020202020204" pitchFamily="34" charset="0"/>
                  <a:cs typeface="Arial" panose="020B0604020202020204" pitchFamily="34" charset="0"/>
                </a:rPr>
                <a:t>-</a:t>
              </a:r>
              <a:r>
                <a:rPr lang="en-US" kern="100" dirty="0">
                  <a:solidFill>
                    <a:srgbClr val="00232E"/>
                  </a:solidFill>
                  <a:latin typeface="Agency FB" panose="020B0503020202020204" pitchFamily="34" charset="0"/>
                  <a:ea typeface="Aptos" panose="020B0004020202020204" pitchFamily="34" charset="0"/>
                  <a:cs typeface="Arial" panose="020B0604020202020204" pitchFamily="34" charset="0"/>
                </a:rPr>
                <a:t>G</a:t>
              </a: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raph (2) measure temperature over time per hour </a:t>
              </a:r>
            </a:p>
            <a:p>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-Graph (3) measure water flow rate over time per</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hour</a:t>
              </a:r>
              <a:endParaRPr lang="en-US" sz="1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endParaRPr>
            </a:p>
            <a:p>
              <a:br>
                <a:rPr lang="en-US"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br>
                <a:rPr lang="en-US" dirty="0">
                  <a:effectLst/>
                  <a:latin typeface="Agency FB" panose="020B0503020202020204" pitchFamily="34" charset="0"/>
                  <a:ea typeface="Aptos" panose="020B0004020202020204" pitchFamily="34" charset="0"/>
                  <a:cs typeface="Arial" panose="020B0604020202020204" pitchFamily="34" charset="0"/>
                </a:rPr>
              </a:br>
              <a:endParaRPr lang="en-US" sz="1100" dirty="0">
                <a:solidFill>
                  <a:srgbClr val="00232E"/>
                </a:solidFill>
                <a:latin typeface="Agency FB" panose="020B0503020202020204" pitchFamily="34" charset="0"/>
              </a:endParaRPr>
            </a:p>
          </p:txBody>
        </p:sp>
        <p:grpSp>
          <p:nvGrpSpPr>
            <p:cNvPr id="436" name="Group 435">
              <a:extLst>
                <a:ext uri="{FF2B5EF4-FFF2-40B4-BE49-F238E27FC236}">
                  <a16:creationId xmlns:a16="http://schemas.microsoft.com/office/drawing/2014/main" id="{CEB99CCC-60B3-9897-3CDD-4A64F83FA8E7}"/>
                </a:ext>
              </a:extLst>
            </p:cNvPr>
            <p:cNvGrpSpPr/>
            <p:nvPr/>
          </p:nvGrpSpPr>
          <p:grpSpPr>
            <a:xfrm>
              <a:off x="6172799" y="8505979"/>
              <a:ext cx="5248521" cy="4668485"/>
              <a:chOff x="6172799" y="8505979"/>
              <a:chExt cx="5248521" cy="4668485"/>
            </a:xfrm>
          </p:grpSpPr>
          <p:grpSp>
            <p:nvGrpSpPr>
              <p:cNvPr id="48" name="Group 47">
                <a:extLst>
                  <a:ext uri="{FF2B5EF4-FFF2-40B4-BE49-F238E27FC236}">
                    <a16:creationId xmlns:a16="http://schemas.microsoft.com/office/drawing/2014/main" id="{029BC0C8-7104-FF5C-E93B-A47BB6E24518}"/>
                  </a:ext>
                </a:extLst>
              </p:cNvPr>
              <p:cNvGrpSpPr/>
              <p:nvPr/>
            </p:nvGrpSpPr>
            <p:grpSpPr>
              <a:xfrm>
                <a:off x="6187703" y="8505979"/>
                <a:ext cx="5181780" cy="1132208"/>
                <a:chOff x="6175957" y="12053061"/>
                <a:chExt cx="5181780" cy="1132208"/>
              </a:xfrm>
            </p:grpSpPr>
            <p:pic>
              <p:nvPicPr>
                <p:cNvPr id="40" name="Picture 39">
                  <a:extLst>
                    <a:ext uri="{FF2B5EF4-FFF2-40B4-BE49-F238E27FC236}">
                      <a16:creationId xmlns:a16="http://schemas.microsoft.com/office/drawing/2014/main" id="{1481CE28-1959-A6C5-9EF0-5F20F60C11DD}"/>
                    </a:ext>
                  </a:extLst>
                </p:cNvPr>
                <p:cNvPicPr>
                  <a:picLocks noChangeAspect="1"/>
                </p:cNvPicPr>
                <p:nvPr/>
              </p:nvPicPr>
              <p:blipFill>
                <a:blip r:embed="rId11"/>
                <a:stretch>
                  <a:fillRect/>
                </a:stretch>
              </p:blipFill>
              <p:spPr>
                <a:xfrm>
                  <a:off x="6175957" y="12053061"/>
                  <a:ext cx="5181780" cy="788768"/>
                </a:xfrm>
                <a:prstGeom prst="rect">
                  <a:avLst/>
                </a:prstGeom>
              </p:spPr>
            </p:pic>
            <p:sp>
              <p:nvSpPr>
                <p:cNvPr id="46" name="TextBox 45">
                  <a:extLst>
                    <a:ext uri="{FF2B5EF4-FFF2-40B4-BE49-F238E27FC236}">
                      <a16:creationId xmlns:a16="http://schemas.microsoft.com/office/drawing/2014/main" id="{CA644B21-7836-85BC-C182-580838A6BD18}"/>
                    </a:ext>
                  </a:extLst>
                </p:cNvPr>
                <p:cNvSpPr txBox="1"/>
                <p:nvPr/>
              </p:nvSpPr>
              <p:spPr>
                <a:xfrm>
                  <a:off x="6175957" y="12877492"/>
                  <a:ext cx="5181780"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Table</a:t>
                  </a:r>
                  <a:r>
                    <a:rPr lang="en-US" sz="1200" b="1" dirty="0">
                      <a:solidFill>
                        <a:srgbClr val="C1E4F5"/>
                      </a:solidFill>
                      <a:latin typeface="Copperplate Gothic Bold" panose="020E0705020206020404" pitchFamily="34" charset="0"/>
                    </a:rPr>
                    <a:t> (1)</a:t>
                  </a:r>
                </a:p>
              </p:txBody>
            </p:sp>
          </p:grpSp>
          <p:grpSp>
            <p:nvGrpSpPr>
              <p:cNvPr id="435" name="Group 434">
                <a:extLst>
                  <a:ext uri="{FF2B5EF4-FFF2-40B4-BE49-F238E27FC236}">
                    <a16:creationId xmlns:a16="http://schemas.microsoft.com/office/drawing/2014/main" id="{2DB1165D-2427-E885-D795-938FFC3F90E6}"/>
                  </a:ext>
                </a:extLst>
              </p:cNvPr>
              <p:cNvGrpSpPr/>
              <p:nvPr/>
            </p:nvGrpSpPr>
            <p:grpSpPr>
              <a:xfrm>
                <a:off x="6172799" y="9694621"/>
                <a:ext cx="5248521" cy="3479843"/>
                <a:chOff x="6172799" y="9694621"/>
                <a:chExt cx="5248521" cy="3479843"/>
              </a:xfrm>
            </p:grpSpPr>
            <p:grpSp>
              <p:nvGrpSpPr>
                <p:cNvPr id="49" name="Group 48">
                  <a:extLst>
                    <a:ext uri="{FF2B5EF4-FFF2-40B4-BE49-F238E27FC236}">
                      <a16:creationId xmlns:a16="http://schemas.microsoft.com/office/drawing/2014/main" id="{E028DF29-E039-6D2A-046E-B3732A0B8D97}"/>
                    </a:ext>
                  </a:extLst>
                </p:cNvPr>
                <p:cNvGrpSpPr/>
                <p:nvPr/>
              </p:nvGrpSpPr>
              <p:grpSpPr>
                <a:xfrm>
                  <a:off x="6172799" y="9715063"/>
                  <a:ext cx="2565774" cy="1700398"/>
                  <a:chOff x="6217681" y="13229221"/>
                  <a:chExt cx="2565774" cy="1700398"/>
                </a:xfrm>
              </p:grpSpPr>
              <p:pic>
                <p:nvPicPr>
                  <p:cNvPr id="42" name="Picture 41">
                    <a:extLst>
                      <a:ext uri="{FF2B5EF4-FFF2-40B4-BE49-F238E27FC236}">
                        <a16:creationId xmlns:a16="http://schemas.microsoft.com/office/drawing/2014/main" id="{E2D569C2-74C6-9B51-4AFF-D313148AEDAA}"/>
                      </a:ext>
                    </a:extLst>
                  </p:cNvPr>
                  <p:cNvPicPr>
                    <a:picLocks noChangeAspect="1"/>
                  </p:cNvPicPr>
                  <p:nvPr/>
                </p:nvPicPr>
                <p:blipFill>
                  <a:blip r:embed="rId12"/>
                  <a:stretch>
                    <a:fillRect/>
                  </a:stretch>
                </p:blipFill>
                <p:spPr>
                  <a:xfrm>
                    <a:off x="6242535" y="13229221"/>
                    <a:ext cx="2540919" cy="1348669"/>
                  </a:xfrm>
                  <a:prstGeom prst="rect">
                    <a:avLst/>
                  </a:prstGeom>
                </p:spPr>
              </p:pic>
              <p:sp>
                <p:nvSpPr>
                  <p:cNvPr id="47" name="TextBox 46">
                    <a:extLst>
                      <a:ext uri="{FF2B5EF4-FFF2-40B4-BE49-F238E27FC236}">
                        <a16:creationId xmlns:a16="http://schemas.microsoft.com/office/drawing/2014/main" id="{E0122078-1EC9-0F83-2C04-8173A43C7A7B}"/>
                      </a:ext>
                    </a:extLst>
                  </p:cNvPr>
                  <p:cNvSpPr txBox="1"/>
                  <p:nvPr/>
                </p:nvSpPr>
                <p:spPr>
                  <a:xfrm>
                    <a:off x="6217681" y="14621842"/>
                    <a:ext cx="2565774"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Table</a:t>
                    </a:r>
                    <a:r>
                      <a:rPr lang="en-US" sz="1200" b="1" dirty="0">
                        <a:solidFill>
                          <a:srgbClr val="C1E4F5"/>
                        </a:solidFill>
                        <a:latin typeface="Copperplate Gothic Bold" panose="020E0705020206020404" pitchFamily="34" charset="0"/>
                      </a:rPr>
                      <a:t> (2)</a:t>
                    </a:r>
                  </a:p>
                </p:txBody>
              </p:sp>
            </p:grpSp>
            <p:grpSp>
              <p:nvGrpSpPr>
                <p:cNvPr id="57" name="Group 56">
                  <a:extLst>
                    <a:ext uri="{FF2B5EF4-FFF2-40B4-BE49-F238E27FC236}">
                      <a16:creationId xmlns:a16="http://schemas.microsoft.com/office/drawing/2014/main" id="{CBDC82A9-808C-EDC1-3B42-2A9F531A3177}"/>
                    </a:ext>
                  </a:extLst>
                </p:cNvPr>
                <p:cNvGrpSpPr/>
                <p:nvPr/>
              </p:nvGrpSpPr>
              <p:grpSpPr>
                <a:xfrm>
                  <a:off x="8913866" y="9694621"/>
                  <a:ext cx="2490423" cy="1691327"/>
                  <a:chOff x="8859205" y="13194167"/>
                  <a:chExt cx="2490423" cy="1691327"/>
                </a:xfrm>
              </p:grpSpPr>
              <p:pic>
                <p:nvPicPr>
                  <p:cNvPr id="43" name="Picture 42">
                    <a:extLst>
                      <a:ext uri="{FF2B5EF4-FFF2-40B4-BE49-F238E27FC236}">
                        <a16:creationId xmlns:a16="http://schemas.microsoft.com/office/drawing/2014/main" id="{4BECA33B-857E-782D-8724-B3B5B5872B7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865294" y="13194167"/>
                    <a:ext cx="2484334" cy="1348669"/>
                  </a:xfrm>
                  <a:prstGeom prst="rect">
                    <a:avLst/>
                  </a:prstGeom>
                </p:spPr>
              </p:pic>
              <p:sp>
                <p:nvSpPr>
                  <p:cNvPr id="53" name="TextBox 52">
                    <a:extLst>
                      <a:ext uri="{FF2B5EF4-FFF2-40B4-BE49-F238E27FC236}">
                        <a16:creationId xmlns:a16="http://schemas.microsoft.com/office/drawing/2014/main" id="{094D2496-5CDA-9C44-74D8-3F0ACE3001EA}"/>
                      </a:ext>
                    </a:extLst>
                  </p:cNvPr>
                  <p:cNvSpPr txBox="1"/>
                  <p:nvPr/>
                </p:nvSpPr>
                <p:spPr>
                  <a:xfrm>
                    <a:off x="8859205" y="14577717"/>
                    <a:ext cx="2484334"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Graph (1)</a:t>
                    </a:r>
                    <a:endParaRPr lang="en-US" sz="1200" b="1" dirty="0">
                      <a:solidFill>
                        <a:srgbClr val="C1E4F5"/>
                      </a:solidFill>
                      <a:latin typeface="Copperplate Gothic Bold" panose="020E0705020206020404" pitchFamily="34" charset="0"/>
                    </a:endParaRPr>
                  </a:p>
                </p:txBody>
              </p:sp>
            </p:grpSp>
            <p:grpSp>
              <p:nvGrpSpPr>
                <p:cNvPr id="61" name="Group 60">
                  <a:extLst>
                    <a:ext uri="{FF2B5EF4-FFF2-40B4-BE49-F238E27FC236}">
                      <a16:creationId xmlns:a16="http://schemas.microsoft.com/office/drawing/2014/main" id="{66800FAB-713F-4816-8343-E4FC48EF1E69}"/>
                    </a:ext>
                  </a:extLst>
                </p:cNvPr>
                <p:cNvGrpSpPr/>
                <p:nvPr/>
              </p:nvGrpSpPr>
              <p:grpSpPr>
                <a:xfrm>
                  <a:off x="6187703" y="11459413"/>
                  <a:ext cx="2565774" cy="1702023"/>
                  <a:chOff x="6157896" y="14275974"/>
                  <a:chExt cx="2565774" cy="1702023"/>
                </a:xfrm>
              </p:grpSpPr>
              <p:pic>
                <p:nvPicPr>
                  <p:cNvPr id="44" name="Picture 43" descr="A graph showing the temperature of the day&#10;&#10;Description automatically generated">
                    <a:extLst>
                      <a:ext uri="{FF2B5EF4-FFF2-40B4-BE49-F238E27FC236}">
                        <a16:creationId xmlns:a16="http://schemas.microsoft.com/office/drawing/2014/main" id="{D859861C-0073-6018-5A82-DA231A41FD4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157896" y="14275974"/>
                    <a:ext cx="2532197" cy="1348669"/>
                  </a:xfrm>
                  <a:prstGeom prst="rect">
                    <a:avLst/>
                  </a:prstGeom>
                </p:spPr>
              </p:pic>
              <p:sp>
                <p:nvSpPr>
                  <p:cNvPr id="58" name="TextBox 57">
                    <a:extLst>
                      <a:ext uri="{FF2B5EF4-FFF2-40B4-BE49-F238E27FC236}">
                        <a16:creationId xmlns:a16="http://schemas.microsoft.com/office/drawing/2014/main" id="{D2FA9C52-495C-BC60-F2F2-7E84CA4BDED9}"/>
                      </a:ext>
                    </a:extLst>
                  </p:cNvPr>
                  <p:cNvSpPr txBox="1"/>
                  <p:nvPr/>
                </p:nvSpPr>
                <p:spPr>
                  <a:xfrm>
                    <a:off x="6157896" y="15670220"/>
                    <a:ext cx="2565774"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Graph (2)</a:t>
                    </a:r>
                    <a:endParaRPr lang="en-US" sz="1200" b="1" dirty="0">
                      <a:solidFill>
                        <a:srgbClr val="C1E4F5"/>
                      </a:solidFill>
                      <a:latin typeface="Copperplate Gothic Bold" panose="020E0705020206020404" pitchFamily="34" charset="0"/>
                    </a:endParaRPr>
                  </a:p>
                </p:txBody>
              </p:sp>
            </p:grpSp>
            <p:grpSp>
              <p:nvGrpSpPr>
                <p:cNvPr id="60" name="Group 59">
                  <a:extLst>
                    <a:ext uri="{FF2B5EF4-FFF2-40B4-BE49-F238E27FC236}">
                      <a16:creationId xmlns:a16="http://schemas.microsoft.com/office/drawing/2014/main" id="{2E6A0BA8-F9CA-3A8E-B8CA-FB03169D276F}"/>
                    </a:ext>
                  </a:extLst>
                </p:cNvPr>
                <p:cNvGrpSpPr/>
                <p:nvPr/>
              </p:nvGrpSpPr>
              <p:grpSpPr>
                <a:xfrm>
                  <a:off x="8913727" y="11443164"/>
                  <a:ext cx="2507593" cy="1731300"/>
                  <a:chOff x="8883035" y="14259725"/>
                  <a:chExt cx="2572001" cy="1731300"/>
                </a:xfrm>
              </p:grpSpPr>
              <p:pic>
                <p:nvPicPr>
                  <p:cNvPr id="45" name="Picture 44" descr="A graph with a line and a line&#10;&#10;Description automatically generated">
                    <a:extLst>
                      <a:ext uri="{FF2B5EF4-FFF2-40B4-BE49-F238E27FC236}">
                        <a16:creationId xmlns:a16="http://schemas.microsoft.com/office/drawing/2014/main" id="{FD311024-8AE8-D9E2-22AB-B4AB2F30F5D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883035" y="14259725"/>
                    <a:ext cx="2570123" cy="1401679"/>
                  </a:xfrm>
                  <a:prstGeom prst="rect">
                    <a:avLst/>
                  </a:prstGeom>
                </p:spPr>
              </p:pic>
              <p:sp>
                <p:nvSpPr>
                  <p:cNvPr id="59" name="TextBox 58">
                    <a:extLst>
                      <a:ext uri="{FF2B5EF4-FFF2-40B4-BE49-F238E27FC236}">
                        <a16:creationId xmlns:a16="http://schemas.microsoft.com/office/drawing/2014/main" id="{0BE10CFD-2E9A-C9ED-1F3F-4598AFD426D4}"/>
                      </a:ext>
                    </a:extLst>
                  </p:cNvPr>
                  <p:cNvSpPr txBox="1"/>
                  <p:nvPr/>
                </p:nvSpPr>
                <p:spPr>
                  <a:xfrm>
                    <a:off x="8889262" y="15683248"/>
                    <a:ext cx="2565774"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Graph (3)</a:t>
                    </a:r>
                    <a:endParaRPr lang="en-US" sz="1200" b="1" dirty="0">
                      <a:solidFill>
                        <a:srgbClr val="C1E4F5"/>
                      </a:solidFill>
                      <a:latin typeface="Copperplate Gothic Bold" panose="020E0705020206020404" pitchFamily="34" charset="0"/>
                    </a:endParaRPr>
                  </a:p>
                </p:txBody>
              </p:sp>
            </p:grpSp>
          </p:grpSp>
        </p:grpSp>
      </p:grpSp>
      <p:sp>
        <p:nvSpPr>
          <p:cNvPr id="62" name="Google Shape;404;p20">
            <a:extLst>
              <a:ext uri="{FF2B5EF4-FFF2-40B4-BE49-F238E27FC236}">
                <a16:creationId xmlns:a16="http://schemas.microsoft.com/office/drawing/2014/main" id="{9410C506-B8C0-F528-69B3-D7AB0CF789B0}"/>
              </a:ext>
            </a:extLst>
          </p:cNvPr>
          <p:cNvSpPr txBox="1">
            <a:spLocks/>
          </p:cNvSpPr>
          <p:nvPr/>
        </p:nvSpPr>
        <p:spPr>
          <a:xfrm>
            <a:off x="6075477" y="11078925"/>
            <a:ext cx="4838400" cy="640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Montserrat ExtraBold"/>
              <a:buNone/>
              <a:defRPr sz="902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9pPr>
          </a:lstStyle>
          <a:p>
            <a:pPr algn="l"/>
            <a:r>
              <a:rPr lang="en-US" sz="3600" dirty="0">
                <a:solidFill>
                  <a:schemeClr val="tx2">
                    <a:lumMod val="10000"/>
                  </a:schemeClr>
                </a:solidFill>
              </a:rPr>
              <a:t>Analysis</a:t>
            </a:r>
            <a:endParaRPr lang="en-US" sz="3000" dirty="0">
              <a:solidFill>
                <a:schemeClr val="tx2">
                  <a:lumMod val="10000"/>
                </a:schemeClr>
              </a:solidFill>
            </a:endParaRPr>
          </a:p>
        </p:txBody>
      </p:sp>
      <p:sp>
        <p:nvSpPr>
          <p:cNvPr id="384" name="TextBox 383">
            <a:extLst>
              <a:ext uri="{FF2B5EF4-FFF2-40B4-BE49-F238E27FC236}">
                <a16:creationId xmlns:a16="http://schemas.microsoft.com/office/drawing/2014/main" id="{4497C8B1-EE95-E115-DEBD-AB3CADEE0CA4}"/>
              </a:ext>
            </a:extLst>
          </p:cNvPr>
          <p:cNvSpPr txBox="1"/>
          <p:nvPr/>
        </p:nvSpPr>
        <p:spPr>
          <a:xfrm>
            <a:off x="6003946" y="11646226"/>
            <a:ext cx="5399934" cy="3250121"/>
          </a:xfrm>
          <a:prstGeom prst="rect">
            <a:avLst/>
          </a:prstGeom>
          <a:noFill/>
        </p:spPr>
        <p:txBody>
          <a:bodyPr wrap="square" rtlCol="0">
            <a:spAutoFit/>
          </a:bodyPr>
          <a:lstStyle/>
          <a:p>
            <a:pPr marL="0" marR="0" lvl="0" indent="0" algn="l" defTabSz="914400" rtl="0" eaLnBrk="0" fontAlgn="base" latinLnBrk="0" hangingPunct="0">
              <a:lnSpc>
                <a:spcPct val="90000"/>
              </a:lnSpc>
              <a:spcBef>
                <a:spcPct val="0"/>
              </a:spcBef>
              <a:spcAft>
                <a:spcPct val="0"/>
              </a:spcAft>
              <a:buClrTx/>
              <a:buSzTx/>
              <a:buFontTx/>
              <a:buNone/>
              <a:tabLst/>
            </a:pPr>
            <a:r>
              <a:rPr lang="en-US" sz="1600" b="1" u="sng" dirty="0">
                <a:solidFill>
                  <a:srgbClr val="00232E"/>
                </a:solidFill>
                <a:latin typeface="Agency FB" panose="020B0503020202020204" pitchFamily="34" charset="0"/>
              </a:rPr>
              <a:t>Positive Results:</a:t>
            </a:r>
            <a:br>
              <a:rPr lang="en-US" b="1" dirty="0">
                <a:solidFill>
                  <a:srgbClr val="00232E"/>
                </a:solidFill>
                <a:latin typeface="Agency FB" panose="020B0503020202020204" pitchFamily="34" charset="0"/>
              </a:rPr>
            </a:br>
            <a:r>
              <a:rPr kumimoji="0" lang="en-US" altLang="en-US" b="1" i="0" u="none" strike="noStrike" cap="none" normalizeH="0" baseline="0" dirty="0">
                <a:ln>
                  <a:noFill/>
                </a:ln>
                <a:solidFill>
                  <a:srgbClr val="00232E"/>
                </a:solidFill>
                <a:effectLst/>
                <a:latin typeface="Agency FB" panose="020B0503020202020204" pitchFamily="34" charset="0"/>
              </a:rPr>
              <a:t>1-</a:t>
            </a:r>
            <a:r>
              <a:rPr kumimoji="0" lang="en-US" altLang="en-US" b="0" i="0" u="none" strike="noStrike" cap="none" normalizeH="0" baseline="0" dirty="0">
                <a:ln>
                  <a:noFill/>
                </a:ln>
                <a:solidFill>
                  <a:srgbClr val="00232E"/>
                </a:solidFill>
                <a:effectLst/>
                <a:latin typeface="Agency FB" panose="020B0503020202020204" pitchFamily="34" charset="0"/>
              </a:rPr>
              <a:t>Monitors temperature, pH, DO, and flow rate to ensure optimal fish growth and survival.</a:t>
            </a:r>
          </a:p>
          <a:p>
            <a:pPr marL="0" marR="0" lvl="0" indent="0" algn="l" defTabSz="914400" rtl="0" eaLnBrk="0" fontAlgn="base" latinLnBrk="0" hangingPunct="0">
              <a:lnSpc>
                <a:spcPct val="90000"/>
              </a:lnSpc>
              <a:spcBef>
                <a:spcPct val="0"/>
              </a:spcBef>
              <a:spcAft>
                <a:spcPct val="0"/>
              </a:spcAft>
              <a:buClrTx/>
              <a:buSzTx/>
              <a:tabLst/>
            </a:pPr>
            <a:r>
              <a:rPr kumimoji="0" lang="en-US" altLang="en-US" b="1" i="0" u="none" strike="noStrike" cap="none" normalizeH="0" baseline="0" dirty="0">
                <a:ln>
                  <a:noFill/>
                </a:ln>
                <a:solidFill>
                  <a:srgbClr val="00232E"/>
                </a:solidFill>
                <a:effectLst/>
                <a:latin typeface="Agency FB" panose="020B0503020202020204" pitchFamily="34" charset="0"/>
              </a:rPr>
              <a:t>2-</a:t>
            </a:r>
            <a:r>
              <a:rPr kumimoji="0" lang="en-US" altLang="en-US" b="0" i="0" u="none" strike="noStrike" cap="none" normalizeH="0" baseline="0" dirty="0">
                <a:ln>
                  <a:noFill/>
                </a:ln>
                <a:solidFill>
                  <a:srgbClr val="00232E"/>
                </a:solidFill>
                <a:effectLst/>
                <a:latin typeface="Agency FB" panose="020B0503020202020204" pitchFamily="34" charset="0"/>
              </a:rPr>
              <a:t>Reduces contamination, improves fish health, and boosts farm productivity through </a:t>
            </a:r>
          </a:p>
          <a:p>
            <a:pPr marL="0" marR="0" lvl="0" indent="0" algn="l" defTabSz="914400" rtl="0" eaLnBrk="0" fontAlgn="base" latinLnBrk="0" hangingPunct="0">
              <a:lnSpc>
                <a:spcPct val="90000"/>
              </a:lnSpc>
              <a:spcBef>
                <a:spcPct val="0"/>
              </a:spcBef>
              <a:spcAft>
                <a:spcPct val="0"/>
              </a:spcAft>
              <a:buClrTx/>
              <a:buSzTx/>
              <a:tabLst/>
            </a:pPr>
            <a:r>
              <a:rPr kumimoji="0" lang="en-US" altLang="en-US" b="0" i="0" u="none" strike="noStrike" cap="none" normalizeH="0" baseline="0" dirty="0">
                <a:ln>
                  <a:noFill/>
                </a:ln>
                <a:solidFill>
                  <a:srgbClr val="00232E"/>
                </a:solidFill>
                <a:effectLst/>
                <a:latin typeface="Agency FB" panose="020B0503020202020204" pitchFamily="34" charset="0"/>
              </a:rPr>
              <a:t>continuous monitoring.</a:t>
            </a:r>
            <a:br>
              <a:rPr kumimoji="0" lang="en-US" altLang="en-US" b="0" i="0" u="none" strike="noStrike" cap="none" normalizeH="0" baseline="0" dirty="0">
                <a:ln>
                  <a:noFill/>
                </a:ln>
                <a:solidFill>
                  <a:srgbClr val="00232E"/>
                </a:solidFill>
                <a:effectLst/>
                <a:latin typeface="Agency FB" panose="020B0503020202020204" pitchFamily="34" charset="0"/>
              </a:rPr>
            </a:br>
            <a:r>
              <a:rPr kumimoji="0" lang="en-US" altLang="en-US" b="1" i="0" u="none" strike="noStrike" cap="none" normalizeH="0" baseline="0" dirty="0">
                <a:ln>
                  <a:noFill/>
                </a:ln>
                <a:solidFill>
                  <a:srgbClr val="00232E"/>
                </a:solidFill>
                <a:effectLst/>
                <a:latin typeface="Agency FB" panose="020B0503020202020204" pitchFamily="34" charset="0"/>
              </a:rPr>
              <a:t>3-</a:t>
            </a:r>
            <a:r>
              <a:rPr kumimoji="0" lang="en-US" altLang="en-US" b="0" i="0" u="none" strike="noStrike" cap="none" normalizeH="0" baseline="0" dirty="0">
                <a:ln>
                  <a:noFill/>
                </a:ln>
                <a:solidFill>
                  <a:srgbClr val="00232E"/>
                </a:solidFill>
                <a:effectLst/>
                <a:latin typeface="Agency FB" panose="020B0503020202020204" pitchFamily="34" charset="0"/>
              </a:rPr>
              <a:t>Cost-effective, scalable, and easy to deploy for farms of all sizes.</a:t>
            </a:r>
          </a:p>
          <a:p>
            <a:pPr marL="0" marR="0" lvl="0" indent="0" algn="l" defTabSz="914400" rtl="0" eaLnBrk="0" fontAlgn="base" latinLnBrk="0" hangingPunct="0">
              <a:lnSpc>
                <a:spcPct val="90000"/>
              </a:lnSpc>
              <a:spcBef>
                <a:spcPct val="0"/>
              </a:spcBef>
              <a:spcAft>
                <a:spcPct val="0"/>
              </a:spcAft>
              <a:buClrTx/>
              <a:buSzTx/>
              <a:tabLst/>
            </a:pPr>
            <a:r>
              <a:rPr kumimoji="0" lang="en-US" altLang="en-US" b="1" i="0" u="none" strike="noStrike" cap="none" normalizeH="0" baseline="0" dirty="0">
                <a:ln>
                  <a:noFill/>
                </a:ln>
                <a:solidFill>
                  <a:srgbClr val="00232E"/>
                </a:solidFill>
                <a:effectLst/>
                <a:latin typeface="Agency FB" panose="020B0503020202020204" pitchFamily="34" charset="0"/>
              </a:rPr>
              <a:t>4-</a:t>
            </a:r>
            <a:r>
              <a:rPr kumimoji="0" lang="en-US" altLang="en-US" b="0" i="0" u="none" strike="noStrike" cap="none" normalizeH="0" baseline="0" dirty="0">
                <a:ln>
                  <a:noFill/>
                </a:ln>
                <a:solidFill>
                  <a:srgbClr val="00232E"/>
                </a:solidFill>
                <a:effectLst/>
                <a:latin typeface="Agency FB" panose="020B0503020202020204" pitchFamily="34" charset="0"/>
              </a:rPr>
              <a:t>Real-time monitoring enables proactive decisions, preventing issues and increasing efficiency. </a:t>
            </a:r>
            <a:endParaRPr lang="en-US" b="1" dirty="0">
              <a:solidFill>
                <a:srgbClr val="00232E"/>
              </a:solidFill>
              <a:latin typeface="Agency FB" panose="020B0503020202020204" pitchFamily="34" charset="0"/>
            </a:endParaRPr>
          </a:p>
          <a:p>
            <a:pPr>
              <a:lnSpc>
                <a:spcPct val="90000"/>
              </a:lnSpc>
            </a:pPr>
            <a:r>
              <a:rPr lang="en-US" sz="1600" b="1" u="sng" dirty="0">
                <a:solidFill>
                  <a:srgbClr val="00232E"/>
                </a:solidFill>
                <a:latin typeface="Agency FB" panose="020B0503020202020204" pitchFamily="34" charset="0"/>
              </a:rPr>
              <a:t>Negative Results:</a:t>
            </a:r>
          </a:p>
          <a:p>
            <a:pPr>
              <a:lnSpc>
                <a:spcPct val="90000"/>
              </a:lnSpc>
            </a:pPr>
            <a:r>
              <a:rPr lang="en-US" dirty="0">
                <a:solidFill>
                  <a:srgbClr val="00232E"/>
                </a:solidFill>
                <a:latin typeface="Agency FB" panose="020B0503020202020204" pitchFamily="34" charset="0"/>
              </a:rPr>
              <a:t>1.  The inaccuracy of the sensors may vary because of environmental changes and may</a:t>
            </a:r>
          </a:p>
          <a:p>
            <a:pPr>
              <a:lnSpc>
                <a:spcPct val="90000"/>
              </a:lnSpc>
            </a:pPr>
            <a:r>
              <a:rPr lang="en-US" dirty="0">
                <a:solidFill>
                  <a:srgbClr val="00232E"/>
                </a:solidFill>
                <a:latin typeface="Agency FB" panose="020B0503020202020204" pitchFamily="34" charset="0"/>
              </a:rPr>
              <a:t> introduce slightly different measurement readings.</a:t>
            </a:r>
          </a:p>
          <a:p>
            <a:pPr>
              <a:lnSpc>
                <a:spcPct val="90000"/>
              </a:lnSpc>
            </a:pPr>
            <a:r>
              <a:rPr lang="en-US" dirty="0">
                <a:solidFill>
                  <a:srgbClr val="00232E"/>
                </a:solidFill>
                <a:latin typeface="Agency FB" panose="020B0503020202020204" pitchFamily="34" charset="0"/>
              </a:rPr>
              <a:t>2.  The continuous power dependence of the system could be problematic to areas with </a:t>
            </a:r>
          </a:p>
          <a:p>
            <a:pPr>
              <a:lnSpc>
                <a:spcPct val="90000"/>
              </a:lnSpc>
            </a:pPr>
            <a:r>
              <a:rPr lang="en-US" dirty="0">
                <a:solidFill>
                  <a:srgbClr val="00232E"/>
                </a:solidFill>
                <a:latin typeface="Agency FB" panose="020B0503020202020204" pitchFamily="34" charset="0"/>
              </a:rPr>
              <a:t>unstable electricity; thus, the extra management of power would be needed.</a:t>
            </a:r>
            <a:br>
              <a:rPr lang="en-US" dirty="0">
                <a:solidFill>
                  <a:srgbClr val="00232E"/>
                </a:solidFill>
                <a:latin typeface="Agency FB" panose="020B0503020202020204" pitchFamily="34" charset="0"/>
              </a:rPr>
            </a:br>
            <a:r>
              <a:rPr lang="en-US" b="1" u="sng" dirty="0">
                <a:solidFill>
                  <a:srgbClr val="00232E"/>
                </a:solidFill>
                <a:latin typeface="Agency FB" panose="020B0503020202020204" pitchFamily="34" charset="0"/>
              </a:rPr>
              <a:t>Specific Problem</a:t>
            </a:r>
            <a:r>
              <a:rPr lang="en-US" b="1" dirty="0">
                <a:solidFill>
                  <a:srgbClr val="00232E"/>
                </a:solidFill>
                <a:latin typeface="Agency FB" panose="020B0503020202020204" pitchFamily="34" charset="0"/>
              </a:rPr>
              <a:t>: </a:t>
            </a:r>
            <a:r>
              <a:rPr lang="en-US" dirty="0">
                <a:solidFill>
                  <a:srgbClr val="00232E"/>
                </a:solidFill>
                <a:latin typeface="Agency FB" panose="020B0503020202020204" pitchFamily="34" charset="0"/>
              </a:rPr>
              <a:t>This project is confronting the problem of water quality management in aquatic environments, especially regarding oxygen level, flow rates, and pH imbalance under optimal conditions for fish survival</a:t>
            </a:r>
          </a:p>
          <a:p>
            <a:pPr marL="0" marR="0" lvl="0" indent="0" algn="l" defTabSz="914400" rtl="0" eaLnBrk="0" fontAlgn="base" latinLnBrk="0" hangingPunct="0">
              <a:lnSpc>
                <a:spcPct val="90000"/>
              </a:lnSpc>
              <a:spcBef>
                <a:spcPct val="0"/>
              </a:spcBef>
              <a:spcAft>
                <a:spcPct val="0"/>
              </a:spcAft>
              <a:buClrTx/>
              <a:buSzTx/>
              <a:tabLst/>
            </a:pPr>
            <a:endParaRPr kumimoji="0" lang="en-US" altLang="en-US" b="0" i="0" u="none" strike="noStrike" cap="none" normalizeH="0" baseline="0" dirty="0">
              <a:ln>
                <a:noFill/>
              </a:ln>
              <a:solidFill>
                <a:srgbClr val="00232E"/>
              </a:solidFill>
              <a:effectLst/>
              <a:latin typeface="Agency FB" panose="020B0503020202020204" pitchFamily="34" charset="0"/>
            </a:endParaRPr>
          </a:p>
        </p:txBody>
      </p:sp>
      <p:sp>
        <p:nvSpPr>
          <p:cNvPr id="385" name="TextBox 384">
            <a:extLst>
              <a:ext uri="{FF2B5EF4-FFF2-40B4-BE49-F238E27FC236}">
                <a16:creationId xmlns:a16="http://schemas.microsoft.com/office/drawing/2014/main" id="{5B2BCBAE-0409-1257-044D-491F3A523195}"/>
              </a:ext>
            </a:extLst>
          </p:cNvPr>
          <p:cNvSpPr txBox="1"/>
          <p:nvPr/>
        </p:nvSpPr>
        <p:spPr>
          <a:xfrm>
            <a:off x="6003945" y="15887316"/>
            <a:ext cx="3720544" cy="867930"/>
          </a:xfrm>
          <a:prstGeom prst="rect">
            <a:avLst/>
          </a:prstGeom>
          <a:noFill/>
        </p:spPr>
        <p:txBody>
          <a:bodyPr wrap="square" rtlCol="0">
            <a:spAutoFit/>
          </a:bodyPr>
          <a:lstStyle/>
          <a:p>
            <a:pPr>
              <a:lnSpc>
                <a:spcPct val="90000"/>
              </a:lnSpc>
            </a:pPr>
            <a:r>
              <a:rPr lang="en-US" b="1" dirty="0">
                <a:solidFill>
                  <a:srgbClr val="00232E"/>
                </a:solidFill>
                <a:effectLst/>
                <a:latin typeface="Agency FB" panose="020B0503020202020204" pitchFamily="34" charset="0"/>
                <a:ea typeface="Aptos" panose="020B0004020202020204" pitchFamily="34" charset="0"/>
                <a:cs typeface="Arial" panose="020B0604020202020204" pitchFamily="34" charset="0"/>
              </a:rPr>
              <a:t>1-The water level sensor: </a:t>
            </a:r>
            <a:r>
              <a:rPr lang="en-US" dirty="0">
                <a:solidFill>
                  <a:srgbClr val="00232E"/>
                </a:solidFill>
                <a:latin typeface="Agency FB" panose="020B0503020202020204" pitchFamily="34" charset="0"/>
              </a:rPr>
              <a:t>Water Level Sensor: Monitors water depth to prevent overflow Fig (4)</a:t>
            </a:r>
            <a:endParaRPr lang="en-US" dirty="0">
              <a:solidFill>
                <a:srgbClr val="00232E"/>
              </a:solidFill>
              <a:effectLst/>
              <a:latin typeface="Agency FB" panose="020B0503020202020204" pitchFamily="34" charset="0"/>
              <a:ea typeface="Aptos" panose="020B0004020202020204" pitchFamily="34" charset="0"/>
              <a:cs typeface="Arial" panose="020B0604020202020204" pitchFamily="34" charset="0"/>
            </a:endParaRPr>
          </a:p>
          <a:p>
            <a:pPr>
              <a:lnSpc>
                <a:spcPct val="90000"/>
              </a:lnSpc>
            </a:pPr>
            <a:r>
              <a:rPr lang="en-US" b="1" dirty="0">
                <a:solidFill>
                  <a:srgbClr val="00232E"/>
                </a:solidFill>
                <a:effectLst/>
                <a:latin typeface="Agency FB" panose="020B0503020202020204" pitchFamily="34" charset="0"/>
                <a:ea typeface="Aptos" panose="020B0004020202020204" pitchFamily="34" charset="0"/>
                <a:cs typeface="Arial" panose="020B0604020202020204" pitchFamily="34" charset="0"/>
              </a:rPr>
              <a:t>2-temperature sensor: </a:t>
            </a:r>
            <a:r>
              <a:rPr lang="en-US" dirty="0">
                <a:solidFill>
                  <a:srgbClr val="00232E"/>
                </a:solidFill>
                <a:latin typeface="Agency FB" panose="020B0503020202020204" pitchFamily="34" charset="0"/>
              </a:rPr>
              <a:t>Measures water temperature for aquatic well-being Fig(5)</a:t>
            </a:r>
          </a:p>
        </p:txBody>
      </p:sp>
      <p:grpSp>
        <p:nvGrpSpPr>
          <p:cNvPr id="393" name="Group 392">
            <a:extLst>
              <a:ext uri="{FF2B5EF4-FFF2-40B4-BE49-F238E27FC236}">
                <a16:creationId xmlns:a16="http://schemas.microsoft.com/office/drawing/2014/main" id="{4E7744BB-B764-1800-1AF3-4A83343CEDD1}"/>
              </a:ext>
            </a:extLst>
          </p:cNvPr>
          <p:cNvGrpSpPr/>
          <p:nvPr/>
        </p:nvGrpSpPr>
        <p:grpSpPr>
          <a:xfrm>
            <a:off x="9509615" y="15620140"/>
            <a:ext cx="1869944" cy="1107875"/>
            <a:chOff x="14444598" y="9516476"/>
            <a:chExt cx="2368980" cy="1403536"/>
          </a:xfrm>
        </p:grpSpPr>
        <p:pic>
          <p:nvPicPr>
            <p:cNvPr id="386" name="Picture 385">
              <a:extLst>
                <a:ext uri="{FF2B5EF4-FFF2-40B4-BE49-F238E27FC236}">
                  <a16:creationId xmlns:a16="http://schemas.microsoft.com/office/drawing/2014/main" id="{10A360CA-41C7-F55D-3D24-3B5D4F523FC5}"/>
                </a:ext>
              </a:extLst>
            </p:cNvPr>
            <p:cNvPicPr>
              <a:picLocks noChangeAspect="1"/>
            </p:cNvPicPr>
            <p:nvPr/>
          </p:nvPicPr>
          <p:blipFill>
            <a:blip r:embed="rId16"/>
            <a:stretch>
              <a:fillRect/>
            </a:stretch>
          </p:blipFill>
          <p:spPr>
            <a:xfrm>
              <a:off x="14444599" y="9516476"/>
              <a:ext cx="2368979" cy="1097400"/>
            </a:xfrm>
            <a:prstGeom prst="rect">
              <a:avLst/>
            </a:prstGeom>
            <a:ln>
              <a:noFill/>
            </a:ln>
            <a:effectLst>
              <a:outerShdw blurRad="190500" algn="tl" rotWithShape="0">
                <a:srgbClr val="000000">
                  <a:alpha val="70000"/>
                </a:srgbClr>
              </a:outerShdw>
            </a:effectLst>
          </p:spPr>
        </p:pic>
        <p:sp>
          <p:nvSpPr>
            <p:cNvPr id="390" name="TextBox 389">
              <a:extLst>
                <a:ext uri="{FF2B5EF4-FFF2-40B4-BE49-F238E27FC236}">
                  <a16:creationId xmlns:a16="http://schemas.microsoft.com/office/drawing/2014/main" id="{3A3DF486-67E8-AAD6-D1BC-9C2B8DE1C7BE}"/>
                </a:ext>
              </a:extLst>
            </p:cNvPr>
            <p:cNvSpPr txBox="1"/>
            <p:nvPr/>
          </p:nvSpPr>
          <p:spPr>
            <a:xfrm>
              <a:off x="14444598" y="10612235"/>
              <a:ext cx="2368979"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Figure (4)</a:t>
              </a:r>
              <a:endParaRPr lang="en-US" sz="1200" b="1" dirty="0">
                <a:solidFill>
                  <a:srgbClr val="C1E4F5"/>
                </a:solidFill>
                <a:latin typeface="Copperplate Gothic Bold" panose="020E0705020206020404" pitchFamily="34" charset="0"/>
              </a:endParaRPr>
            </a:p>
          </p:txBody>
        </p:sp>
      </p:grpSp>
      <p:grpSp>
        <p:nvGrpSpPr>
          <p:cNvPr id="400" name="Group 399">
            <a:extLst>
              <a:ext uri="{FF2B5EF4-FFF2-40B4-BE49-F238E27FC236}">
                <a16:creationId xmlns:a16="http://schemas.microsoft.com/office/drawing/2014/main" id="{45A6C25C-01B8-B3E2-7ACA-07FDB61878C9}"/>
              </a:ext>
            </a:extLst>
          </p:cNvPr>
          <p:cNvGrpSpPr/>
          <p:nvPr/>
        </p:nvGrpSpPr>
        <p:grpSpPr>
          <a:xfrm>
            <a:off x="14911066" y="3233223"/>
            <a:ext cx="1869943" cy="1081851"/>
            <a:chOff x="14465357" y="12495738"/>
            <a:chExt cx="2368979" cy="1370567"/>
          </a:xfrm>
        </p:grpSpPr>
        <p:pic>
          <p:nvPicPr>
            <p:cNvPr id="397" name="Picture 396">
              <a:extLst>
                <a:ext uri="{FF2B5EF4-FFF2-40B4-BE49-F238E27FC236}">
                  <a16:creationId xmlns:a16="http://schemas.microsoft.com/office/drawing/2014/main" id="{96B16887-AE06-E9DC-BE70-B9AB5DBF41E0}"/>
                </a:ext>
              </a:extLst>
            </p:cNvPr>
            <p:cNvPicPr>
              <a:picLocks noChangeAspect="1"/>
            </p:cNvPicPr>
            <p:nvPr/>
          </p:nvPicPr>
          <p:blipFill>
            <a:blip r:embed="rId17"/>
            <a:stretch>
              <a:fillRect/>
            </a:stretch>
          </p:blipFill>
          <p:spPr>
            <a:xfrm>
              <a:off x="14465357" y="12495738"/>
              <a:ext cx="2368979" cy="1053358"/>
            </a:xfrm>
            <a:prstGeom prst="rect">
              <a:avLst/>
            </a:prstGeom>
            <a:ln>
              <a:noFill/>
            </a:ln>
            <a:effectLst>
              <a:outerShdw blurRad="190500" algn="tl" rotWithShape="0">
                <a:srgbClr val="000000">
                  <a:alpha val="70000"/>
                </a:srgbClr>
              </a:outerShdw>
            </a:effectLst>
          </p:spPr>
        </p:pic>
        <p:sp>
          <p:nvSpPr>
            <p:cNvPr id="399" name="TextBox 398">
              <a:extLst>
                <a:ext uri="{FF2B5EF4-FFF2-40B4-BE49-F238E27FC236}">
                  <a16:creationId xmlns:a16="http://schemas.microsoft.com/office/drawing/2014/main" id="{5E6B2AAE-905B-683C-3BF6-EB099D74170B}"/>
                </a:ext>
              </a:extLst>
            </p:cNvPr>
            <p:cNvSpPr txBox="1"/>
            <p:nvPr/>
          </p:nvSpPr>
          <p:spPr>
            <a:xfrm>
              <a:off x="14465357" y="13558528"/>
              <a:ext cx="2368979"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Figure (6)</a:t>
              </a:r>
              <a:endParaRPr lang="en-US" sz="1200" b="1" dirty="0">
                <a:solidFill>
                  <a:srgbClr val="C1E4F5"/>
                </a:solidFill>
                <a:latin typeface="Copperplate Gothic Bold" panose="020E0705020206020404" pitchFamily="34" charset="0"/>
              </a:endParaRPr>
            </a:p>
          </p:txBody>
        </p:sp>
      </p:grpSp>
      <p:sp>
        <p:nvSpPr>
          <p:cNvPr id="417" name="TextBox 416">
            <a:extLst>
              <a:ext uri="{FF2B5EF4-FFF2-40B4-BE49-F238E27FC236}">
                <a16:creationId xmlns:a16="http://schemas.microsoft.com/office/drawing/2014/main" id="{4598E802-A684-8988-6136-DDB904E1F2F7}"/>
              </a:ext>
            </a:extLst>
          </p:cNvPr>
          <p:cNvSpPr txBox="1"/>
          <p:nvPr/>
        </p:nvSpPr>
        <p:spPr>
          <a:xfrm>
            <a:off x="11190861" y="1896466"/>
            <a:ext cx="3834934" cy="2933111"/>
          </a:xfrm>
          <a:prstGeom prst="rect">
            <a:avLst/>
          </a:prstGeom>
          <a:noFill/>
        </p:spPr>
        <p:txBody>
          <a:bodyPr wrap="square" rtlCol="0">
            <a:spAutoFit/>
          </a:bodyPr>
          <a:lstStyle/>
          <a:p>
            <a:pPr>
              <a:lnSpc>
                <a:spcPct val="90000"/>
              </a:lnSpc>
              <a:spcAft>
                <a:spcPts val="600"/>
              </a:spcAft>
            </a:pPr>
            <a:r>
              <a:rPr lang="en-US" sz="1800" b="1" dirty="0">
                <a:solidFill>
                  <a:srgbClr val="00232E"/>
                </a:solidFill>
                <a:effectLst/>
                <a:latin typeface="Agency FB" panose="020B0503020202020204" pitchFamily="34" charset="0"/>
                <a:ea typeface="Aptos" panose="020B0004020202020204" pitchFamily="34" charset="0"/>
                <a:cs typeface="Arial" panose="020B0604020202020204" pitchFamily="34" charset="0"/>
              </a:rPr>
              <a:t>3-A pH sensor: </a:t>
            </a:r>
            <a:r>
              <a:rPr lang="en-US" sz="1800" dirty="0">
                <a:solidFill>
                  <a:srgbClr val="00232E"/>
                </a:solidFill>
                <a:latin typeface="Agency FB" panose="020B0503020202020204" pitchFamily="34" charset="0"/>
              </a:rPr>
              <a:t>Tracks water acidity/alkalinity </a:t>
            </a:r>
            <a:br>
              <a:rPr lang="en-US" sz="1800" dirty="0">
                <a:solidFill>
                  <a:srgbClr val="00232E"/>
                </a:solidFill>
                <a:latin typeface="Agency FB" panose="020B0503020202020204" pitchFamily="34" charset="0"/>
              </a:rPr>
            </a:br>
            <a:r>
              <a:rPr lang="en-US" sz="1800" dirty="0">
                <a:solidFill>
                  <a:srgbClr val="00232E"/>
                </a:solidFill>
                <a:latin typeface="Agency FB" panose="020B0503020202020204" pitchFamily="34" charset="0"/>
              </a:rPr>
              <a:t>to ensure safe levels </a:t>
            </a:r>
            <a:r>
              <a:rPr lang="en-US" sz="1800" b="1" dirty="0">
                <a:solidFill>
                  <a:srgbClr val="00232E"/>
                </a:solidFill>
                <a:latin typeface="Agency FB" panose="020B0503020202020204" pitchFamily="34" charset="0"/>
              </a:rPr>
              <a:t>Fig (6)</a:t>
            </a:r>
            <a:br>
              <a:rPr lang="ar-EG" sz="1800" b="1" u="sng"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r>
              <a:rPr lang="en-US" sz="1800" b="1" u="sng" dirty="0">
                <a:solidFill>
                  <a:srgbClr val="00232E"/>
                </a:solidFill>
                <a:effectLst/>
                <a:latin typeface="Agency FB" panose="020B0503020202020204" pitchFamily="34" charset="0"/>
                <a:ea typeface="Aptos" panose="020B0004020202020204" pitchFamily="34" charset="0"/>
                <a:cs typeface="Arial" panose="020B0604020202020204" pitchFamily="34" charset="0"/>
              </a:rPr>
              <a:t>-Dashboard:</a:t>
            </a:r>
          </a:p>
          <a:p>
            <a:pPr>
              <a:lnSpc>
                <a:spcPct val="90000"/>
              </a:lnSpc>
            </a:pPr>
            <a:r>
              <a:rPr lang="en-US" b="1" dirty="0">
                <a:solidFill>
                  <a:srgbClr val="00232E"/>
                </a:solidFill>
                <a:effectLst/>
                <a:latin typeface="Agency FB" panose="020B0503020202020204" pitchFamily="34" charset="0"/>
                <a:ea typeface="Aptos" panose="020B0004020202020204" pitchFamily="34" charset="0"/>
                <a:cs typeface="Arial" panose="020B0604020202020204" pitchFamily="34" charset="0"/>
              </a:rPr>
              <a:t> </a:t>
            </a:r>
            <a:r>
              <a:rPr lang="en-US" dirty="0">
                <a:solidFill>
                  <a:srgbClr val="00232E"/>
                </a:solidFill>
                <a:latin typeface="Agency FB" panose="020B0503020202020204" pitchFamily="34" charset="0"/>
              </a:rPr>
              <a:t>Using </a:t>
            </a:r>
            <a:r>
              <a:rPr lang="en-US" b="1" dirty="0">
                <a:solidFill>
                  <a:srgbClr val="00232E"/>
                </a:solidFill>
                <a:latin typeface="Agency FB" panose="020B0503020202020204" pitchFamily="34" charset="0"/>
              </a:rPr>
              <a:t>Blynk</a:t>
            </a:r>
            <a:r>
              <a:rPr lang="en-US" dirty="0">
                <a:solidFill>
                  <a:srgbClr val="00232E"/>
                </a:solidFill>
                <a:latin typeface="Agency FB" panose="020B0503020202020204" pitchFamily="34" charset="0"/>
              </a:rPr>
              <a:t>, real-time sensor data (pH, temperature, </a:t>
            </a:r>
          </a:p>
          <a:p>
            <a:pPr>
              <a:lnSpc>
                <a:spcPct val="90000"/>
              </a:lnSpc>
            </a:pPr>
            <a:r>
              <a:rPr lang="en-US" dirty="0">
                <a:solidFill>
                  <a:srgbClr val="00232E"/>
                </a:solidFill>
                <a:latin typeface="Agency FB" panose="020B0503020202020204" pitchFamily="34" charset="0"/>
              </a:rPr>
              <a:t>water level, flow rate) is visualized remotely with graphs,</a:t>
            </a:r>
          </a:p>
          <a:p>
            <a:pPr>
              <a:lnSpc>
                <a:spcPct val="90000"/>
              </a:lnSpc>
            </a:pPr>
            <a:r>
              <a:rPr lang="en-US" dirty="0">
                <a:solidFill>
                  <a:srgbClr val="00232E"/>
                </a:solidFill>
                <a:latin typeface="Agency FB" panose="020B0503020202020204" pitchFamily="34" charset="0"/>
              </a:rPr>
              <a:t> gauges, and notifications as shown in fig (7). Data is logged</a:t>
            </a:r>
          </a:p>
          <a:p>
            <a:pPr>
              <a:lnSpc>
                <a:spcPct val="90000"/>
              </a:lnSpc>
            </a:pPr>
            <a:r>
              <a:rPr lang="en-US" dirty="0">
                <a:solidFill>
                  <a:srgbClr val="00232E"/>
                </a:solidFill>
                <a:latin typeface="Agency FB" panose="020B0503020202020204" pitchFamily="34" charset="0"/>
              </a:rPr>
              <a:t> into Excel for analysis.</a:t>
            </a:r>
          </a:p>
          <a:p>
            <a:pPr>
              <a:lnSpc>
                <a:spcPct val="90000"/>
              </a:lnSpc>
              <a:buFont typeface="Arial" panose="020B0604020202020204" pitchFamily="34" charset="0"/>
              <a:buChar char="•"/>
            </a:pPr>
            <a:r>
              <a:rPr lang="en-US" b="1" dirty="0">
                <a:solidFill>
                  <a:srgbClr val="00232E"/>
                </a:solidFill>
                <a:latin typeface="Agency FB" panose="020B0503020202020204" pitchFamily="34" charset="0"/>
              </a:rPr>
              <a:t>Real-Time Visualization</a:t>
            </a:r>
            <a:r>
              <a:rPr lang="en-US" dirty="0">
                <a:solidFill>
                  <a:srgbClr val="00232E"/>
                </a:solidFill>
                <a:latin typeface="Agency FB" panose="020B0503020202020204" pitchFamily="34" charset="0"/>
              </a:rPr>
              <a:t>: Custom widgets display data.</a:t>
            </a:r>
          </a:p>
          <a:p>
            <a:pPr>
              <a:lnSpc>
                <a:spcPct val="90000"/>
              </a:lnSpc>
              <a:buFont typeface="Arial" panose="020B0604020202020204" pitchFamily="34" charset="0"/>
              <a:buChar char="•"/>
            </a:pPr>
            <a:r>
              <a:rPr lang="en-US" b="1" dirty="0">
                <a:solidFill>
                  <a:srgbClr val="00232E"/>
                </a:solidFill>
                <a:latin typeface="Agency FB" panose="020B0503020202020204" pitchFamily="34" charset="0"/>
              </a:rPr>
              <a:t>Alerts</a:t>
            </a:r>
            <a:r>
              <a:rPr lang="en-US" dirty="0">
                <a:solidFill>
                  <a:srgbClr val="00232E"/>
                </a:solidFill>
                <a:latin typeface="Agency FB" panose="020B0503020202020204" pitchFamily="34" charset="0"/>
              </a:rPr>
              <a:t>: Push notifications warn of unsafe conditions.</a:t>
            </a:r>
          </a:p>
          <a:p>
            <a:pPr>
              <a:lnSpc>
                <a:spcPct val="90000"/>
              </a:lnSpc>
              <a:buFont typeface="Arial" panose="020B0604020202020204" pitchFamily="34" charset="0"/>
              <a:buChar char="•"/>
            </a:pPr>
            <a:r>
              <a:rPr lang="en-US" b="1" dirty="0">
                <a:solidFill>
                  <a:srgbClr val="00232E"/>
                </a:solidFill>
                <a:latin typeface="Agency FB" panose="020B0503020202020204" pitchFamily="34" charset="0"/>
              </a:rPr>
              <a:t>Data Logging</a:t>
            </a:r>
            <a:r>
              <a:rPr lang="en-US" dirty="0">
                <a:solidFill>
                  <a:srgbClr val="00232E"/>
                </a:solidFill>
                <a:latin typeface="Agency FB" panose="020B0503020202020204" pitchFamily="34" charset="0"/>
              </a:rPr>
              <a:t>: Ensures systematic storage for trends and</a:t>
            </a:r>
          </a:p>
          <a:p>
            <a:pPr>
              <a:lnSpc>
                <a:spcPct val="90000"/>
              </a:lnSpc>
              <a:buFont typeface="Arial" panose="020B0604020202020204" pitchFamily="34" charset="0"/>
              <a:buChar char="•"/>
            </a:pPr>
            <a:r>
              <a:rPr lang="en-US" dirty="0">
                <a:solidFill>
                  <a:srgbClr val="00232E"/>
                </a:solidFill>
                <a:latin typeface="Agency FB" panose="020B0503020202020204" pitchFamily="34" charset="0"/>
              </a:rPr>
              <a:t> analysis.</a:t>
            </a:r>
          </a:p>
          <a:p>
            <a:pPr>
              <a:lnSpc>
                <a:spcPct val="90000"/>
              </a:lnSpc>
            </a:pPr>
            <a:br>
              <a:rPr lang="en-US"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endParaRPr lang="en-US" dirty="0">
              <a:solidFill>
                <a:srgbClr val="00232E"/>
              </a:solidFill>
              <a:latin typeface="Agency FB" panose="020B0503020202020204" pitchFamily="34" charset="0"/>
            </a:endParaRPr>
          </a:p>
        </p:txBody>
      </p:sp>
      <p:sp>
        <p:nvSpPr>
          <p:cNvPr id="421" name="TextBox 420">
            <a:extLst>
              <a:ext uri="{FF2B5EF4-FFF2-40B4-BE49-F238E27FC236}">
                <a16:creationId xmlns:a16="http://schemas.microsoft.com/office/drawing/2014/main" id="{A14052F4-C8AD-7E1C-13B5-DD4C1336CA6D}"/>
              </a:ext>
            </a:extLst>
          </p:cNvPr>
          <p:cNvSpPr txBox="1"/>
          <p:nvPr/>
        </p:nvSpPr>
        <p:spPr>
          <a:xfrm>
            <a:off x="14905444" y="5298923"/>
            <a:ext cx="1875564" cy="32394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Figure (7)</a:t>
            </a:r>
            <a:endParaRPr lang="en-US" sz="1200" b="1" dirty="0">
              <a:solidFill>
                <a:srgbClr val="C1E4F5"/>
              </a:solidFill>
              <a:latin typeface="Copperplate Gothic Bold" panose="020E0705020206020404" pitchFamily="34" charset="0"/>
            </a:endParaRPr>
          </a:p>
        </p:txBody>
      </p:sp>
      <p:sp>
        <p:nvSpPr>
          <p:cNvPr id="433" name="TextBox 432">
            <a:extLst>
              <a:ext uri="{FF2B5EF4-FFF2-40B4-BE49-F238E27FC236}">
                <a16:creationId xmlns:a16="http://schemas.microsoft.com/office/drawing/2014/main" id="{3C5FFD3B-3AA8-F527-0E4E-F858403A7613}"/>
              </a:ext>
            </a:extLst>
          </p:cNvPr>
          <p:cNvSpPr txBox="1"/>
          <p:nvPr/>
        </p:nvSpPr>
        <p:spPr>
          <a:xfrm>
            <a:off x="6003945" y="14623661"/>
            <a:ext cx="5287709" cy="1255728"/>
          </a:xfrm>
          <a:prstGeom prst="rect">
            <a:avLst/>
          </a:prstGeom>
          <a:noFill/>
        </p:spPr>
        <p:txBody>
          <a:bodyPr wrap="square" rtlCol="0">
            <a:spAutoFit/>
          </a:bodyPr>
          <a:lstStyle/>
          <a:p>
            <a:pPr>
              <a:lnSpc>
                <a:spcPct val="90000"/>
              </a:lnSpc>
            </a:pPr>
            <a:r>
              <a:rPr lang="en-US" b="1" dirty="0">
                <a:solidFill>
                  <a:srgbClr val="00232E"/>
                </a:solidFill>
                <a:latin typeface="Agency FB" panose="020B0503020202020204" pitchFamily="34" charset="0"/>
              </a:rPr>
              <a:t>Egypt Grand Challenges: Advancing Society: </a:t>
            </a:r>
            <a:r>
              <a:rPr lang="en-US" dirty="0">
                <a:solidFill>
                  <a:srgbClr val="00232E"/>
                </a:solidFill>
                <a:latin typeface="Agency FB" panose="020B0503020202020204" pitchFamily="34" charset="0"/>
              </a:rPr>
              <a:t>This program aligns with Egypt's efforts to advance technology in agriculture, promoting smarter development in the aquaculture industry through innovative, tech-driven solutions. By ensuring optimal water quality, the system supports sustainable freshwater resource management, contributing to both agricultural efficiency and environmental conservation.</a:t>
            </a:r>
          </a:p>
          <a:p>
            <a:pPr>
              <a:lnSpc>
                <a:spcPct val="90000"/>
              </a:lnSpc>
            </a:pPr>
            <a:r>
              <a:rPr lang="en-US" dirty="0"/>
              <a:t>   </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CA5FF8E-170B-F269-3950-DAF52FF5F2BB}"/>
                  </a:ext>
                </a:extLst>
              </p:cNvPr>
              <p:cNvSpPr txBox="1"/>
              <p:nvPr/>
            </p:nvSpPr>
            <p:spPr>
              <a:xfrm>
                <a:off x="14251417" y="5960564"/>
                <a:ext cx="2796499" cy="906402"/>
              </a:xfrm>
              <a:prstGeom prst="rect">
                <a:avLst/>
              </a:prstGeom>
              <a:noFill/>
            </p:spPr>
            <p:txBody>
              <a:bodyPr wrap="square" rtlCol="0">
                <a:spAutoFit/>
              </a:bodyPr>
              <a:lstStyle/>
              <a:p>
                <a:pPr marL="0" marR="0">
                  <a:lnSpc>
                    <a:spcPct val="115000"/>
                  </a:lnSpc>
                  <a:spcAft>
                    <a:spcPts val="800"/>
                  </a:spcAft>
                </a:pPr>
                <a: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-Total DO Calculation: The total DO in the tank is calculated as:</a:t>
                </a:r>
                <a:b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14:m>
                  <m:oMathPara xmlns:m="http://schemas.openxmlformats.org/officeDocument/2006/math">
                    <m:oMathParaPr>
                      <m:jc m:val="left"/>
                    </m:oMathParaPr>
                    <m:oMath xmlns:m="http://schemas.openxmlformats.org/officeDocument/2006/math">
                      <m:sSub>
                        <m:sSubPr>
                          <m:ctrlPr>
                            <a:rPr lang="en-US" b="1" i="1" smtClean="0">
                              <a:solidFill>
                                <a:srgbClr val="00232E"/>
                              </a:solidFill>
                              <a:effectLst/>
                              <a:latin typeface="Cambria Math" panose="02040503050406030204" pitchFamily="18" charset="0"/>
                            </a:rPr>
                          </m:ctrlPr>
                        </m:sSubPr>
                        <m:e>
                          <m:r>
                            <a:rPr lang="en-US" sz="1800" b="1" i="1">
                              <a:solidFill>
                                <a:srgbClr val="00232E"/>
                              </a:solidFill>
                              <a:effectLst/>
                              <a:latin typeface="Cambria Math" panose="02040503050406030204" pitchFamily="18" charset="0"/>
                              <a:ea typeface="Aptos" panose="020B0004020202020204" pitchFamily="34" charset="0"/>
                              <a:cs typeface="Arial" panose="020B0604020202020204" pitchFamily="34" charset="0"/>
                            </a:rPr>
                            <m:t>𝑫𝑶</m:t>
                          </m:r>
                        </m:e>
                        <m:sub>
                          <m:r>
                            <a:rPr lang="en-US" sz="1800" b="1" i="1">
                              <a:solidFill>
                                <a:srgbClr val="00232E"/>
                              </a:solidFill>
                              <a:effectLst/>
                              <a:latin typeface="Cambria Math" panose="02040503050406030204" pitchFamily="18" charset="0"/>
                              <a:ea typeface="Aptos" panose="020B0004020202020204" pitchFamily="34" charset="0"/>
                              <a:cs typeface="Arial" panose="020B0604020202020204" pitchFamily="34" charset="0"/>
                            </a:rPr>
                            <m:t>𝒕𝒐𝒕𝒂𝒍</m:t>
                          </m:r>
                          <m:r>
                            <a:rPr lang="en-US" sz="1800" b="1" i="1">
                              <a:solidFill>
                                <a:srgbClr val="00232E"/>
                              </a:solidFill>
                              <a:effectLst/>
                              <a:latin typeface="Cambria Math" panose="02040503050406030204" pitchFamily="18" charset="0"/>
                              <a:ea typeface="Aptos" panose="020B0004020202020204" pitchFamily="34" charset="0"/>
                              <a:cs typeface="Arial" panose="020B0604020202020204" pitchFamily="34" charset="0"/>
                            </a:rPr>
                            <m:t>​</m:t>
                          </m:r>
                        </m:sub>
                      </m:sSub>
                      <m:r>
                        <a:rPr lang="en-US" sz="1800" b="1" i="1">
                          <a:solidFill>
                            <a:srgbClr val="00232E"/>
                          </a:solidFill>
                          <a:effectLst/>
                          <a:latin typeface="Cambria Math" panose="02040503050406030204" pitchFamily="18" charset="0"/>
                          <a:ea typeface="Aptos" panose="020B0004020202020204" pitchFamily="34" charset="0"/>
                          <a:cs typeface="Arial" panose="020B0604020202020204" pitchFamily="34" charset="0"/>
                        </a:rPr>
                        <m:t>=</m:t>
                      </m:r>
                      <m:sSub>
                        <m:sSubPr>
                          <m:ctrlPr>
                            <a:rPr lang="en-US" b="1" i="1">
                              <a:solidFill>
                                <a:srgbClr val="00232E"/>
                              </a:solidFill>
                              <a:effectLst/>
                              <a:latin typeface="Cambria Math" panose="02040503050406030204" pitchFamily="18" charset="0"/>
                            </a:rPr>
                          </m:ctrlPr>
                        </m:sSubPr>
                        <m:e>
                          <m:r>
                            <a:rPr lang="en-US" sz="1800" b="1" i="1">
                              <a:solidFill>
                                <a:srgbClr val="00232E"/>
                              </a:solidFill>
                              <a:effectLst/>
                              <a:latin typeface="Cambria Math" panose="02040503050406030204" pitchFamily="18" charset="0"/>
                              <a:ea typeface="Aptos" panose="020B0004020202020204" pitchFamily="34" charset="0"/>
                              <a:cs typeface="Arial" panose="020B0604020202020204" pitchFamily="34" charset="0"/>
                            </a:rPr>
                            <m:t>𝑫𝑶</m:t>
                          </m:r>
                        </m:e>
                        <m:sub>
                          <m:r>
                            <a:rPr lang="en-US" sz="1800" b="1" i="1">
                              <a:solidFill>
                                <a:srgbClr val="00232E"/>
                              </a:solidFill>
                              <a:effectLst/>
                              <a:latin typeface="Cambria Math" panose="02040503050406030204" pitchFamily="18" charset="0"/>
                              <a:ea typeface="Aptos" panose="020B0004020202020204" pitchFamily="34" charset="0"/>
                              <a:cs typeface="Arial" panose="020B0604020202020204" pitchFamily="34" charset="0"/>
                            </a:rPr>
                            <m:t>𝒇𝒊𝒍𝒕𝒆𝒓</m:t>
                          </m:r>
                        </m:sub>
                      </m:sSub>
                      <m:r>
                        <a:rPr lang="en-US" sz="1800" b="1" i="1">
                          <a:solidFill>
                            <a:srgbClr val="00232E"/>
                          </a:solidFill>
                          <a:effectLst/>
                          <a:latin typeface="Cambria Math" panose="02040503050406030204" pitchFamily="18" charset="0"/>
                          <a:ea typeface="Aptos" panose="020B0004020202020204" pitchFamily="34" charset="0"/>
                          <a:cs typeface="Arial" panose="020B0604020202020204" pitchFamily="34" charset="0"/>
                        </a:rPr>
                        <m:t>​+</m:t>
                      </m:r>
                      <m:r>
                        <a:rPr lang="en-US" sz="1800" b="1" i="1">
                          <a:solidFill>
                            <a:srgbClr val="00232E"/>
                          </a:solidFill>
                          <a:effectLst/>
                          <a:latin typeface="Cambria Math" panose="02040503050406030204" pitchFamily="18" charset="0"/>
                          <a:ea typeface="Aptos" panose="020B0004020202020204" pitchFamily="34" charset="0"/>
                          <a:cs typeface="Arial" panose="020B0604020202020204" pitchFamily="34" charset="0"/>
                        </a:rPr>
                        <m:t>𝟓</m:t>
                      </m:r>
                    </m:oMath>
                  </m:oMathPara>
                </a14:m>
                <a:b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endPar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1CA5FF8E-170B-F269-3950-DAF52FF5F2BB}"/>
                  </a:ext>
                </a:extLst>
              </p:cNvPr>
              <p:cNvSpPr txBox="1">
                <a:spLocks noRot="1" noChangeAspect="1" noMove="1" noResize="1" noEditPoints="1" noAdjustHandles="1" noChangeArrowheads="1" noChangeShapeType="1" noTextEdit="1"/>
              </p:cNvSpPr>
              <p:nvPr/>
            </p:nvSpPr>
            <p:spPr>
              <a:xfrm>
                <a:off x="14251417" y="5960564"/>
                <a:ext cx="2796499" cy="906402"/>
              </a:xfrm>
              <a:prstGeom prst="rect">
                <a:avLst/>
              </a:prstGeom>
              <a:blipFill>
                <a:blip r:embed="rId18"/>
                <a:stretch>
                  <a:fillRect l="-654" t="-676" b="-3378"/>
                </a:stretch>
              </a:blipFill>
            </p:spPr>
            <p:txBody>
              <a:bodyPr/>
              <a:lstStyle/>
              <a:p>
                <a:r>
                  <a:rPr lang="en-US">
                    <a:noFill/>
                  </a:rPr>
                  <a:t> </a:t>
                </a:r>
              </a:p>
            </p:txBody>
          </p:sp>
        </mc:Fallback>
      </mc:AlternateContent>
      <p:cxnSp>
        <p:nvCxnSpPr>
          <p:cNvPr id="24" name="Straight Connector 23">
            <a:extLst>
              <a:ext uri="{FF2B5EF4-FFF2-40B4-BE49-F238E27FC236}">
                <a16:creationId xmlns:a16="http://schemas.microsoft.com/office/drawing/2014/main" id="{C0471C0F-40C9-E9C8-4AE3-4083B7D45985}"/>
              </a:ext>
            </a:extLst>
          </p:cNvPr>
          <p:cNvCxnSpPr>
            <a:cxnSpLocks/>
          </p:cNvCxnSpPr>
          <p:nvPr/>
        </p:nvCxnSpPr>
        <p:spPr>
          <a:xfrm>
            <a:off x="14147124" y="5991199"/>
            <a:ext cx="2175" cy="957184"/>
          </a:xfrm>
          <a:prstGeom prst="line">
            <a:avLst/>
          </a:prstGeom>
          <a:ln w="19050" cap="flat" cmpd="sng" algn="ctr">
            <a:solidFill>
              <a:srgbClr val="00232E"/>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6F6045A-E967-8B9D-78FB-68DD7CC1B696}"/>
                  </a:ext>
                </a:extLst>
              </p:cNvPr>
              <p:cNvSpPr txBox="1"/>
              <p:nvPr/>
            </p:nvSpPr>
            <p:spPr>
              <a:xfrm>
                <a:off x="11271185" y="4292288"/>
                <a:ext cx="3674285" cy="1313052"/>
              </a:xfrm>
              <a:prstGeom prst="rect">
                <a:avLst/>
              </a:prstGeom>
              <a:noFill/>
            </p:spPr>
            <p:txBody>
              <a:bodyPr wrap="square" rtlCol="0">
                <a:spAutoFit/>
              </a:bodyPr>
              <a:lstStyle/>
              <a:p>
                <a:pPr>
                  <a:spcAft>
                    <a:spcPts val="1200"/>
                  </a:spcAft>
                </a:pPr>
                <a:r>
                  <a:rPr lang="en-US" sz="1800" b="1" u="sng"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-Dissolved Oxygen (DO) Monitoring and Calculation:</a:t>
                </a:r>
                <a:r>
                  <a:rPr lang="en-US" sz="1800" b="1" u="sng" kern="100" dirty="0">
                    <a:solidFill>
                      <a:srgbClr val="00232E"/>
                    </a:solidFill>
                    <a:latin typeface="Agency FB" panose="020B0503020202020204" pitchFamily="34" charset="0"/>
                    <a:ea typeface="Aptos" panose="020B0004020202020204" pitchFamily="34" charset="0"/>
                    <a:cs typeface="Arial" panose="020B0604020202020204" pitchFamily="34" charset="0"/>
                  </a:rPr>
                  <a:t> </a:t>
                </a:r>
                <a:br>
                  <a:rPr lang="en-US" b="1" kern="100" dirty="0">
                    <a:solidFill>
                      <a:srgbClr val="00232E"/>
                    </a:solidFill>
                    <a:latin typeface="Agency FB" panose="020B0503020202020204" pitchFamily="34" charset="0"/>
                    <a:ea typeface="Aptos" panose="020B0004020202020204" pitchFamily="34" charset="0"/>
                    <a:cs typeface="Arial" panose="020B0604020202020204" pitchFamily="34" charset="0"/>
                  </a:rPr>
                </a:br>
                <a:r>
                  <a:rPr lang="en-US" b="1" kern="100" dirty="0">
                    <a:solidFill>
                      <a:srgbClr val="00232E"/>
                    </a:solidFill>
                    <a:latin typeface="Agency FB" panose="020B0503020202020204" pitchFamily="34" charset="0"/>
                    <a:ea typeface="Aptos" panose="020B0004020202020204" pitchFamily="34" charset="0"/>
                    <a:cs typeface="Arial" panose="020B0604020202020204" pitchFamily="34" charset="0"/>
                  </a:rPr>
                  <a:t>-</a:t>
                </a: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Water Flow from the Filter: The first equation calculates DO from the water filter flow, using a constant </a:t>
                </a:r>
                <a14:m>
                  <m:oMath xmlns:m="http://schemas.openxmlformats.org/officeDocument/2006/math">
                    <m:sSub>
                      <m:sSubPr>
                        <m:ctrlPr>
                          <a:rPr lang="en-US" b="1" i="1" kern="100">
                            <a:solidFill>
                              <a:srgbClr val="00232E"/>
                            </a:solidFill>
                            <a:effectLst/>
                            <a:latin typeface="Cambria Math" panose="02040503050406030204" pitchFamily="18" charset="0"/>
                            <a:ea typeface="Aptos" panose="020B0004020202020204" pitchFamily="34" charset="0"/>
                            <a:cs typeface="Arial" panose="020B0604020202020204" pitchFamily="34" charset="0"/>
                          </a:rPr>
                        </m:ctrlPr>
                      </m:sSubPr>
                      <m:e>
                        <m:r>
                          <a:rPr lang="en-US" b="1" i="1" kern="100" smtClean="0">
                            <a:solidFill>
                              <a:srgbClr val="00232E"/>
                            </a:solidFill>
                            <a:effectLst/>
                            <a:latin typeface="Cambria Math" panose="02040503050406030204" pitchFamily="18" charset="0"/>
                            <a:ea typeface="Aptos" panose="020B0004020202020204" pitchFamily="34" charset="0"/>
                            <a:cs typeface="Arial" panose="020B0604020202020204" pitchFamily="34" charset="0"/>
                          </a:rPr>
                          <m:t>𝑲</m:t>
                        </m:r>
                      </m:e>
                      <m:sub>
                        <m:r>
                          <a:rPr lang="en-US" b="1" i="1" kern="100" smtClean="0">
                            <a:solidFill>
                              <a:srgbClr val="00232E"/>
                            </a:solidFill>
                            <a:effectLst/>
                            <a:latin typeface="Cambria Math" panose="02040503050406030204" pitchFamily="18" charset="0"/>
                            <a:ea typeface="Aptos" panose="020B0004020202020204" pitchFamily="34" charset="0"/>
                            <a:cs typeface="Arial" panose="020B0604020202020204" pitchFamily="34" charset="0"/>
                          </a:rPr>
                          <m:t>𝒇𝒍𝒐𝒘</m:t>
                        </m:r>
                        <m:r>
                          <a:rPr lang="en-US" b="1" i="1" kern="100" smtClean="0">
                            <a:solidFill>
                              <a:srgbClr val="00232E"/>
                            </a:solidFill>
                            <a:effectLst/>
                            <a:latin typeface="Cambria Math" panose="02040503050406030204" pitchFamily="18" charset="0"/>
                            <a:ea typeface="Aptos" panose="020B0004020202020204" pitchFamily="34" charset="0"/>
                            <a:cs typeface="Arial" panose="020B0604020202020204" pitchFamily="34" charset="0"/>
                          </a:rPr>
                          <m:t>_</m:t>
                        </m:r>
                        <m:r>
                          <a:rPr lang="en-US" b="1" i="1" kern="100" smtClean="0">
                            <a:solidFill>
                              <a:srgbClr val="00232E"/>
                            </a:solidFill>
                            <a:effectLst/>
                            <a:latin typeface="Cambria Math" panose="02040503050406030204" pitchFamily="18" charset="0"/>
                            <a:ea typeface="Aptos" panose="020B0004020202020204" pitchFamily="34" charset="0"/>
                            <a:cs typeface="Arial" panose="020B0604020202020204" pitchFamily="34" charset="0"/>
                          </a:rPr>
                          <m:t>𝒇𝒊𝒍𝒕𝒆𝒓</m:t>
                        </m:r>
                        <m:r>
                          <a:rPr lang="en-US" b="1" i="1" kern="100" smtClean="0">
                            <a:solidFill>
                              <a:srgbClr val="00232E"/>
                            </a:solidFill>
                            <a:effectLst/>
                            <a:latin typeface="Cambria Math" panose="02040503050406030204" pitchFamily="18" charset="0"/>
                            <a:ea typeface="Aptos" panose="020B0004020202020204" pitchFamily="34" charset="0"/>
                            <a:cs typeface="Arial" panose="020B0604020202020204" pitchFamily="34" charset="0"/>
                          </a:rPr>
                          <m:t>   ​</m:t>
                        </m:r>
                      </m:sub>
                    </m:sSub>
                  </m:oMath>
                </a14:m>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where the flow rate is the volume of water filtered over time.</a:t>
                </a:r>
              </a:p>
            </p:txBody>
          </p:sp>
        </mc:Choice>
        <mc:Fallback xmlns="">
          <p:sp>
            <p:nvSpPr>
              <p:cNvPr id="28" name="TextBox 27">
                <a:extLst>
                  <a:ext uri="{FF2B5EF4-FFF2-40B4-BE49-F238E27FC236}">
                    <a16:creationId xmlns:a16="http://schemas.microsoft.com/office/drawing/2014/main" id="{86F6045A-E967-8B9D-78FB-68DD7CC1B696}"/>
                  </a:ext>
                </a:extLst>
              </p:cNvPr>
              <p:cNvSpPr txBox="1">
                <a:spLocks noRot="1" noChangeAspect="1" noMove="1" noResize="1" noEditPoints="1" noAdjustHandles="1" noChangeArrowheads="1" noChangeShapeType="1" noTextEdit="1"/>
              </p:cNvSpPr>
              <p:nvPr/>
            </p:nvSpPr>
            <p:spPr>
              <a:xfrm>
                <a:off x="11271185" y="4292288"/>
                <a:ext cx="3674285" cy="1313052"/>
              </a:xfrm>
              <a:prstGeom prst="rect">
                <a:avLst/>
              </a:prstGeom>
              <a:blipFill>
                <a:blip r:embed="rId19"/>
                <a:stretch>
                  <a:fillRect l="-1493" t="-2315" b="-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59E0EDE-2564-DA17-B087-858799A41208}"/>
                  </a:ext>
                </a:extLst>
              </p:cNvPr>
              <p:cNvSpPr txBox="1"/>
              <p:nvPr/>
            </p:nvSpPr>
            <p:spPr>
              <a:xfrm>
                <a:off x="11357021" y="5286123"/>
                <a:ext cx="3522585" cy="1052852"/>
              </a:xfrm>
              <a:prstGeom prst="rect">
                <a:avLst/>
              </a:prstGeom>
              <a:noFill/>
            </p:spPr>
            <p:txBody>
              <a:bodyPr wrap="square" rtlCol="0">
                <a:spAutoFit/>
              </a:bodyPr>
              <a:lstStyle/>
              <a:p>
                <a:pPr>
                  <a:lnSpc>
                    <a:spcPct val="115000"/>
                  </a:lnSpc>
                  <a:spcAft>
                    <a:spcPts val="800"/>
                  </a:spcAft>
                </a:pPr>
                <a:br>
                  <a:rPr lang="en-US" b="1" kern="100" dirty="0">
                    <a:solidFill>
                      <a:srgbClr val="00232E"/>
                    </a:solidFill>
                    <a:latin typeface="Agency FB" panose="020B0503020202020204" pitchFamily="34" charset="0"/>
                    <a:ea typeface="Aptos" panose="020B0004020202020204" pitchFamily="34" charset="0"/>
                    <a:cs typeface="Arial" panose="020B0604020202020204" pitchFamily="34" charset="0"/>
                  </a:rPr>
                </a:br>
                <a14:m>
                  <m:oMath xmlns:m="http://schemas.openxmlformats.org/officeDocument/2006/math">
                    <m:r>
                      <a:rPr lang="en-US" b="1" kern="100">
                        <a:solidFill>
                          <a:srgbClr val="00232E"/>
                        </a:solidFill>
                        <a:latin typeface="Cambria Math" panose="02040503050406030204" pitchFamily="18" charset="0"/>
                        <a:ea typeface="Cambria Math" panose="02040503050406030204" pitchFamily="18" charset="0"/>
                        <a:cs typeface="Arial" panose="020B0604020202020204" pitchFamily="34" charset="0"/>
                      </a:rPr>
                      <m:t>−</m:t>
                    </m:r>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𝑫𝑶𝒇𝒊𝒍𝒕𝒆𝒓</m:t>
                    </m:r>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m:t>
                    </m:r>
                    <m:f>
                      <m:fPr>
                        <m:ctrlP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ctrlPr>
                      </m:fPr>
                      <m:num>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𝑲𝒕𝒆𝒎𝒑</m:t>
                        </m:r>
                      </m:num>
                      <m:den>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𝑻</m:t>
                        </m:r>
                      </m:den>
                    </m:f>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ctrlPr>
                      </m:sSubPr>
                      <m:e>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𝑲</m:t>
                        </m:r>
                      </m:e>
                      <m:sub>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𝒇𝒍𝒐𝒘</m:t>
                        </m:r>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_</m:t>
                        </m:r>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𝒇𝒊𝒍𝒕𝒆𝒓</m:t>
                        </m:r>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m:t>
                        </m:r>
                      </m:sub>
                    </m:sSub>
                  </m:oMath>
                </a14:m>
                <a:r>
                  <a:rPr lang="en-US" b="1" kern="100" dirty="0">
                    <a:solidFill>
                      <a:srgbClr val="00232E"/>
                    </a:solidFill>
                    <a:latin typeface="Cambria Math" panose="02040503050406030204" pitchFamily="18" charset="0"/>
                    <a:ea typeface="Cambria Math" panose="02040503050406030204" pitchFamily="18" charset="0"/>
                    <a:cs typeface="Arial" panose="020B0604020202020204" pitchFamily="34" charset="0"/>
                  </a:rPr>
                  <a:t>*</a:t>
                </a:r>
                <a14:m>
                  <m:oMath xmlns:m="http://schemas.openxmlformats.org/officeDocument/2006/math">
                    <m:r>
                      <a:rPr lang="en-US" sz="1200" b="1" i="1">
                        <a:solidFill>
                          <a:srgbClr val="00232E"/>
                        </a:solidFill>
                        <a:latin typeface="Cambria Math" panose="02040503050406030204" pitchFamily="18" charset="0"/>
                        <a:ea typeface="Cambria Math" panose="02040503050406030204" pitchFamily="18" charset="0"/>
                      </a:rPr>
                      <m:t>𝑭𝑳𝑶𝑾</m:t>
                    </m:r>
                  </m:oMath>
                </a14:m>
                <a:endParaRPr lang="en-US" sz="1200" b="1" dirty="0">
                  <a:solidFill>
                    <a:srgbClr val="00232E"/>
                  </a:solidFill>
                  <a:latin typeface="Cambria Math" panose="02040503050406030204" pitchFamily="18" charset="0"/>
                  <a:ea typeface="Cambria Math" panose="02040503050406030204" pitchFamily="18" charset="0"/>
                </a:endParaRPr>
              </a:p>
              <a:p>
                <a:pPr>
                  <a:lnSpc>
                    <a:spcPct val="115000"/>
                  </a:lnSpc>
                  <a:spcAft>
                    <a:spcPts val="800"/>
                  </a:spcAft>
                </a:pPr>
                <a:endParaRPr lang="en-US" sz="1600" b="1" kern="100" dirty="0">
                  <a:solidFill>
                    <a:srgbClr val="00232E"/>
                  </a:solidFill>
                  <a:latin typeface="Agency FB" panose="020B0503020202020204" pitchFamily="34" charset="0"/>
                  <a:ea typeface="Aptos" panose="020B0004020202020204" pitchFamily="34" charset="0"/>
                  <a:cs typeface="Arial" panose="020B0604020202020204" pitchFamily="34" charset="0"/>
                </a:endParaRPr>
              </a:p>
            </p:txBody>
          </p:sp>
        </mc:Choice>
        <mc:Fallback xmlns="">
          <p:sp>
            <p:nvSpPr>
              <p:cNvPr id="29" name="TextBox 28">
                <a:extLst>
                  <a:ext uri="{FF2B5EF4-FFF2-40B4-BE49-F238E27FC236}">
                    <a16:creationId xmlns:a16="http://schemas.microsoft.com/office/drawing/2014/main" id="{259E0EDE-2564-DA17-B087-858799A41208}"/>
                  </a:ext>
                </a:extLst>
              </p:cNvPr>
              <p:cNvSpPr txBox="1">
                <a:spLocks noRot="1" noChangeAspect="1" noMove="1" noResize="1" noEditPoints="1" noAdjustHandles="1" noChangeArrowheads="1" noChangeShapeType="1" noTextEdit="1"/>
              </p:cNvSpPr>
              <p:nvPr/>
            </p:nvSpPr>
            <p:spPr>
              <a:xfrm>
                <a:off x="11357021" y="5286123"/>
                <a:ext cx="3522585" cy="1052852"/>
              </a:xfrm>
              <a:prstGeom prst="rect">
                <a:avLst/>
              </a:prstGeom>
              <a:blipFill>
                <a:blip r:embed="rId20"/>
                <a:stretch>
                  <a:fillRect/>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BCC68F05-62C6-4E06-EAC1-582EFE3ECD49}"/>
              </a:ext>
            </a:extLst>
          </p:cNvPr>
          <p:cNvSpPr txBox="1"/>
          <p:nvPr/>
        </p:nvSpPr>
        <p:spPr>
          <a:xfrm>
            <a:off x="11261390" y="5867008"/>
            <a:ext cx="2894534" cy="1323439"/>
          </a:xfrm>
          <a:prstGeom prst="rect">
            <a:avLst/>
          </a:prstGeom>
          <a:noFill/>
        </p:spPr>
        <p:txBody>
          <a:bodyPr wrap="square" rtlCol="0">
            <a:spAutoFit/>
          </a:bodyPr>
          <a:lstStyle/>
          <a:p>
            <a:r>
              <a:rPr lang="en-US" sz="1600" b="1" i="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-DO Calculation from Two Sources of Oxygenation:</a:t>
            </a:r>
            <a:r>
              <a:rPr lang="en-US" sz="1200" b="1" kern="100" dirty="0">
                <a:solidFill>
                  <a:srgbClr val="00232E"/>
                </a:solidFill>
                <a:latin typeface="Agency FB" panose="020B0503020202020204" pitchFamily="34" charset="0"/>
                <a:ea typeface="Aptos" panose="020B0004020202020204" pitchFamily="34" charset="0"/>
                <a:cs typeface="Arial" panose="020B0604020202020204" pitchFamily="34" charset="0"/>
              </a:rPr>
              <a:t>-</a:t>
            </a:r>
            <a:r>
              <a:rPr lang="en-US" sz="1200" kern="100" dirty="0">
                <a:solidFill>
                  <a:srgbClr val="00232E"/>
                </a:solidFill>
                <a:latin typeface="Agency FB" panose="020B0503020202020204" pitchFamily="34" charset="0"/>
                <a:ea typeface="Aptos" panose="020B0004020202020204" pitchFamily="34" charset="0"/>
                <a:cs typeface="Arial" panose="020B0604020202020204" pitchFamily="34" charset="0"/>
              </a:rPr>
              <a:t>Air Flow from the Pump:</a:t>
            </a:r>
            <a:br>
              <a:rPr lang="en-US" sz="12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r>
              <a:rPr lang="en-US" sz="12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Through multiple trials, it was observed that the oxygen pump consistently increases DO by 5 mg/L. This increase is treated as a constant.</a:t>
            </a:r>
            <a:endParaRPr lang="en-US" sz="1200" dirty="0">
              <a:solidFill>
                <a:srgbClr val="00232E"/>
              </a:solidFill>
              <a:latin typeface="Agency FB" panose="020B0503020202020204" pitchFamily="34" charset="0"/>
            </a:endParaRPr>
          </a:p>
          <a:p>
            <a:endParaRPr lang="en-US" sz="1200" dirty="0"/>
          </a:p>
        </p:txBody>
      </p:sp>
      <p:pic>
        <p:nvPicPr>
          <p:cNvPr id="38" name="Picture 37" descr="A graph showing the temperature of a temperature&#10;&#10;Description automatically generated with medium confidence">
            <a:extLst>
              <a:ext uri="{FF2B5EF4-FFF2-40B4-BE49-F238E27FC236}">
                <a16:creationId xmlns:a16="http://schemas.microsoft.com/office/drawing/2014/main" id="{26C7E744-92AE-FF09-5B70-F363FB01DE81}"/>
              </a:ext>
            </a:extLst>
          </p:cNvPr>
          <p:cNvPicPr>
            <a:picLocks noChangeAspect="1"/>
          </p:cNvPicPr>
          <p:nvPr/>
        </p:nvPicPr>
        <p:blipFill>
          <a:blip r:embed="rId21"/>
          <a:stretch>
            <a:fillRect/>
          </a:stretch>
        </p:blipFill>
        <p:spPr>
          <a:xfrm>
            <a:off x="11395421" y="7319601"/>
            <a:ext cx="2610821" cy="1209377"/>
          </a:xfrm>
          <a:prstGeom prst="rect">
            <a:avLst/>
          </a:prstGeom>
        </p:spPr>
      </p:pic>
      <p:pic>
        <p:nvPicPr>
          <p:cNvPr id="41" name="Picture 40" descr="A graph with a line&#10;&#10;Description automatically generated">
            <a:extLst>
              <a:ext uri="{FF2B5EF4-FFF2-40B4-BE49-F238E27FC236}">
                <a16:creationId xmlns:a16="http://schemas.microsoft.com/office/drawing/2014/main" id="{D123CA07-3231-2A37-0814-3F7E40C6297B}"/>
              </a:ext>
            </a:extLst>
          </p:cNvPr>
          <p:cNvPicPr>
            <a:picLocks noChangeAspect="1"/>
          </p:cNvPicPr>
          <p:nvPr/>
        </p:nvPicPr>
        <p:blipFill>
          <a:blip r:embed="rId22"/>
          <a:stretch>
            <a:fillRect/>
          </a:stretch>
        </p:blipFill>
        <p:spPr>
          <a:xfrm>
            <a:off x="14194098" y="7319601"/>
            <a:ext cx="2610820" cy="1209376"/>
          </a:xfrm>
          <a:prstGeom prst="rect">
            <a:avLst/>
          </a:prstGeom>
        </p:spPr>
      </p:pic>
      <p:sp>
        <p:nvSpPr>
          <p:cNvPr id="63" name="TextBox 62">
            <a:extLst>
              <a:ext uri="{FF2B5EF4-FFF2-40B4-BE49-F238E27FC236}">
                <a16:creationId xmlns:a16="http://schemas.microsoft.com/office/drawing/2014/main" id="{5096766D-EECC-0617-7475-6E2EB7DACEC2}"/>
              </a:ext>
            </a:extLst>
          </p:cNvPr>
          <p:cNvSpPr txBox="1"/>
          <p:nvPr/>
        </p:nvSpPr>
        <p:spPr>
          <a:xfrm>
            <a:off x="14190865" y="8528977"/>
            <a:ext cx="2610820"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Graph (5)</a:t>
            </a:r>
            <a:endParaRPr lang="en-US" sz="1200" b="1" dirty="0">
              <a:solidFill>
                <a:srgbClr val="C1E4F5"/>
              </a:solidFill>
              <a:latin typeface="Copperplate Gothic Bold" panose="020E0705020206020404" pitchFamily="34" charset="0"/>
            </a:endParaRPr>
          </a:p>
        </p:txBody>
      </p:sp>
      <p:sp>
        <p:nvSpPr>
          <p:cNvPr id="450" name="TextBox 449">
            <a:extLst>
              <a:ext uri="{FF2B5EF4-FFF2-40B4-BE49-F238E27FC236}">
                <a16:creationId xmlns:a16="http://schemas.microsoft.com/office/drawing/2014/main" id="{1A202912-CA30-B5DE-BFB3-6C735E1D1D81}"/>
              </a:ext>
            </a:extLst>
          </p:cNvPr>
          <p:cNvSpPr txBox="1"/>
          <p:nvPr/>
        </p:nvSpPr>
        <p:spPr>
          <a:xfrm>
            <a:off x="11392188" y="8522127"/>
            <a:ext cx="2610821"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Graph (4)</a:t>
            </a:r>
            <a:endParaRPr lang="en-US" sz="1200" b="1" dirty="0">
              <a:solidFill>
                <a:srgbClr val="C1E4F5"/>
              </a:solidFill>
              <a:latin typeface="Copperplate Gothic Bold" panose="020E0705020206020404" pitchFamily="34" charset="0"/>
            </a:endParaRPr>
          </a:p>
        </p:txBody>
      </p:sp>
      <p:sp>
        <p:nvSpPr>
          <p:cNvPr id="451" name="TextBox 450">
            <a:extLst>
              <a:ext uri="{FF2B5EF4-FFF2-40B4-BE49-F238E27FC236}">
                <a16:creationId xmlns:a16="http://schemas.microsoft.com/office/drawing/2014/main" id="{C17B6EC8-569B-B75F-C430-A3B1A18BE868}"/>
              </a:ext>
            </a:extLst>
          </p:cNvPr>
          <p:cNvSpPr txBox="1"/>
          <p:nvPr/>
        </p:nvSpPr>
        <p:spPr>
          <a:xfrm>
            <a:off x="11319933" y="7008747"/>
            <a:ext cx="5330713" cy="307777"/>
          </a:xfrm>
          <a:prstGeom prst="rect">
            <a:avLst/>
          </a:prstGeom>
          <a:noFill/>
        </p:spPr>
        <p:txBody>
          <a:bodyPr wrap="square" rtlCol="0">
            <a:spAutoFit/>
          </a:bodyPr>
          <a:lstStyle/>
          <a:p>
            <a:r>
              <a:rPr lang="en-US" dirty="0">
                <a:solidFill>
                  <a:srgbClr val="00232E"/>
                </a:solidFill>
                <a:latin typeface="Agency FB" panose="020B0503020202020204" pitchFamily="34" charset="0"/>
              </a:rPr>
              <a:t>- </a:t>
            </a:r>
            <a:r>
              <a:rPr lang="en-US" b="1" dirty="0">
                <a:solidFill>
                  <a:srgbClr val="00232E"/>
                </a:solidFill>
                <a:latin typeface="Agency FB" panose="020B0503020202020204" pitchFamily="34" charset="0"/>
              </a:rPr>
              <a:t>Graph (4,5) show </a:t>
            </a:r>
            <a:r>
              <a:rPr lang="en-US" dirty="0">
                <a:solidFill>
                  <a:srgbClr val="00232E"/>
                </a:solidFill>
                <a:latin typeface="Agency FB" panose="020B0503020202020204" pitchFamily="34" charset="0"/>
              </a:rPr>
              <a:t>the relation of DO with Temperature and Flow rate</a:t>
            </a:r>
          </a:p>
        </p:txBody>
      </p:sp>
      <p:sp>
        <p:nvSpPr>
          <p:cNvPr id="452" name="TextBox 451">
            <a:extLst>
              <a:ext uri="{FF2B5EF4-FFF2-40B4-BE49-F238E27FC236}">
                <a16:creationId xmlns:a16="http://schemas.microsoft.com/office/drawing/2014/main" id="{9C389D37-6368-105F-1A21-CD814048EF82}"/>
              </a:ext>
            </a:extLst>
          </p:cNvPr>
          <p:cNvSpPr txBox="1"/>
          <p:nvPr/>
        </p:nvSpPr>
        <p:spPr>
          <a:xfrm>
            <a:off x="11378793" y="8861872"/>
            <a:ext cx="5409497" cy="636841"/>
          </a:xfrm>
          <a:prstGeom prst="rect">
            <a:avLst/>
          </a:prstGeom>
          <a:noFill/>
        </p:spPr>
        <p:txBody>
          <a:bodyPr wrap="square" rtlCol="0">
            <a:spAutoFit/>
          </a:bodyPr>
          <a:lstStyle/>
          <a:p>
            <a:pPr marL="0" marR="0">
              <a:lnSpc>
                <a:spcPct val="115000"/>
              </a:lnSpc>
              <a:spcAft>
                <a:spcPts val="800"/>
              </a:spcAft>
            </a:pPr>
            <a:r>
              <a:rPr lang="en-US" sz="1800" b="1" u="sng"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-Yearly Data Transmission Calculation</a:t>
            </a:r>
            <a:r>
              <a:rPr lang="en-US" sz="1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a:t>
            </a:r>
            <a:r>
              <a:rPr lang="en-US" sz="1800" kern="100" dirty="0">
                <a:solidFill>
                  <a:srgbClr val="00232E"/>
                </a:solidFill>
                <a:latin typeface="Agency FB" panose="020B0503020202020204" pitchFamily="34" charset="0"/>
                <a:ea typeface="Aptos" panose="020B0004020202020204" pitchFamily="34" charset="0"/>
                <a:cs typeface="Arial" panose="020B0604020202020204" pitchFamily="34" charset="0"/>
              </a:rPr>
              <a:t> </a:t>
            </a: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The total data sent in a year would be approximately </a:t>
            </a:r>
            <a: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21.07 GB</a:t>
            </a:r>
            <a:endParaRPr lang="en-US" b="1" dirty="0"/>
          </a:p>
        </p:txBody>
      </p:sp>
      <p:grpSp>
        <p:nvGrpSpPr>
          <p:cNvPr id="458" name="Group 457">
            <a:extLst>
              <a:ext uri="{FF2B5EF4-FFF2-40B4-BE49-F238E27FC236}">
                <a16:creationId xmlns:a16="http://schemas.microsoft.com/office/drawing/2014/main" id="{AE9976EF-7B87-A162-4CF0-5D5F65D1615D}"/>
              </a:ext>
            </a:extLst>
          </p:cNvPr>
          <p:cNvGrpSpPr/>
          <p:nvPr/>
        </p:nvGrpSpPr>
        <p:grpSpPr>
          <a:xfrm>
            <a:off x="11401090" y="10011975"/>
            <a:ext cx="2696591" cy="1585507"/>
            <a:chOff x="11486816" y="12010477"/>
            <a:chExt cx="3406232" cy="2008819"/>
          </a:xfrm>
        </p:grpSpPr>
        <p:pic>
          <p:nvPicPr>
            <p:cNvPr id="456" name="Picture 455">
              <a:extLst>
                <a:ext uri="{FF2B5EF4-FFF2-40B4-BE49-F238E27FC236}">
                  <a16:creationId xmlns:a16="http://schemas.microsoft.com/office/drawing/2014/main" id="{6664B1B2-1327-A05C-B68C-34515A310D69}"/>
                </a:ext>
              </a:extLst>
            </p:cNvPr>
            <p:cNvPicPr>
              <a:picLocks noChangeAspect="1"/>
            </p:cNvPicPr>
            <p:nvPr/>
          </p:nvPicPr>
          <p:blipFill>
            <a:blip r:embed="rId23"/>
            <a:stretch>
              <a:fillRect/>
            </a:stretch>
          </p:blipFill>
          <p:spPr>
            <a:xfrm>
              <a:off x="11486816" y="12010477"/>
              <a:ext cx="3406232" cy="1673494"/>
            </a:xfrm>
            <a:prstGeom prst="rect">
              <a:avLst/>
            </a:prstGeom>
          </p:spPr>
        </p:pic>
        <p:sp>
          <p:nvSpPr>
            <p:cNvPr id="457" name="TextBox 456">
              <a:extLst>
                <a:ext uri="{FF2B5EF4-FFF2-40B4-BE49-F238E27FC236}">
                  <a16:creationId xmlns:a16="http://schemas.microsoft.com/office/drawing/2014/main" id="{830A4E7A-8F9B-0DDC-1D7D-CF57AEA329F3}"/>
                </a:ext>
              </a:extLst>
            </p:cNvPr>
            <p:cNvSpPr txBox="1"/>
            <p:nvPr/>
          </p:nvSpPr>
          <p:spPr>
            <a:xfrm>
              <a:off x="11490827" y="13629346"/>
              <a:ext cx="3401942" cy="389950"/>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Table (3)</a:t>
              </a:r>
              <a:endParaRPr lang="en-US" sz="1200" b="1" dirty="0">
                <a:solidFill>
                  <a:srgbClr val="C1E4F5"/>
                </a:solidFill>
                <a:latin typeface="Copperplate Gothic Bold" panose="020E0705020206020404" pitchFamily="34" charset="0"/>
              </a:endParaRPr>
            </a:p>
          </p:txBody>
        </p:sp>
      </p:grpSp>
      <p:sp>
        <p:nvSpPr>
          <p:cNvPr id="459" name="TextBox 458">
            <a:extLst>
              <a:ext uri="{FF2B5EF4-FFF2-40B4-BE49-F238E27FC236}">
                <a16:creationId xmlns:a16="http://schemas.microsoft.com/office/drawing/2014/main" id="{22ABEA61-72B4-AD11-7701-097CA310E61F}"/>
              </a:ext>
            </a:extLst>
          </p:cNvPr>
          <p:cNvSpPr txBox="1"/>
          <p:nvPr/>
        </p:nvSpPr>
        <p:spPr>
          <a:xfrm>
            <a:off x="11392188" y="9387888"/>
            <a:ext cx="5612606" cy="584775"/>
          </a:xfrm>
          <a:prstGeom prst="rect">
            <a:avLst/>
          </a:prstGeom>
          <a:noFill/>
        </p:spPr>
        <p:txBody>
          <a:bodyPr wrap="square" rtlCol="0">
            <a:spAutoFit/>
          </a:bodyPr>
          <a:lstStyle/>
          <a:p>
            <a:pPr>
              <a:spcAft>
                <a:spcPts val="600"/>
              </a:spcAft>
            </a:pPr>
            <a:r>
              <a:rPr lang="en-US" sz="1800" b="1" u="sng" dirty="0">
                <a:solidFill>
                  <a:srgbClr val="00232E"/>
                </a:solidFill>
                <a:latin typeface="Agency FB" panose="020B0503020202020204" pitchFamily="34" charset="0"/>
              </a:rPr>
              <a:t> -total power consumption </a:t>
            </a:r>
            <a:r>
              <a:rPr lang="en-US" dirty="0">
                <a:solidFill>
                  <a:srgbClr val="00232E"/>
                </a:solidFill>
                <a:latin typeface="Agency FB" panose="020B0503020202020204" pitchFamily="34" charset="0"/>
              </a:rPr>
              <a:t>is calculated in six months is </a:t>
            </a:r>
            <a:r>
              <a:rPr lang="en-US" b="1" dirty="0">
                <a:solidFill>
                  <a:srgbClr val="00232E"/>
                </a:solidFill>
                <a:latin typeface="Agency FB" panose="020B0503020202020204" pitchFamily="34" charset="0"/>
              </a:rPr>
              <a:t>3.375kWh,</a:t>
            </a:r>
            <a:br>
              <a:rPr lang="en-US" b="1" dirty="0">
                <a:solidFill>
                  <a:srgbClr val="00232E"/>
                </a:solidFill>
                <a:latin typeface="Agency FB" panose="020B0503020202020204" pitchFamily="34" charset="0"/>
              </a:rPr>
            </a:br>
            <a:r>
              <a:rPr lang="en-US" b="1" dirty="0">
                <a:solidFill>
                  <a:srgbClr val="00232E"/>
                </a:solidFill>
                <a:latin typeface="Agency FB" panose="020B0503020202020204" pitchFamily="34" charset="0"/>
              </a:rPr>
              <a:t>b</a:t>
            </a:r>
            <a:r>
              <a:rPr lang="en-US" dirty="0">
                <a:solidFill>
                  <a:srgbClr val="00232E"/>
                </a:solidFill>
                <a:latin typeface="Agency FB" panose="020B0503020202020204" pitchFamily="34" charset="0"/>
              </a:rPr>
              <a:t>y using this rule  </a:t>
            </a:r>
            <a:r>
              <a:rPr lang="en-US" b="1" u="sng" dirty="0">
                <a:solidFill>
                  <a:srgbClr val="00232E"/>
                </a:solidFill>
                <a:latin typeface="Agency FB" panose="020B0503020202020204" pitchFamily="34" charset="0"/>
              </a:rPr>
              <a:t>voltage(v)*current(a)  </a:t>
            </a:r>
            <a:r>
              <a:rPr lang="en-US" dirty="0">
                <a:solidFill>
                  <a:srgbClr val="00232E"/>
                </a:solidFill>
                <a:latin typeface="Agency FB" panose="020B0503020202020204" pitchFamily="34" charset="0"/>
              </a:rPr>
              <a:t>as shown in table </a:t>
            </a:r>
            <a:r>
              <a:rPr lang="en-US" b="1" dirty="0">
                <a:solidFill>
                  <a:srgbClr val="00232E"/>
                </a:solidFill>
                <a:latin typeface="Agency FB" panose="020B0503020202020204" pitchFamily="34" charset="0"/>
              </a:rPr>
              <a:t>(3,4)</a:t>
            </a:r>
          </a:p>
        </p:txBody>
      </p:sp>
      <p:grpSp>
        <p:nvGrpSpPr>
          <p:cNvPr id="463" name="Group 462">
            <a:extLst>
              <a:ext uri="{FF2B5EF4-FFF2-40B4-BE49-F238E27FC236}">
                <a16:creationId xmlns:a16="http://schemas.microsoft.com/office/drawing/2014/main" id="{9C985248-6686-C182-94C5-199CEA27710F}"/>
              </a:ext>
            </a:extLst>
          </p:cNvPr>
          <p:cNvGrpSpPr/>
          <p:nvPr/>
        </p:nvGrpSpPr>
        <p:grpSpPr>
          <a:xfrm>
            <a:off x="14239043" y="10011976"/>
            <a:ext cx="2533555" cy="1602159"/>
            <a:chOff x="11449145" y="14290948"/>
            <a:chExt cx="3443903" cy="1303906"/>
          </a:xfrm>
        </p:grpSpPr>
        <p:pic>
          <p:nvPicPr>
            <p:cNvPr id="461" name="Picture 460">
              <a:extLst>
                <a:ext uri="{FF2B5EF4-FFF2-40B4-BE49-F238E27FC236}">
                  <a16:creationId xmlns:a16="http://schemas.microsoft.com/office/drawing/2014/main" id="{C3FBB46D-185E-514E-9C70-2197C97B49C5}"/>
                </a:ext>
              </a:extLst>
            </p:cNvPr>
            <p:cNvPicPr>
              <a:picLocks noChangeAspect="1"/>
            </p:cNvPicPr>
            <p:nvPr/>
          </p:nvPicPr>
          <p:blipFill>
            <a:blip r:embed="rId24"/>
            <a:stretch>
              <a:fillRect/>
            </a:stretch>
          </p:blipFill>
          <p:spPr>
            <a:xfrm>
              <a:off x="11450667" y="14290948"/>
              <a:ext cx="3442381" cy="1009791"/>
            </a:xfrm>
            <a:prstGeom prst="rect">
              <a:avLst/>
            </a:prstGeom>
          </p:spPr>
        </p:pic>
        <p:sp>
          <p:nvSpPr>
            <p:cNvPr id="462" name="TextBox 461">
              <a:extLst>
                <a:ext uri="{FF2B5EF4-FFF2-40B4-BE49-F238E27FC236}">
                  <a16:creationId xmlns:a16="http://schemas.microsoft.com/office/drawing/2014/main" id="{CAC96A1D-D14A-88D1-55AA-0276301B3B5E}"/>
                </a:ext>
              </a:extLst>
            </p:cNvPr>
            <p:cNvSpPr txBox="1"/>
            <p:nvPr/>
          </p:nvSpPr>
          <p:spPr>
            <a:xfrm>
              <a:off x="11449145" y="15287077"/>
              <a:ext cx="3443903"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Table (4)</a:t>
              </a:r>
              <a:endParaRPr lang="en-US" sz="1200" b="1" dirty="0">
                <a:solidFill>
                  <a:srgbClr val="C1E4F5"/>
                </a:solidFill>
                <a:latin typeface="Copperplate Gothic Bold" panose="020E0705020206020404" pitchFamily="34" charset="0"/>
              </a:endParaRPr>
            </a:p>
          </p:txBody>
        </p:sp>
      </p:grpSp>
      <p:sp>
        <p:nvSpPr>
          <p:cNvPr id="464" name="TextBox 463">
            <a:extLst>
              <a:ext uri="{FF2B5EF4-FFF2-40B4-BE49-F238E27FC236}">
                <a16:creationId xmlns:a16="http://schemas.microsoft.com/office/drawing/2014/main" id="{6857D9DE-8676-D2D1-767A-B3309577CC8A}"/>
              </a:ext>
            </a:extLst>
          </p:cNvPr>
          <p:cNvSpPr txBox="1"/>
          <p:nvPr/>
        </p:nvSpPr>
        <p:spPr>
          <a:xfrm>
            <a:off x="5992452" y="15499482"/>
            <a:ext cx="2458312" cy="584775"/>
          </a:xfrm>
          <a:prstGeom prst="rect">
            <a:avLst/>
          </a:prstGeom>
          <a:noFill/>
        </p:spPr>
        <p:txBody>
          <a:bodyPr wrap="square" rtlCol="0">
            <a:spAutoFit/>
          </a:bodyPr>
          <a:lstStyle/>
          <a:p>
            <a:r>
              <a:rPr lang="en-US" sz="1800" b="1" u="sng" dirty="0">
                <a:solidFill>
                  <a:srgbClr val="00232E"/>
                </a:solidFill>
                <a:effectLst/>
                <a:latin typeface="Agency FB" panose="020B0503020202020204" pitchFamily="34" charset="0"/>
                <a:ea typeface="Aptos" panose="020B0004020202020204" pitchFamily="34" charset="0"/>
                <a:cs typeface="Arial" panose="020B0604020202020204" pitchFamily="34" charset="0"/>
              </a:rPr>
              <a:t>-sensors functions :</a:t>
            </a:r>
          </a:p>
          <a:p>
            <a:endParaRPr lang="en-US" dirty="0"/>
          </a:p>
        </p:txBody>
      </p:sp>
      <p:pic>
        <p:nvPicPr>
          <p:cNvPr id="475" name="Picture 474">
            <a:extLst>
              <a:ext uri="{FF2B5EF4-FFF2-40B4-BE49-F238E27FC236}">
                <a16:creationId xmlns:a16="http://schemas.microsoft.com/office/drawing/2014/main" id="{BBB8B97F-57DC-5E8A-BE92-C1AE9016AACC}"/>
              </a:ext>
            </a:extLst>
          </p:cNvPr>
          <p:cNvPicPr>
            <a:picLocks noChangeAspect="1"/>
          </p:cNvPicPr>
          <p:nvPr/>
        </p:nvPicPr>
        <p:blipFill>
          <a:blip r:embed="rId25"/>
          <a:stretch>
            <a:fillRect/>
          </a:stretch>
        </p:blipFill>
        <p:spPr>
          <a:xfrm>
            <a:off x="17250390" y="4362363"/>
            <a:ext cx="5381883" cy="2566948"/>
          </a:xfrm>
          <a:prstGeom prst="rect">
            <a:avLst/>
          </a:prstGeom>
        </p:spPr>
      </p:pic>
      <p:grpSp>
        <p:nvGrpSpPr>
          <p:cNvPr id="485" name="Group 484">
            <a:extLst>
              <a:ext uri="{FF2B5EF4-FFF2-40B4-BE49-F238E27FC236}">
                <a16:creationId xmlns:a16="http://schemas.microsoft.com/office/drawing/2014/main" id="{38FECCFB-0703-6CB8-BA32-1E5AB42C5A47}"/>
              </a:ext>
            </a:extLst>
          </p:cNvPr>
          <p:cNvGrpSpPr/>
          <p:nvPr/>
        </p:nvGrpSpPr>
        <p:grpSpPr>
          <a:xfrm>
            <a:off x="14905444" y="4408322"/>
            <a:ext cx="1875565" cy="893035"/>
            <a:chOff x="14864783" y="6280134"/>
            <a:chExt cx="1875565" cy="893035"/>
          </a:xfrm>
        </p:grpSpPr>
        <p:pic>
          <p:nvPicPr>
            <p:cNvPr id="478" name="Picture 477">
              <a:extLst>
                <a:ext uri="{FF2B5EF4-FFF2-40B4-BE49-F238E27FC236}">
                  <a16:creationId xmlns:a16="http://schemas.microsoft.com/office/drawing/2014/main" id="{BD2F85CB-6691-105F-78ED-93CDF8F8F90A}"/>
                </a:ext>
              </a:extLst>
            </p:cNvPr>
            <p:cNvPicPr>
              <a:picLocks noChangeAspect="1"/>
            </p:cNvPicPr>
            <p:nvPr/>
          </p:nvPicPr>
          <p:blipFill>
            <a:blip r:embed="rId26"/>
            <a:stretch>
              <a:fillRect/>
            </a:stretch>
          </p:blipFill>
          <p:spPr>
            <a:xfrm>
              <a:off x="14864783" y="6280134"/>
              <a:ext cx="623757" cy="890601"/>
            </a:xfrm>
            <a:prstGeom prst="rect">
              <a:avLst/>
            </a:prstGeom>
            <a:ln>
              <a:noFill/>
            </a:ln>
            <a:effectLst>
              <a:outerShdw blurRad="190500" algn="tl" rotWithShape="0">
                <a:srgbClr val="000000">
                  <a:alpha val="70000"/>
                </a:srgbClr>
              </a:outerShdw>
            </a:effectLst>
          </p:spPr>
        </p:pic>
        <p:pic>
          <p:nvPicPr>
            <p:cNvPr id="480" name="Picture 479">
              <a:extLst>
                <a:ext uri="{FF2B5EF4-FFF2-40B4-BE49-F238E27FC236}">
                  <a16:creationId xmlns:a16="http://schemas.microsoft.com/office/drawing/2014/main" id="{D6DCDCE3-55D4-F370-2A10-2B56A329CD83}"/>
                </a:ext>
              </a:extLst>
            </p:cNvPr>
            <p:cNvPicPr>
              <a:picLocks noChangeAspect="1"/>
            </p:cNvPicPr>
            <p:nvPr/>
          </p:nvPicPr>
          <p:blipFill>
            <a:blip r:embed="rId27"/>
            <a:stretch>
              <a:fillRect/>
            </a:stretch>
          </p:blipFill>
          <p:spPr>
            <a:xfrm>
              <a:off x="15488541" y="6282567"/>
              <a:ext cx="652117" cy="890602"/>
            </a:xfrm>
            <a:prstGeom prst="rect">
              <a:avLst/>
            </a:prstGeom>
            <a:ln>
              <a:noFill/>
            </a:ln>
            <a:effectLst>
              <a:outerShdw blurRad="190500" algn="tl" rotWithShape="0">
                <a:srgbClr val="000000">
                  <a:alpha val="70000"/>
                </a:srgbClr>
              </a:outerShdw>
            </a:effectLst>
          </p:spPr>
        </p:pic>
        <p:pic>
          <p:nvPicPr>
            <p:cNvPr id="482" name="Picture 481">
              <a:extLst>
                <a:ext uri="{FF2B5EF4-FFF2-40B4-BE49-F238E27FC236}">
                  <a16:creationId xmlns:a16="http://schemas.microsoft.com/office/drawing/2014/main" id="{390FC1C4-283B-E929-80E1-99C7281A19E9}"/>
                </a:ext>
              </a:extLst>
            </p:cNvPr>
            <p:cNvPicPr>
              <a:picLocks noChangeAspect="1"/>
            </p:cNvPicPr>
            <p:nvPr/>
          </p:nvPicPr>
          <p:blipFill>
            <a:blip r:embed="rId28"/>
            <a:stretch>
              <a:fillRect/>
            </a:stretch>
          </p:blipFill>
          <p:spPr>
            <a:xfrm>
              <a:off x="16140659" y="6282567"/>
              <a:ext cx="599689" cy="890602"/>
            </a:xfrm>
            <a:prstGeom prst="rect">
              <a:avLst/>
            </a:prstGeom>
            <a:ln>
              <a:noFill/>
            </a:ln>
            <a:effectLst>
              <a:outerShdw blurRad="190500" algn="tl" rotWithShape="0">
                <a:srgbClr val="000000">
                  <a:alpha val="70000"/>
                </a:srgbClr>
              </a:outerShdw>
            </a:effectLst>
          </p:spPr>
        </p:pic>
      </p:grpSp>
      <p:sp>
        <p:nvSpPr>
          <p:cNvPr id="2" name="Google Shape;389;p20">
            <a:extLst>
              <a:ext uri="{FF2B5EF4-FFF2-40B4-BE49-F238E27FC236}">
                <a16:creationId xmlns:a16="http://schemas.microsoft.com/office/drawing/2014/main" id="{A8EBF6ED-6286-FF7A-5C25-CAFCB9964CEC}"/>
              </a:ext>
            </a:extLst>
          </p:cNvPr>
          <p:cNvSpPr txBox="1">
            <a:spLocks/>
          </p:cNvSpPr>
          <p:nvPr/>
        </p:nvSpPr>
        <p:spPr>
          <a:xfrm>
            <a:off x="17169321" y="6778997"/>
            <a:ext cx="5081700" cy="822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Montserrat ExtraBold"/>
              <a:buNone/>
              <a:defRPr sz="902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9pPr>
          </a:lstStyle>
          <a:p>
            <a:pPr algn="l"/>
            <a:r>
              <a:rPr lang="en-US" sz="3600" dirty="0"/>
              <a:t>conclusion</a:t>
            </a:r>
            <a:endParaRPr lang="en-US" sz="40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4580A33-B740-39C2-E451-2B8115187D1B}"/>
                  </a:ext>
                </a:extLst>
              </p:cNvPr>
              <p:cNvSpPr txBox="1"/>
              <p:nvPr/>
            </p:nvSpPr>
            <p:spPr>
              <a:xfrm>
                <a:off x="17212703" y="7414798"/>
                <a:ext cx="5264467" cy="2571666"/>
              </a:xfrm>
              <a:prstGeom prst="rect">
                <a:avLst/>
              </a:prstGeom>
              <a:noFill/>
            </p:spPr>
            <p:txBody>
              <a:bodyPr wrap="square" rtlCol="0">
                <a:spAutoFit/>
              </a:bodyPr>
              <a:lstStyle/>
              <a:p>
                <a:pPr>
                  <a:lnSpc>
                    <a:spcPct val="70000"/>
                  </a:lnSpc>
                </a:pPr>
                <a:r>
                  <a:rPr lang="en-US" dirty="0">
                    <a:solidFill>
                      <a:srgbClr val="00232E"/>
                    </a:solidFill>
                    <a:latin typeface="Agency FB" panose="020B0503020202020204" pitchFamily="34" charset="0"/>
                  </a:rPr>
                  <a:t>To conclude, our project this semester addresses the challenges of water pollution and aims to improve the management of water quality in aquaculture. The equation used to estimate dissolved oxygen (DO) levels is:</a:t>
                </a:r>
              </a:p>
              <a:p>
                <a:pPr>
                  <a:lnSpc>
                    <a:spcPct val="70000"/>
                  </a:lnSpc>
                </a:pPr>
                <a:br>
                  <a:rPr lang="en-US" b="1" kern="100" dirty="0">
                    <a:solidFill>
                      <a:srgbClr val="00232E"/>
                    </a:solidFill>
                    <a:latin typeface="Agency FB" panose="020B0503020202020204" pitchFamily="34" charset="0"/>
                    <a:ea typeface="Aptos" panose="020B0004020202020204" pitchFamily="34" charset="0"/>
                    <a:cs typeface="Arial" panose="020B0604020202020204" pitchFamily="34" charset="0"/>
                  </a:rPr>
                </a:br>
                <a14:m>
                  <m:oMath xmlns:m="http://schemas.openxmlformats.org/officeDocument/2006/math">
                    <m:r>
                      <a:rPr lang="en-US" b="1" kern="100">
                        <a:solidFill>
                          <a:srgbClr val="00232E"/>
                        </a:solidFill>
                        <a:latin typeface="Cambria Math" panose="02040503050406030204" pitchFamily="18" charset="0"/>
                        <a:ea typeface="Cambria Math" panose="02040503050406030204" pitchFamily="18" charset="0"/>
                        <a:cs typeface="Arial" panose="020B0604020202020204" pitchFamily="34" charset="0"/>
                      </a:rPr>
                      <m:t>−</m:t>
                    </m:r>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𝑫𝑶</m:t>
                    </m:r>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m:t>
                    </m:r>
                    <m:f>
                      <m:fPr>
                        <m:ctrlP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ctrlPr>
                      </m:fPr>
                      <m:num>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𝑲𝒕𝒆𝒎𝒑</m:t>
                        </m:r>
                      </m:num>
                      <m:den>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𝑻</m:t>
                        </m:r>
                      </m:den>
                    </m:f>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ctrlPr>
                      </m:sSubPr>
                      <m:e>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𝑲</m:t>
                        </m:r>
                      </m:e>
                      <m:sub>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𝒇𝒍𝒐𝒘</m:t>
                        </m:r>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_</m:t>
                        </m:r>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𝒇𝒊𝒍𝒕𝒆𝒓</m:t>
                        </m:r>
                        <m:r>
                          <a:rPr lang="en-US" b="1" i="1" kern="100">
                            <a:solidFill>
                              <a:srgbClr val="00232E"/>
                            </a:solidFill>
                            <a:latin typeface="Cambria Math" panose="02040503050406030204" pitchFamily="18" charset="0"/>
                            <a:ea typeface="Cambria Math" panose="02040503050406030204" pitchFamily="18" charset="0"/>
                            <a:cs typeface="Arial" panose="020B0604020202020204" pitchFamily="34" charset="0"/>
                          </a:rPr>
                          <m:t>​</m:t>
                        </m:r>
                      </m:sub>
                    </m:sSub>
                  </m:oMath>
                </a14:m>
                <a:r>
                  <a:rPr lang="en-US" b="1" kern="100" dirty="0">
                    <a:solidFill>
                      <a:srgbClr val="00232E"/>
                    </a:solidFill>
                    <a:latin typeface="Cambria Math" panose="02040503050406030204" pitchFamily="18" charset="0"/>
                    <a:ea typeface="Cambria Math" panose="02040503050406030204" pitchFamily="18" charset="0"/>
                    <a:cs typeface="Arial" panose="020B0604020202020204" pitchFamily="34" charset="0"/>
                  </a:rPr>
                  <a:t>*</a:t>
                </a:r>
                <a14:m>
                  <m:oMath xmlns:m="http://schemas.openxmlformats.org/officeDocument/2006/math">
                    <m:r>
                      <a:rPr lang="en-US" sz="1200" b="1" i="1">
                        <a:solidFill>
                          <a:srgbClr val="00232E"/>
                        </a:solidFill>
                        <a:latin typeface="Cambria Math" panose="02040503050406030204" pitchFamily="18" charset="0"/>
                        <a:ea typeface="Cambria Math" panose="02040503050406030204" pitchFamily="18" charset="0"/>
                      </a:rPr>
                      <m:t>𝑭𝑳𝑶𝑾</m:t>
                    </m:r>
                    <m:r>
                      <a:rPr lang="en-US" sz="1200" b="1" i="1" smtClean="0">
                        <a:solidFill>
                          <a:srgbClr val="00232E"/>
                        </a:solidFill>
                        <a:latin typeface="Cambria Math" panose="02040503050406030204" pitchFamily="18" charset="0"/>
                        <a:ea typeface="Cambria Math" panose="02040503050406030204" pitchFamily="18" charset="0"/>
                      </a:rPr>
                      <m:t>∗</m:t>
                    </m:r>
                  </m:oMath>
                </a14:m>
                <a:r>
                  <a:rPr lang="en-US" sz="1200" b="1" dirty="0">
                    <a:solidFill>
                      <a:srgbClr val="00232E"/>
                    </a:solidFill>
                    <a:ea typeface="Aptos" panose="020B0004020202020204" pitchFamily="34" charset="0"/>
                    <a:cs typeface="Arial" panose="020B0604020202020204" pitchFamily="34" charset="0"/>
                  </a:rPr>
                  <a:t> </a:t>
                </a:r>
                <a14:m>
                  <m:oMath xmlns:m="http://schemas.openxmlformats.org/officeDocument/2006/math">
                    <m:r>
                      <a:rPr lang="en-US" sz="1200" b="1" i="1">
                        <a:solidFill>
                          <a:srgbClr val="00232E"/>
                        </a:solidFill>
                        <a:latin typeface="Cambria Math" panose="02040503050406030204" pitchFamily="18" charset="0"/>
                        <a:ea typeface="Aptos" panose="020B0004020202020204" pitchFamily="34" charset="0"/>
                        <a:cs typeface="Arial" panose="020B0604020202020204" pitchFamily="34" charset="0"/>
                      </a:rPr>
                      <m:t>𝟓</m:t>
                    </m:r>
                  </m:oMath>
                </a14:m>
                <a:endParaRPr lang="en-US" sz="1200" b="1" dirty="0">
                  <a:solidFill>
                    <a:srgbClr val="00232E"/>
                  </a:solidFill>
                  <a:latin typeface="Cambria Math" panose="02040503050406030204" pitchFamily="18" charset="0"/>
                  <a:ea typeface="Cambria Math" panose="02040503050406030204" pitchFamily="18" charset="0"/>
                </a:endParaRPr>
              </a:p>
              <a:p>
                <a:pPr>
                  <a:lnSpc>
                    <a:spcPct val="70000"/>
                  </a:lnSpc>
                </a:pPr>
                <a:endParaRPr lang="en-US" dirty="0">
                  <a:solidFill>
                    <a:srgbClr val="00232E"/>
                  </a:solidFill>
                  <a:latin typeface="Agency FB" panose="020B0503020202020204" pitchFamily="34" charset="0"/>
                </a:endParaRPr>
              </a:p>
              <a:p>
                <a:pPr>
                  <a:lnSpc>
                    <a:spcPct val="70000"/>
                  </a:lnSpc>
                </a:pPr>
                <a:r>
                  <a:rPr lang="en-US" dirty="0">
                    <a:solidFill>
                      <a:srgbClr val="00232E"/>
                    </a:solidFill>
                    <a:latin typeface="Agency FB" panose="020B0503020202020204" pitchFamily="34" charset="0"/>
                  </a:rPr>
                  <a:t>Where</a:t>
                </a:r>
                <a:r>
                  <a:rPr lang="en-US" b="1" dirty="0">
                    <a:solidFill>
                      <a:srgbClr val="00232E"/>
                    </a:solidFill>
                    <a:latin typeface="Agency FB" panose="020B0503020202020204" pitchFamily="34" charset="0"/>
                  </a:rPr>
                  <a:t> </a:t>
                </a:r>
                <a:r>
                  <a:rPr lang="en-US" b="1" dirty="0" err="1">
                    <a:solidFill>
                      <a:srgbClr val="00232E"/>
                    </a:solidFill>
                    <a:latin typeface="Agency FB" panose="020B0503020202020204" pitchFamily="34" charset="0"/>
                  </a:rPr>
                  <a:t>K_temp</a:t>
                </a:r>
                <a:r>
                  <a:rPr lang="en-US" b="1" dirty="0">
                    <a:solidFill>
                      <a:srgbClr val="00232E"/>
                    </a:solidFill>
                    <a:latin typeface="Agency FB" panose="020B0503020202020204" pitchFamily="34" charset="0"/>
                  </a:rPr>
                  <a:t>= 7.12</a:t>
                </a:r>
                <a:r>
                  <a:rPr lang="en-US" dirty="0">
                    <a:solidFill>
                      <a:srgbClr val="00232E"/>
                    </a:solidFill>
                    <a:latin typeface="Agency FB" panose="020B0503020202020204" pitchFamily="34" charset="0"/>
                  </a:rPr>
                  <a:t>, </a:t>
                </a:r>
                <a:r>
                  <a:rPr lang="en-US" b="1" dirty="0" err="1">
                    <a:solidFill>
                      <a:srgbClr val="00232E"/>
                    </a:solidFill>
                    <a:latin typeface="Agency FB" panose="020B0503020202020204" pitchFamily="34" charset="0"/>
                  </a:rPr>
                  <a:t>K_flow</a:t>
                </a:r>
                <a:r>
                  <a:rPr lang="en-US" b="1" dirty="0">
                    <a:solidFill>
                      <a:srgbClr val="00232E"/>
                    </a:solidFill>
                    <a:latin typeface="Agency FB" panose="020B0503020202020204" pitchFamily="34" charset="0"/>
                  </a:rPr>
                  <a:t> = 0.85</a:t>
                </a:r>
                <a:r>
                  <a:rPr lang="en-US" dirty="0">
                    <a:solidFill>
                      <a:srgbClr val="00232E"/>
                    </a:solidFill>
                    <a:latin typeface="Agency FB" panose="020B0503020202020204" pitchFamily="34" charset="0"/>
                  </a:rPr>
                  <a:t>, </a:t>
                </a:r>
                <a:r>
                  <a:rPr lang="en-US" b="1" dirty="0">
                    <a:solidFill>
                      <a:srgbClr val="00232E"/>
                    </a:solidFill>
                    <a:latin typeface="Agency FB" panose="020B0503020202020204" pitchFamily="34" charset="0"/>
                  </a:rPr>
                  <a:t>T=22∘C (temperature)</a:t>
                </a:r>
                <a:r>
                  <a:rPr lang="en-US" dirty="0">
                    <a:solidFill>
                      <a:srgbClr val="00232E"/>
                    </a:solidFill>
                    <a:latin typeface="Agency FB" panose="020B0503020202020204" pitchFamily="34" charset="0"/>
                  </a:rPr>
                  <a:t> and </a:t>
                </a:r>
                <a:r>
                  <a:rPr lang="en-US" b="1" dirty="0">
                    <a:solidFill>
                      <a:srgbClr val="00232E"/>
                    </a:solidFill>
                    <a:latin typeface="Agency FB" panose="020B0503020202020204" pitchFamily="34" charset="0"/>
                  </a:rPr>
                  <a:t>Do_(air pump) = 5 mg/l (constant). </a:t>
                </a:r>
                <a:r>
                  <a:rPr lang="en-US" b="0" i="0" dirty="0">
                    <a:solidFill>
                      <a:srgbClr val="00232E"/>
                    </a:solidFill>
                    <a:effectLst/>
                    <a:latin typeface="Agency FB" panose="020B0503020202020204" pitchFamily="34" charset="0"/>
                  </a:rPr>
                  <a:t>Analysis revealed that the increase in flow rate raises DO levels, while higher temperatures raise ammonia, decrease DO and raises </a:t>
                </a:r>
                <a:r>
                  <a:rPr lang="en-US" b="0" i="0" dirty="0" err="1">
                    <a:solidFill>
                      <a:srgbClr val="00232E"/>
                    </a:solidFill>
                    <a:effectLst/>
                    <a:latin typeface="Agency FB" panose="020B0503020202020204" pitchFamily="34" charset="0"/>
                  </a:rPr>
                  <a:t>pH.</a:t>
                </a:r>
                <a:r>
                  <a:rPr lang="en-US" b="0" i="0" dirty="0">
                    <a:solidFill>
                      <a:srgbClr val="00232E"/>
                    </a:solidFill>
                    <a:effectLst/>
                    <a:latin typeface="Agency FB" panose="020B0503020202020204" pitchFamily="34" charset="0"/>
                  </a:rPr>
                  <a:t> The system allows real-time monitoring in efficient and low-cost compared with previous ones used in Egypt without dynamic feedback systems. Results show that this system supports healthier fish farm environments and sustainable aquaculture practices, with potential savings of up to </a:t>
                </a:r>
                <a:r>
                  <a:rPr lang="en-US" b="1" i="0" dirty="0">
                    <a:solidFill>
                      <a:srgbClr val="00232E"/>
                    </a:solidFill>
                    <a:effectLst/>
                    <a:latin typeface="Agency FB" panose="020B0503020202020204" pitchFamily="34" charset="0"/>
                  </a:rPr>
                  <a:t>$17,904 </a:t>
                </a:r>
                <a:r>
                  <a:rPr lang="en-US" b="0" i="0" dirty="0">
                    <a:solidFill>
                      <a:srgbClr val="00232E"/>
                    </a:solidFill>
                    <a:effectLst/>
                    <a:latin typeface="Agency FB" panose="020B0503020202020204" pitchFamily="34" charset="0"/>
                  </a:rPr>
                  <a:t>annually. The system’s total six-month power consumption is </a:t>
                </a:r>
                <a:r>
                  <a:rPr lang="en-US" b="1" i="0" dirty="0">
                    <a:solidFill>
                      <a:srgbClr val="00232E"/>
                    </a:solidFill>
                    <a:effectLst/>
                    <a:latin typeface="Agency FB" panose="020B0503020202020204" pitchFamily="34" charset="0"/>
                  </a:rPr>
                  <a:t>3.375 kWh</a:t>
                </a:r>
                <a:r>
                  <a:rPr lang="en-US" b="0" i="0" dirty="0">
                    <a:solidFill>
                      <a:srgbClr val="00232E"/>
                    </a:solidFill>
                    <a:effectLst/>
                    <a:latin typeface="Agency FB" panose="020B0503020202020204" pitchFamily="34" charset="0"/>
                  </a:rPr>
                  <a:t>, and annual database storage requirements are </a:t>
                </a:r>
                <a:r>
                  <a:rPr lang="en-US" b="1" i="0" dirty="0">
                    <a:solidFill>
                      <a:srgbClr val="00232E"/>
                    </a:solidFill>
                    <a:effectLst/>
                    <a:latin typeface="Agency FB" panose="020B0503020202020204" pitchFamily="34" charset="0"/>
                  </a:rPr>
                  <a:t>21.07 GB</a:t>
                </a:r>
                <a:r>
                  <a:rPr lang="en-US" b="0" i="0" dirty="0">
                    <a:solidFill>
                      <a:srgbClr val="00232E"/>
                    </a:solidFill>
                    <a:effectLst/>
                    <a:latin typeface="Agency FB" panose="020B0503020202020204" pitchFamily="34" charset="0"/>
                  </a:rPr>
                  <a:t>.</a:t>
                </a:r>
                <a:r>
                  <a:rPr lang="en-US" dirty="0">
                    <a:solidFill>
                      <a:srgbClr val="00232E"/>
                    </a:solidFill>
                    <a:latin typeface="Agency FB" panose="020B0503020202020204" pitchFamily="34" charset="0"/>
                  </a:rPr>
                  <a:t> </a:t>
                </a:r>
                <a:r>
                  <a:rPr lang="en-US" b="0" i="0" dirty="0">
                    <a:solidFill>
                      <a:srgbClr val="00232E"/>
                    </a:solidFill>
                    <a:effectLst/>
                    <a:latin typeface="Agency FB" panose="020B0503020202020204" pitchFamily="34" charset="0"/>
                  </a:rPr>
                  <a:t>This DO monitor system improves water quality management, saves cost, and promotes economic growth in aquaculture</a:t>
                </a:r>
                <a:endParaRPr lang="en-US" dirty="0">
                  <a:solidFill>
                    <a:srgbClr val="00232E"/>
                  </a:solidFill>
                  <a:latin typeface="Agency FB" panose="020B0503020202020204" pitchFamily="34" charset="0"/>
                </a:endParaRPr>
              </a:p>
            </p:txBody>
          </p:sp>
        </mc:Choice>
        <mc:Fallback xmlns="">
          <p:sp>
            <p:nvSpPr>
              <p:cNvPr id="8" name="TextBox 7">
                <a:extLst>
                  <a:ext uri="{FF2B5EF4-FFF2-40B4-BE49-F238E27FC236}">
                    <a16:creationId xmlns:a16="http://schemas.microsoft.com/office/drawing/2014/main" id="{54580A33-B740-39C2-E451-2B8115187D1B}"/>
                  </a:ext>
                </a:extLst>
              </p:cNvPr>
              <p:cNvSpPr txBox="1">
                <a:spLocks noRot="1" noChangeAspect="1" noMove="1" noResize="1" noEditPoints="1" noAdjustHandles="1" noChangeArrowheads="1" noChangeShapeType="1" noTextEdit="1"/>
              </p:cNvSpPr>
              <p:nvPr/>
            </p:nvSpPr>
            <p:spPr>
              <a:xfrm>
                <a:off x="17212703" y="7414798"/>
                <a:ext cx="5264467" cy="2571666"/>
              </a:xfrm>
              <a:prstGeom prst="rect">
                <a:avLst/>
              </a:prstGeom>
              <a:blipFill>
                <a:blip r:embed="rId29"/>
                <a:stretch>
                  <a:fillRect l="-348" t="-2844" b="-1659"/>
                </a:stretch>
              </a:blipFill>
            </p:spPr>
            <p:txBody>
              <a:bodyPr/>
              <a:lstStyle/>
              <a:p>
                <a:r>
                  <a:rPr lang="en-US">
                    <a:noFill/>
                  </a:rPr>
                  <a:t> </a:t>
                </a:r>
              </a:p>
            </p:txBody>
          </p:sp>
        </mc:Fallback>
      </mc:AlternateContent>
      <p:sp>
        <p:nvSpPr>
          <p:cNvPr id="30" name="Google Shape;389;p20">
            <a:extLst>
              <a:ext uri="{FF2B5EF4-FFF2-40B4-BE49-F238E27FC236}">
                <a16:creationId xmlns:a16="http://schemas.microsoft.com/office/drawing/2014/main" id="{76C24101-6521-03D4-972A-5F3CBF93579B}"/>
              </a:ext>
            </a:extLst>
          </p:cNvPr>
          <p:cNvSpPr txBox="1">
            <a:spLocks/>
          </p:cNvSpPr>
          <p:nvPr/>
        </p:nvSpPr>
        <p:spPr>
          <a:xfrm>
            <a:off x="17169321" y="9762022"/>
            <a:ext cx="5081700" cy="822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Montserrat ExtraBold"/>
              <a:buNone/>
              <a:defRPr sz="902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9pPr>
          </a:lstStyle>
          <a:p>
            <a:pPr algn="l"/>
            <a:r>
              <a:rPr lang="en-US" sz="3600" dirty="0"/>
              <a:t>recommendation</a:t>
            </a:r>
            <a:endParaRPr lang="en-US" sz="4000" dirty="0"/>
          </a:p>
        </p:txBody>
      </p:sp>
      <p:sp>
        <p:nvSpPr>
          <p:cNvPr id="33" name="TextBox 32">
            <a:extLst>
              <a:ext uri="{FF2B5EF4-FFF2-40B4-BE49-F238E27FC236}">
                <a16:creationId xmlns:a16="http://schemas.microsoft.com/office/drawing/2014/main" id="{E255E837-9147-DC7B-BE82-BC269EB55616}"/>
              </a:ext>
            </a:extLst>
          </p:cNvPr>
          <p:cNvSpPr txBox="1"/>
          <p:nvPr/>
        </p:nvSpPr>
        <p:spPr>
          <a:xfrm>
            <a:off x="17209908" y="10373778"/>
            <a:ext cx="4947565" cy="1815882"/>
          </a:xfrm>
          <a:prstGeom prst="rect">
            <a:avLst/>
          </a:prstGeom>
          <a:noFill/>
        </p:spPr>
        <p:txBody>
          <a:bodyPr wrap="square" rtlCol="0">
            <a:spAutoFit/>
          </a:bodyPr>
          <a:lstStyle/>
          <a:p>
            <a:pPr>
              <a:lnSpc>
                <a:spcPct val="80000"/>
              </a:lnSpc>
            </a:pPr>
            <a:r>
              <a:rPr lang="en-US" b="1" dirty="0">
                <a:solidFill>
                  <a:srgbClr val="00232E"/>
                </a:solidFill>
                <a:latin typeface="Agency FB" panose="020B0503020202020204" pitchFamily="34" charset="0"/>
              </a:rPr>
              <a:t>the following modifications should be done to maintain the efficiency to use this prototype in real life:</a:t>
            </a:r>
            <a:endParaRPr lang="ar-EG" b="1" dirty="0">
              <a:solidFill>
                <a:srgbClr val="00232E"/>
              </a:solidFill>
              <a:latin typeface="Agency FB" panose="020B0503020202020204" pitchFamily="34" charset="0"/>
            </a:endParaRPr>
          </a:p>
          <a:p>
            <a:pPr>
              <a:lnSpc>
                <a:spcPct val="80000"/>
              </a:lnSpc>
            </a:pPr>
            <a:r>
              <a:rPr lang="ar-EG" dirty="0">
                <a:solidFill>
                  <a:srgbClr val="00232E"/>
                </a:solidFill>
                <a:latin typeface="Agency FB" panose="020B0503020202020204" pitchFamily="34" charset="0"/>
              </a:rPr>
              <a:t> - </a:t>
            </a:r>
            <a:r>
              <a:rPr lang="en-US" dirty="0">
                <a:solidFill>
                  <a:srgbClr val="00232E"/>
                </a:solidFill>
                <a:latin typeface="Agency FB" panose="020B0503020202020204" pitchFamily="34" charset="0"/>
              </a:rPr>
              <a:t>Use a BCP board instead of bread bord to make our system more stability</a:t>
            </a:r>
            <a:endParaRPr lang="ar-EG" dirty="0">
              <a:solidFill>
                <a:srgbClr val="00232E"/>
              </a:solidFill>
              <a:latin typeface="Agency FB" panose="020B0503020202020204" pitchFamily="34" charset="0"/>
            </a:endParaRPr>
          </a:p>
          <a:p>
            <a:pPr>
              <a:lnSpc>
                <a:spcPct val="80000"/>
              </a:lnSpc>
            </a:pPr>
            <a:r>
              <a:rPr lang="en-US" dirty="0">
                <a:solidFill>
                  <a:srgbClr val="00232E"/>
                </a:solidFill>
                <a:latin typeface="Agency FB" panose="020B0503020202020204" pitchFamily="34" charset="0"/>
              </a:rPr>
              <a:t> </a:t>
            </a:r>
            <a:r>
              <a:rPr lang="ar-EG" dirty="0">
                <a:solidFill>
                  <a:srgbClr val="00232E"/>
                </a:solidFill>
                <a:latin typeface="Agency FB" panose="020B0503020202020204" pitchFamily="34" charset="0"/>
              </a:rPr>
              <a:t>-</a:t>
            </a:r>
            <a:r>
              <a:rPr lang="en-US" dirty="0">
                <a:solidFill>
                  <a:srgbClr val="00232E"/>
                </a:solidFill>
                <a:latin typeface="Agency FB" panose="020B0503020202020204" pitchFamily="34" charset="0"/>
              </a:rPr>
              <a:t>Use advanced sensors with higher precision to improve the feasibility of the project and enhance the accuracy of reading</a:t>
            </a:r>
            <a:endParaRPr lang="ar-EG" dirty="0">
              <a:solidFill>
                <a:srgbClr val="00232E"/>
              </a:solidFill>
              <a:latin typeface="Agency FB" panose="020B0503020202020204" pitchFamily="34" charset="0"/>
            </a:endParaRPr>
          </a:p>
          <a:p>
            <a:pPr>
              <a:lnSpc>
                <a:spcPct val="80000"/>
              </a:lnSpc>
            </a:pPr>
            <a:r>
              <a:rPr lang="en-US" dirty="0">
                <a:solidFill>
                  <a:srgbClr val="00232E"/>
                </a:solidFill>
                <a:latin typeface="Agency FB" panose="020B0503020202020204" pitchFamily="34" charset="0"/>
              </a:rPr>
              <a:t> </a:t>
            </a:r>
            <a:r>
              <a:rPr lang="ar-EG" dirty="0">
                <a:solidFill>
                  <a:srgbClr val="00232E"/>
                </a:solidFill>
                <a:latin typeface="Agency FB" panose="020B0503020202020204" pitchFamily="34" charset="0"/>
              </a:rPr>
              <a:t>-</a:t>
            </a:r>
            <a:r>
              <a:rPr lang="en-US" dirty="0">
                <a:solidFill>
                  <a:srgbClr val="00232E"/>
                </a:solidFill>
                <a:latin typeface="Agency FB" panose="020B0503020202020204" pitchFamily="34" charset="0"/>
              </a:rPr>
              <a:t>Add Machin learning which provided by camera module to monitoring fish health and provide information about types of fish on the farm</a:t>
            </a:r>
            <a:endParaRPr lang="ar-EG" dirty="0">
              <a:solidFill>
                <a:srgbClr val="00232E"/>
              </a:solidFill>
              <a:latin typeface="Agency FB" panose="020B0503020202020204" pitchFamily="34" charset="0"/>
            </a:endParaRPr>
          </a:p>
          <a:p>
            <a:pPr>
              <a:lnSpc>
                <a:spcPct val="80000"/>
              </a:lnSpc>
            </a:pPr>
            <a:r>
              <a:rPr lang="en-US" dirty="0">
                <a:solidFill>
                  <a:srgbClr val="00232E"/>
                </a:solidFill>
                <a:latin typeface="Agency FB" panose="020B0503020202020204" pitchFamily="34" charset="0"/>
              </a:rPr>
              <a:t> </a:t>
            </a:r>
            <a:r>
              <a:rPr lang="ar-EG" dirty="0">
                <a:solidFill>
                  <a:srgbClr val="00232E"/>
                </a:solidFill>
                <a:latin typeface="Agency FB" panose="020B0503020202020204" pitchFamily="34" charset="0"/>
              </a:rPr>
              <a:t>-</a:t>
            </a:r>
            <a:r>
              <a:rPr lang="en-US" dirty="0">
                <a:solidFill>
                  <a:srgbClr val="00232E"/>
                </a:solidFill>
                <a:latin typeface="Agency FB" panose="020B0503020202020204" pitchFamily="34" charset="0"/>
              </a:rPr>
              <a:t>Add water flow controller to keep the flow steady and ensure oxygen spreads evenly</a:t>
            </a:r>
            <a:endParaRPr lang="ar-EG" dirty="0">
              <a:solidFill>
                <a:srgbClr val="00232E"/>
              </a:solidFill>
              <a:latin typeface="Agency FB" panose="020B0503020202020204" pitchFamily="34" charset="0"/>
            </a:endParaRPr>
          </a:p>
          <a:p>
            <a:pPr>
              <a:lnSpc>
                <a:spcPct val="80000"/>
              </a:lnSpc>
            </a:pPr>
            <a:r>
              <a:rPr lang="en-US" dirty="0">
                <a:solidFill>
                  <a:srgbClr val="00232E"/>
                </a:solidFill>
                <a:latin typeface="Agency FB" panose="020B0503020202020204" pitchFamily="34" charset="0"/>
              </a:rPr>
              <a:t> </a:t>
            </a:r>
            <a:r>
              <a:rPr lang="ar-EG" dirty="0">
                <a:solidFill>
                  <a:srgbClr val="00232E"/>
                </a:solidFill>
                <a:latin typeface="Agency FB" panose="020B0503020202020204" pitchFamily="34" charset="0"/>
              </a:rPr>
              <a:t>-</a:t>
            </a:r>
            <a:r>
              <a:rPr lang="en-US" dirty="0">
                <a:solidFill>
                  <a:srgbClr val="00232E"/>
                </a:solidFill>
                <a:latin typeface="Agency FB" panose="020B0503020202020204" pitchFamily="34" charset="0"/>
              </a:rPr>
              <a:t> Develop a cloud system for remote monitoring and controlling the system.</a:t>
            </a:r>
          </a:p>
        </p:txBody>
      </p:sp>
      <p:sp>
        <p:nvSpPr>
          <p:cNvPr id="398" name="Google Shape;398;p20"/>
          <p:cNvSpPr txBox="1">
            <a:spLocks noGrp="1"/>
          </p:cNvSpPr>
          <p:nvPr>
            <p:ph type="title"/>
          </p:nvPr>
        </p:nvSpPr>
        <p:spPr>
          <a:xfrm>
            <a:off x="17250390" y="3728826"/>
            <a:ext cx="5081700" cy="82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dirty="0">
                <a:solidFill>
                  <a:srgbClr val="E7EAED"/>
                </a:solidFill>
              </a:rPr>
              <a:t>Learning outcomes</a:t>
            </a:r>
            <a:endParaRPr sz="3600" dirty="0">
              <a:solidFill>
                <a:srgbClr val="E7EAED"/>
              </a:solidFill>
            </a:endParaRPr>
          </a:p>
        </p:txBody>
      </p:sp>
      <p:sp>
        <p:nvSpPr>
          <p:cNvPr id="35" name="TextBox 34">
            <a:extLst>
              <a:ext uri="{FF2B5EF4-FFF2-40B4-BE49-F238E27FC236}">
                <a16:creationId xmlns:a16="http://schemas.microsoft.com/office/drawing/2014/main" id="{490F99F5-0300-DE62-8BC6-1EDA6038FC24}"/>
              </a:ext>
            </a:extLst>
          </p:cNvPr>
          <p:cNvSpPr txBox="1"/>
          <p:nvPr/>
        </p:nvSpPr>
        <p:spPr>
          <a:xfrm>
            <a:off x="521631" y="15066834"/>
            <a:ext cx="5064071" cy="1748171"/>
          </a:xfrm>
          <a:prstGeom prst="rect">
            <a:avLst/>
          </a:prstGeom>
          <a:noFill/>
        </p:spPr>
        <p:txBody>
          <a:bodyPr wrap="square" rtlCol="0">
            <a:spAutoFit/>
          </a:bodyPr>
          <a:lstStyle/>
          <a:p>
            <a:pPr>
              <a:lnSpc>
                <a:spcPct val="90000"/>
              </a:lnSpc>
              <a:spcAft>
                <a:spcPts val="600"/>
              </a:spcAft>
            </a:pPr>
            <a:r>
              <a:rPr lang="en-US" sz="1600" b="1" u="sng" dirty="0">
                <a:solidFill>
                  <a:srgbClr val="142360"/>
                </a:solidFill>
                <a:latin typeface="Agency FB" panose="020B0503020202020204" pitchFamily="34" charset="0"/>
              </a:rPr>
              <a:t>System Building:</a:t>
            </a:r>
          </a:p>
          <a:p>
            <a:pPr>
              <a:lnSpc>
                <a:spcPct val="90000"/>
              </a:lnSpc>
            </a:pPr>
            <a:r>
              <a:rPr lang="en-US" b="1" dirty="0">
                <a:solidFill>
                  <a:srgbClr val="142360"/>
                </a:solidFill>
                <a:latin typeface="Agency FB" panose="020B0503020202020204" pitchFamily="34" charset="0"/>
              </a:rPr>
              <a:t>Step 1: </a:t>
            </a:r>
            <a:r>
              <a:rPr lang="en-US" dirty="0">
                <a:solidFill>
                  <a:srgbClr val="142360"/>
                </a:solidFill>
                <a:latin typeface="Agency FB" panose="020B0503020202020204" pitchFamily="34" charset="0"/>
              </a:rPr>
              <a:t>The ESP32 is fixed into a breadboard, with easy connections.</a:t>
            </a:r>
          </a:p>
          <a:p>
            <a:pPr>
              <a:lnSpc>
                <a:spcPct val="90000"/>
              </a:lnSpc>
            </a:pPr>
            <a:r>
              <a:rPr lang="en-US" b="1" dirty="0">
                <a:solidFill>
                  <a:srgbClr val="142360"/>
                </a:solidFill>
                <a:latin typeface="Agency FB" panose="020B0503020202020204" pitchFamily="34" charset="0"/>
              </a:rPr>
              <a:t>Step 2</a:t>
            </a:r>
            <a:r>
              <a:rPr lang="en-US" dirty="0">
                <a:solidFill>
                  <a:srgbClr val="142360"/>
                </a:solidFill>
                <a:latin typeface="Agency FB" panose="020B0503020202020204" pitchFamily="34" charset="0"/>
              </a:rPr>
              <a:t>: The sensors for pH, temperature, water level,</a:t>
            </a:r>
            <a:endParaRPr lang="ar-EG" dirty="0">
              <a:solidFill>
                <a:srgbClr val="142360"/>
              </a:solidFill>
              <a:latin typeface="Agency FB" panose="020B0503020202020204" pitchFamily="34" charset="0"/>
            </a:endParaRPr>
          </a:p>
          <a:p>
            <a:pPr>
              <a:lnSpc>
                <a:spcPct val="90000"/>
              </a:lnSpc>
            </a:pPr>
            <a:r>
              <a:rPr lang="en-US" dirty="0">
                <a:solidFill>
                  <a:srgbClr val="142360"/>
                </a:solidFill>
                <a:latin typeface="Agency FB" panose="020B0503020202020204" pitchFamily="34" charset="0"/>
              </a:rPr>
              <a:t> and flow rate were all wired to the ESP32 for the</a:t>
            </a:r>
            <a:endParaRPr lang="ar-EG" dirty="0">
              <a:solidFill>
                <a:srgbClr val="142360"/>
              </a:solidFill>
              <a:latin typeface="Agency FB" panose="020B0503020202020204" pitchFamily="34" charset="0"/>
            </a:endParaRPr>
          </a:p>
          <a:p>
            <a:pPr>
              <a:lnSpc>
                <a:spcPct val="90000"/>
              </a:lnSpc>
            </a:pPr>
            <a:r>
              <a:rPr lang="en-US" dirty="0">
                <a:solidFill>
                  <a:srgbClr val="142360"/>
                </a:solidFill>
                <a:latin typeface="Agency FB" panose="020B0503020202020204" pitchFamily="34" charset="0"/>
              </a:rPr>
              <a:t> measurement of water quality parameters shown </a:t>
            </a:r>
            <a:r>
              <a:rPr lang="en-US" b="1" dirty="0">
                <a:solidFill>
                  <a:srgbClr val="142360"/>
                </a:solidFill>
                <a:latin typeface="Agency FB" panose="020B0503020202020204" pitchFamily="34" charset="0"/>
              </a:rPr>
              <a:t>in fig (2,4).</a:t>
            </a:r>
          </a:p>
          <a:p>
            <a:pPr>
              <a:lnSpc>
                <a:spcPct val="90000"/>
              </a:lnSpc>
            </a:pPr>
            <a:r>
              <a:rPr lang="en-US" b="1" dirty="0">
                <a:solidFill>
                  <a:srgbClr val="142360"/>
                </a:solidFill>
                <a:latin typeface="Agency FB" panose="020B0503020202020204" pitchFamily="34" charset="0"/>
              </a:rPr>
              <a:t>Step 3: </a:t>
            </a:r>
            <a:r>
              <a:rPr lang="en-US" dirty="0">
                <a:solidFill>
                  <a:srgbClr val="142360"/>
                </a:solidFill>
                <a:latin typeface="Agency FB" panose="020B0503020202020204" pitchFamily="34" charset="0"/>
              </a:rPr>
              <a:t>A buzzer and LEDs were implemented to</a:t>
            </a:r>
          </a:p>
          <a:p>
            <a:pPr>
              <a:lnSpc>
                <a:spcPct val="90000"/>
              </a:lnSpc>
            </a:pPr>
            <a:r>
              <a:rPr lang="en-US" dirty="0">
                <a:solidFill>
                  <a:srgbClr val="142360"/>
                </a:solidFill>
                <a:latin typeface="Agency FB" panose="020B0503020202020204" pitchFamily="34" charset="0"/>
              </a:rPr>
              <a:t> provide alarm notifications to the users when the </a:t>
            </a:r>
          </a:p>
          <a:p>
            <a:pPr>
              <a:lnSpc>
                <a:spcPct val="90000"/>
              </a:lnSpc>
            </a:pPr>
            <a:r>
              <a:rPr lang="en-US" dirty="0">
                <a:solidFill>
                  <a:srgbClr val="142360"/>
                </a:solidFill>
                <a:latin typeface="Agency FB" panose="020B0503020202020204" pitchFamily="34" charset="0"/>
              </a:rPr>
              <a:t>water quality parameters exceeded safe thresholds.</a:t>
            </a:r>
            <a:endParaRPr lang="en-US" dirty="0">
              <a:solidFill>
                <a:srgbClr val="142360"/>
              </a:solidFill>
            </a:endParaRPr>
          </a:p>
        </p:txBody>
      </p:sp>
      <p:grpSp>
        <p:nvGrpSpPr>
          <p:cNvPr id="449" name="Group 448">
            <a:extLst>
              <a:ext uri="{FF2B5EF4-FFF2-40B4-BE49-F238E27FC236}">
                <a16:creationId xmlns:a16="http://schemas.microsoft.com/office/drawing/2014/main" id="{F06CC737-1CC7-F162-293F-BD566E1216E2}"/>
              </a:ext>
            </a:extLst>
          </p:cNvPr>
          <p:cNvGrpSpPr/>
          <p:nvPr/>
        </p:nvGrpSpPr>
        <p:grpSpPr>
          <a:xfrm>
            <a:off x="4219630" y="15624573"/>
            <a:ext cx="1500565" cy="1061772"/>
            <a:chOff x="3851720" y="15829661"/>
            <a:chExt cx="1500565" cy="1061772"/>
          </a:xfrm>
        </p:grpSpPr>
        <p:pic>
          <p:nvPicPr>
            <p:cNvPr id="39" name="Picture 38" descr="A circuit board with wires&#10;&#10;Description automatically generated">
              <a:extLst>
                <a:ext uri="{FF2B5EF4-FFF2-40B4-BE49-F238E27FC236}">
                  <a16:creationId xmlns:a16="http://schemas.microsoft.com/office/drawing/2014/main" id="{7A4C004B-7EE8-6728-5C85-B3A811909D2E}"/>
                </a:ext>
              </a:extLst>
            </p:cNvPr>
            <p:cNvPicPr>
              <a:picLocks noChangeAspect="1"/>
            </p:cNvPicPr>
            <p:nvPr/>
          </p:nvPicPr>
          <p:blipFill>
            <a:blip r:embed="rId30"/>
            <a:stretch>
              <a:fillRect/>
            </a:stretch>
          </p:blipFill>
          <p:spPr>
            <a:xfrm>
              <a:off x="3851720" y="15850033"/>
              <a:ext cx="1192789" cy="1041400"/>
            </a:xfrm>
            <a:prstGeom prst="rect">
              <a:avLst/>
            </a:prstGeom>
            <a:ln>
              <a:noFill/>
            </a:ln>
            <a:effectLst>
              <a:outerShdw blurRad="190500" algn="tl" rotWithShape="0">
                <a:srgbClr val="000000">
                  <a:alpha val="70000"/>
                </a:srgbClr>
              </a:outerShdw>
            </a:effectLst>
          </p:spPr>
        </p:pic>
        <p:sp>
          <p:nvSpPr>
            <p:cNvPr id="448" name="TextBox 447">
              <a:extLst>
                <a:ext uri="{FF2B5EF4-FFF2-40B4-BE49-F238E27FC236}">
                  <a16:creationId xmlns:a16="http://schemas.microsoft.com/office/drawing/2014/main" id="{F0C29B21-0B07-34F4-BFA3-41229CF93B4F}"/>
                </a:ext>
              </a:extLst>
            </p:cNvPr>
            <p:cNvSpPr txBox="1"/>
            <p:nvPr/>
          </p:nvSpPr>
          <p:spPr>
            <a:xfrm rot="5400000">
              <a:off x="4667511" y="16206658"/>
              <a:ext cx="1061772"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Figure (2</a:t>
              </a:r>
              <a:r>
                <a:rPr lang="en-US" sz="1200" b="1" dirty="0">
                  <a:solidFill>
                    <a:srgbClr val="C1E4F5"/>
                  </a:solidFill>
                  <a:latin typeface="Copperplate Gothic Bold" panose="020E0705020206020404" pitchFamily="34" charset="0"/>
                </a:rPr>
                <a:t>)</a:t>
              </a:r>
              <a:endParaRPr lang="en-US" b="1" dirty="0">
                <a:solidFill>
                  <a:srgbClr val="C1E4F5"/>
                </a:solidFill>
                <a:latin typeface="Agency FB" panose="020B0503020202020204" pitchFamily="34" charset="0"/>
              </a:endParaRPr>
            </a:p>
          </p:txBody>
        </p:sp>
      </p:grpSp>
      <p:grpSp>
        <p:nvGrpSpPr>
          <p:cNvPr id="453" name="Group 452">
            <a:extLst>
              <a:ext uri="{FF2B5EF4-FFF2-40B4-BE49-F238E27FC236}">
                <a16:creationId xmlns:a16="http://schemas.microsoft.com/office/drawing/2014/main" id="{372BC3D3-D00F-9E3A-0EA1-B5C1D530D16C}"/>
              </a:ext>
            </a:extLst>
          </p:cNvPr>
          <p:cNvGrpSpPr/>
          <p:nvPr/>
        </p:nvGrpSpPr>
        <p:grpSpPr>
          <a:xfrm>
            <a:off x="14881863" y="2062453"/>
            <a:ext cx="1869943" cy="1024867"/>
            <a:chOff x="14465358" y="11013590"/>
            <a:chExt cx="2368979" cy="1298376"/>
          </a:xfrm>
        </p:grpSpPr>
        <p:pic>
          <p:nvPicPr>
            <p:cNvPr id="454" name="Picture 453">
              <a:extLst>
                <a:ext uri="{FF2B5EF4-FFF2-40B4-BE49-F238E27FC236}">
                  <a16:creationId xmlns:a16="http://schemas.microsoft.com/office/drawing/2014/main" id="{11D5862D-4475-ECDF-A644-3AA02FBBF4C3}"/>
                </a:ext>
              </a:extLst>
            </p:cNvPr>
            <p:cNvPicPr>
              <a:picLocks noChangeAspect="1"/>
            </p:cNvPicPr>
            <p:nvPr/>
          </p:nvPicPr>
          <p:blipFill>
            <a:blip r:embed="rId31"/>
            <a:stretch>
              <a:fillRect/>
            </a:stretch>
          </p:blipFill>
          <p:spPr>
            <a:xfrm>
              <a:off x="14465358" y="11013590"/>
              <a:ext cx="2368979" cy="1006959"/>
            </a:xfrm>
            <a:prstGeom prst="rect">
              <a:avLst/>
            </a:prstGeom>
            <a:ln>
              <a:noFill/>
            </a:ln>
            <a:effectLst>
              <a:outerShdw blurRad="190500" algn="tl" rotWithShape="0">
                <a:srgbClr val="000000">
                  <a:alpha val="70000"/>
                </a:srgbClr>
              </a:outerShdw>
            </a:effectLst>
          </p:spPr>
        </p:pic>
        <p:sp>
          <p:nvSpPr>
            <p:cNvPr id="455" name="TextBox 454">
              <a:extLst>
                <a:ext uri="{FF2B5EF4-FFF2-40B4-BE49-F238E27FC236}">
                  <a16:creationId xmlns:a16="http://schemas.microsoft.com/office/drawing/2014/main" id="{7A0D659B-6306-66EE-A3C5-5EEF485CDCE3}"/>
                </a:ext>
              </a:extLst>
            </p:cNvPr>
            <p:cNvSpPr txBox="1"/>
            <p:nvPr/>
          </p:nvSpPr>
          <p:spPr>
            <a:xfrm>
              <a:off x="14465358" y="12004189"/>
              <a:ext cx="2368979"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Figure (5)</a:t>
              </a:r>
              <a:endParaRPr lang="en-US" sz="1200" b="1" dirty="0">
                <a:solidFill>
                  <a:srgbClr val="C1E4F5"/>
                </a:solidFill>
                <a:latin typeface="Copperplate Gothic Bold" panose="020E0705020206020404" pitchFamily="34" charset="0"/>
              </a:endParaRPr>
            </a:p>
          </p:txBody>
        </p:sp>
      </p:grpSp>
      <p:sp>
        <p:nvSpPr>
          <p:cNvPr id="460" name="TextBox 459">
            <a:extLst>
              <a:ext uri="{FF2B5EF4-FFF2-40B4-BE49-F238E27FC236}">
                <a16:creationId xmlns:a16="http://schemas.microsoft.com/office/drawing/2014/main" id="{EBBBB22E-FA65-61A9-F254-369328CA5390}"/>
              </a:ext>
            </a:extLst>
          </p:cNvPr>
          <p:cNvSpPr txBox="1"/>
          <p:nvPr/>
        </p:nvSpPr>
        <p:spPr>
          <a:xfrm>
            <a:off x="11357021" y="11504909"/>
            <a:ext cx="3674285" cy="584775"/>
          </a:xfrm>
          <a:prstGeom prst="rect">
            <a:avLst/>
          </a:prstGeom>
          <a:noFill/>
        </p:spPr>
        <p:txBody>
          <a:bodyPr wrap="square" rtlCol="0">
            <a:spAutoFit/>
          </a:bodyPr>
          <a:lstStyle/>
          <a:p>
            <a:pPr>
              <a:spcAft>
                <a:spcPts val="1200"/>
              </a:spcAft>
            </a:pPr>
            <a:r>
              <a:rPr lang="en-US" sz="3200" b="1" u="sng"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-test plane:</a:t>
            </a:r>
            <a:endParaRPr lang="en-US" sz="24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endParaRPr>
          </a:p>
        </p:txBody>
      </p:sp>
      <p:sp>
        <p:nvSpPr>
          <p:cNvPr id="465" name="TextBox 464">
            <a:extLst>
              <a:ext uri="{FF2B5EF4-FFF2-40B4-BE49-F238E27FC236}">
                <a16:creationId xmlns:a16="http://schemas.microsoft.com/office/drawing/2014/main" id="{B61AE90E-CBCF-4796-8B7E-BC399BB8EF88}"/>
              </a:ext>
            </a:extLst>
          </p:cNvPr>
          <p:cNvSpPr txBox="1"/>
          <p:nvPr/>
        </p:nvSpPr>
        <p:spPr>
          <a:xfrm>
            <a:off x="11464913" y="12023906"/>
            <a:ext cx="5131359" cy="1717458"/>
          </a:xfrm>
          <a:prstGeom prst="rect">
            <a:avLst/>
          </a:prstGeom>
          <a:noFill/>
        </p:spPr>
        <p:txBody>
          <a:bodyPr wrap="square" rtlCol="0">
            <a:spAutoFit/>
          </a:bodyPr>
          <a:lstStyle/>
          <a:p>
            <a:pPr marL="0" marR="0">
              <a:lnSpc>
                <a:spcPct val="80000"/>
              </a:lnSpc>
              <a:spcAft>
                <a:spcPts val="800"/>
              </a:spcAft>
            </a:pPr>
            <a:r>
              <a:rPr lang="en-US" kern="100" dirty="0">
                <a:solidFill>
                  <a:srgbClr val="071320"/>
                </a:solidFill>
                <a:effectLst/>
                <a:latin typeface="Agency FB" panose="020B0503020202020204" pitchFamily="34" charset="0"/>
                <a:ea typeface="Aptos" panose="020B0004020202020204" pitchFamily="34" charset="0"/>
                <a:cs typeface="Arial" panose="020B0604020202020204" pitchFamily="34" charset="0"/>
              </a:rPr>
              <a:t>To work on our project the project was tested to make sure the project meet the design requirements.</a:t>
            </a:r>
            <a:br>
              <a:rPr lang="en-US" kern="100" dirty="0">
                <a:latin typeface="Agency FB" panose="020B0503020202020204" pitchFamily="34" charset="0"/>
                <a:ea typeface="Aptos" panose="020B0004020202020204" pitchFamily="34" charset="0"/>
                <a:cs typeface="Arial" panose="020B0604020202020204" pitchFamily="34" charset="0"/>
              </a:rPr>
            </a:br>
            <a:r>
              <a:rPr lang="en-US" b="1" kern="100" dirty="0">
                <a:solidFill>
                  <a:srgbClr val="071320"/>
                </a:solidFill>
                <a:effectLst/>
                <a:latin typeface="Agency FB" panose="020B0503020202020204" pitchFamily="34" charset="0"/>
                <a:ea typeface="Aptos" panose="020B0004020202020204" pitchFamily="34" charset="0"/>
                <a:cs typeface="Arial" panose="020B0604020202020204" pitchFamily="34" charset="0"/>
              </a:rPr>
              <a:t>The first part is Sensor Testing , Integration and  warning system </a:t>
            </a:r>
            <a:endParaRPr lang="en-US" kern="100" dirty="0">
              <a:effectLst/>
              <a:latin typeface="Agency FB" panose="020B0503020202020204" pitchFamily="34" charset="0"/>
              <a:ea typeface="Aptos" panose="020B0004020202020204" pitchFamily="34" charset="0"/>
              <a:cs typeface="Arial" panose="020B0604020202020204" pitchFamily="34" charset="0"/>
            </a:endParaRPr>
          </a:p>
          <a:p>
            <a:pPr marL="0" marR="0">
              <a:lnSpc>
                <a:spcPct val="70000"/>
              </a:lnSpc>
              <a:spcAft>
                <a:spcPts val="800"/>
              </a:spcAft>
            </a:pPr>
            <a:r>
              <a:rPr lang="en-US" kern="100" dirty="0">
                <a:solidFill>
                  <a:srgbClr val="071320"/>
                </a:solidFill>
                <a:effectLst/>
                <a:latin typeface="Agency FB" panose="020B0503020202020204" pitchFamily="34" charset="0"/>
                <a:ea typeface="Aptos" panose="020B0004020202020204" pitchFamily="34" charset="0"/>
                <a:cs typeface="Arial" panose="020B0604020202020204" pitchFamily="34" charset="0"/>
              </a:rPr>
              <a:t>It was necessary to test all sensors of the system for accuracy and proper functioning while connecting them to the Arduino Uno controller. These tests were done to the: </a:t>
            </a:r>
            <a:endParaRPr lang="en-US" kern="100" dirty="0">
              <a:effectLst/>
              <a:latin typeface="Agency FB" panose="020B0503020202020204" pitchFamily="34" charset="0"/>
              <a:ea typeface="Aptos" panose="020B0004020202020204" pitchFamily="34" charset="0"/>
              <a:cs typeface="Arial" panose="020B0604020202020204" pitchFamily="34" charset="0"/>
            </a:endParaRPr>
          </a:p>
          <a:p>
            <a:pPr marL="0" marR="0" algn="just">
              <a:lnSpc>
                <a:spcPct val="80000"/>
              </a:lnSpc>
              <a:spcAft>
                <a:spcPts val="800"/>
              </a:spcAft>
            </a:pPr>
            <a:r>
              <a:rPr lang="en-US" b="1" kern="100" dirty="0">
                <a:solidFill>
                  <a:srgbClr val="071320"/>
                </a:solidFill>
                <a:effectLst/>
                <a:latin typeface="Agency FB" panose="020B0503020202020204" pitchFamily="34" charset="0"/>
                <a:ea typeface="Aptos" panose="020B0004020202020204" pitchFamily="34" charset="0"/>
                <a:cs typeface="Arial" panose="020B0604020202020204" pitchFamily="34" charset="0"/>
              </a:rPr>
              <a:t>-pH Sensor</a:t>
            </a:r>
            <a:r>
              <a:rPr lang="en-US" kern="100" dirty="0">
                <a:solidFill>
                  <a:srgbClr val="071320"/>
                </a:solidFill>
                <a:effectLst/>
                <a:latin typeface="Agency FB" panose="020B0503020202020204" pitchFamily="34" charset="0"/>
                <a:ea typeface="Aptos" panose="020B0004020202020204" pitchFamily="34" charset="0"/>
                <a:cs typeface="Arial" panose="020B0604020202020204" pitchFamily="34" charset="0"/>
              </a:rPr>
              <a:t>: Ensures water acidity/alkalinity stays optimal for fish health.</a:t>
            </a:r>
            <a:br>
              <a:rPr lang="en-US" kern="100" dirty="0">
                <a:latin typeface="Agency FB" panose="020B0503020202020204" pitchFamily="34" charset="0"/>
                <a:ea typeface="Aptos" panose="020B0004020202020204" pitchFamily="34" charset="0"/>
                <a:cs typeface="Arial" panose="020B0604020202020204" pitchFamily="34" charset="0"/>
              </a:rPr>
            </a:br>
            <a:r>
              <a:rPr lang="en-US" kern="100" dirty="0">
                <a:latin typeface="Agency FB" panose="020B0503020202020204" pitchFamily="34" charset="0"/>
                <a:ea typeface="Aptos" panose="020B0004020202020204" pitchFamily="34" charset="0"/>
                <a:cs typeface="Arial" panose="020B0604020202020204" pitchFamily="34" charset="0"/>
              </a:rPr>
              <a:t>-</a:t>
            </a:r>
            <a:r>
              <a:rPr lang="en-US" b="1" kern="100" dirty="0">
                <a:solidFill>
                  <a:srgbClr val="071320"/>
                </a:solidFill>
                <a:effectLst/>
                <a:latin typeface="Agency FB" panose="020B0503020202020204" pitchFamily="34" charset="0"/>
                <a:ea typeface="Aptos" panose="020B0004020202020204" pitchFamily="34" charset="0"/>
                <a:cs typeface="Arial" panose="020B0604020202020204" pitchFamily="34" charset="0"/>
              </a:rPr>
              <a:t>Temperature Sensor</a:t>
            </a:r>
            <a:r>
              <a:rPr lang="en-US" kern="100" dirty="0">
                <a:solidFill>
                  <a:srgbClr val="071320"/>
                </a:solidFill>
                <a:effectLst/>
                <a:latin typeface="Agency FB" panose="020B0503020202020204" pitchFamily="34" charset="0"/>
                <a:ea typeface="Aptos" panose="020B0004020202020204" pitchFamily="34" charset="0"/>
                <a:cs typeface="Arial" panose="020B0604020202020204" pitchFamily="34" charset="0"/>
              </a:rPr>
              <a:t>: Maintains stable water temperature to prevent fish stress.</a:t>
            </a:r>
            <a:endParaRPr lang="en-US" kern="100" dirty="0">
              <a:effectLst/>
              <a:latin typeface="Agency FB" panose="020B0503020202020204" pitchFamily="34" charset="0"/>
              <a:ea typeface="Aptos" panose="020B0004020202020204" pitchFamily="34" charset="0"/>
              <a:cs typeface="Arial" panose="020B0604020202020204" pitchFamily="34" charset="0"/>
            </a:endParaRPr>
          </a:p>
          <a:p>
            <a:pPr>
              <a:lnSpc>
                <a:spcPct val="70000"/>
              </a:lnSpc>
            </a:pPr>
            <a:endParaRPr lang="en-US" dirty="0"/>
          </a:p>
        </p:txBody>
      </p:sp>
      <p:grpSp>
        <p:nvGrpSpPr>
          <p:cNvPr id="481" name="Group 480">
            <a:extLst>
              <a:ext uri="{FF2B5EF4-FFF2-40B4-BE49-F238E27FC236}">
                <a16:creationId xmlns:a16="http://schemas.microsoft.com/office/drawing/2014/main" id="{E82C5C1B-4A77-2408-4F49-2057DFC85E01}"/>
              </a:ext>
            </a:extLst>
          </p:cNvPr>
          <p:cNvGrpSpPr/>
          <p:nvPr/>
        </p:nvGrpSpPr>
        <p:grpSpPr>
          <a:xfrm>
            <a:off x="11554835" y="13450724"/>
            <a:ext cx="3832877" cy="1436597"/>
            <a:chOff x="11616673" y="13460503"/>
            <a:chExt cx="4214401" cy="1241506"/>
          </a:xfrm>
        </p:grpSpPr>
        <p:pic>
          <p:nvPicPr>
            <p:cNvPr id="471" name="Picture 470">
              <a:extLst>
                <a:ext uri="{FF2B5EF4-FFF2-40B4-BE49-F238E27FC236}">
                  <a16:creationId xmlns:a16="http://schemas.microsoft.com/office/drawing/2014/main" id="{0C515E8E-CD95-E3BB-79AA-77A2CED6A5D0}"/>
                </a:ext>
              </a:extLst>
            </p:cNvPr>
            <p:cNvPicPr>
              <a:picLocks noChangeAspect="1"/>
            </p:cNvPicPr>
            <p:nvPr/>
          </p:nvPicPr>
          <p:blipFill>
            <a:blip r:embed="rId32"/>
            <a:stretch>
              <a:fillRect/>
            </a:stretch>
          </p:blipFill>
          <p:spPr>
            <a:xfrm>
              <a:off x="11616673" y="13460503"/>
              <a:ext cx="4214401" cy="933730"/>
            </a:xfrm>
            <a:prstGeom prst="rect">
              <a:avLst/>
            </a:prstGeom>
          </p:spPr>
        </p:pic>
        <p:sp>
          <p:nvSpPr>
            <p:cNvPr id="479" name="TextBox 478">
              <a:extLst>
                <a:ext uri="{FF2B5EF4-FFF2-40B4-BE49-F238E27FC236}">
                  <a16:creationId xmlns:a16="http://schemas.microsoft.com/office/drawing/2014/main" id="{FFF81CB3-1E02-3B89-A51E-F75854747588}"/>
                </a:ext>
              </a:extLst>
            </p:cNvPr>
            <p:cNvSpPr txBox="1"/>
            <p:nvPr/>
          </p:nvSpPr>
          <p:spPr>
            <a:xfrm>
              <a:off x="11616673" y="14394232"/>
              <a:ext cx="4214401"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Table(5)</a:t>
              </a:r>
              <a:endParaRPr lang="en-US" sz="1200" b="1" dirty="0">
                <a:solidFill>
                  <a:srgbClr val="C1E4F5"/>
                </a:solidFill>
                <a:latin typeface="Copperplate Gothic Bold" panose="020E0705020206020404" pitchFamily="34" charset="0"/>
              </a:endParaRPr>
            </a:p>
          </p:txBody>
        </p:sp>
      </p:grpSp>
      <p:sp>
        <p:nvSpPr>
          <p:cNvPr id="483" name="TextBox 482">
            <a:extLst>
              <a:ext uri="{FF2B5EF4-FFF2-40B4-BE49-F238E27FC236}">
                <a16:creationId xmlns:a16="http://schemas.microsoft.com/office/drawing/2014/main" id="{8CD19111-C364-F494-8135-2D1271C05BE0}"/>
              </a:ext>
            </a:extLst>
          </p:cNvPr>
          <p:cNvSpPr txBox="1"/>
          <p:nvPr/>
        </p:nvSpPr>
        <p:spPr>
          <a:xfrm>
            <a:off x="15387712" y="13430084"/>
            <a:ext cx="1668340" cy="1615827"/>
          </a:xfrm>
          <a:prstGeom prst="rect">
            <a:avLst/>
          </a:prstGeom>
          <a:noFill/>
        </p:spPr>
        <p:txBody>
          <a:bodyPr wrap="square" rtlCol="0">
            <a:spAutoFit/>
          </a:bodyPr>
          <a:lstStyle/>
          <a:p>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This table shows the results of trials to evaluate the system’s temperature and pH measurements. The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"Temp. in system"</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and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"pH in system"</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are the readings from the system, while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"Real temp."</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and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"Real pH"</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represent the actual measured values. The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Error%</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column indicates the deviation between the system and real values. The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System alarm</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column shows when the alarm was triggered, indicating that the readings were outside the optimal range, which occurred in the 1st, 4th, and 5th trials.</a:t>
            </a:r>
          </a:p>
          <a:p>
            <a:endParaRPr lang="en-US" sz="300" dirty="0">
              <a:solidFill>
                <a:srgbClr val="00232E"/>
              </a:solidFill>
            </a:endParaRPr>
          </a:p>
        </p:txBody>
      </p:sp>
      <p:sp>
        <p:nvSpPr>
          <p:cNvPr id="484" name="TextBox 483">
            <a:extLst>
              <a:ext uri="{FF2B5EF4-FFF2-40B4-BE49-F238E27FC236}">
                <a16:creationId xmlns:a16="http://schemas.microsoft.com/office/drawing/2014/main" id="{97240F96-5DE8-B3E5-60B1-222C54D01C2D}"/>
              </a:ext>
            </a:extLst>
          </p:cNvPr>
          <p:cNvSpPr txBox="1"/>
          <p:nvPr/>
        </p:nvSpPr>
        <p:spPr>
          <a:xfrm>
            <a:off x="11500850" y="15008780"/>
            <a:ext cx="4015978" cy="1977786"/>
          </a:xfrm>
          <a:prstGeom prst="rect">
            <a:avLst/>
          </a:prstGeom>
          <a:noFill/>
        </p:spPr>
        <p:txBody>
          <a:bodyPr wrap="square" rtlCol="0">
            <a:spAutoFit/>
          </a:bodyPr>
          <a:lstStyle/>
          <a:p>
            <a:pPr marL="0" marR="0">
              <a:lnSpc>
                <a:spcPct val="107000"/>
              </a:lnSpc>
              <a:spcAft>
                <a:spcPts val="800"/>
              </a:spcAft>
            </a:pP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and </a:t>
            </a:r>
            <a: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"Real pH"</a:t>
            </a: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represent the actual measured values. The </a:t>
            </a:r>
            <a: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Error%</a:t>
            </a: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column indicates the deviation</a:t>
            </a:r>
            <a:b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a:t>
            </a:r>
            <a: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Flow Rate Sensor</a:t>
            </a: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Monitors water </a:t>
            </a:r>
            <a:b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Circulation for adequate oxygen and</a:t>
            </a:r>
            <a:b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br>
            <a:r>
              <a:rPr lang="en-US"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nutrient distribution.</a:t>
            </a:r>
            <a:br>
              <a:rPr lang="en-US" kern="100" dirty="0">
                <a:solidFill>
                  <a:srgbClr val="00232E"/>
                </a:solidFill>
                <a:latin typeface="Agency FB" panose="020B0503020202020204" pitchFamily="34" charset="0"/>
                <a:ea typeface="Aptos" panose="020B0004020202020204" pitchFamily="34" charset="0"/>
                <a:cs typeface="Arial" panose="020B0604020202020204" pitchFamily="34" charset="0"/>
              </a:rPr>
            </a:br>
            <a:r>
              <a:rPr lang="en-US" kern="100" dirty="0">
                <a:solidFill>
                  <a:srgbClr val="00232E"/>
                </a:solidFill>
                <a:latin typeface="Agency FB" panose="020B0503020202020204" pitchFamily="34" charset="0"/>
                <a:ea typeface="Aptos" panose="020B0004020202020204" pitchFamily="34" charset="0"/>
                <a:cs typeface="Arial" panose="020B0604020202020204" pitchFamily="34" charset="0"/>
              </a:rPr>
              <a:t>-</a:t>
            </a:r>
            <a: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Dissolved Oxygen (DO) Calculation:</a:t>
            </a:r>
            <a:br>
              <a:rPr lang="en-US" kern="100" dirty="0">
                <a:solidFill>
                  <a:srgbClr val="00232E"/>
                </a:solidFill>
                <a:latin typeface="Agency FB" panose="020B0503020202020204" pitchFamily="34" charset="0"/>
                <a:ea typeface="Aptos" panose="020B0004020202020204" pitchFamily="34" charset="0"/>
                <a:cs typeface="Arial" panose="020B0604020202020204" pitchFamily="34" charset="0"/>
              </a:rPr>
            </a:br>
            <a: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DO= (</a:t>
            </a:r>
            <a:r>
              <a:rPr lang="en-US" b="1" kern="100" dirty="0">
                <a:solidFill>
                  <a:srgbClr val="00232E"/>
                </a:solidFill>
                <a:effectLst/>
                <a:latin typeface="Agency FB" panose="020B0503020202020204" pitchFamily="34" charset="0"/>
                <a:ea typeface="Aptos" panose="020B0004020202020204" pitchFamily="34" charset="0"/>
                <a:cs typeface="Cambria Math" panose="02040503050406030204" pitchFamily="18" charset="0"/>
              </a:rPr>
              <a:t>𝐾𝑡𝑒𝑚𝑝</a:t>
            </a:r>
            <a: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/T) + (</a:t>
            </a:r>
            <a:r>
              <a:rPr lang="en-US" b="1" kern="100" dirty="0">
                <a:solidFill>
                  <a:srgbClr val="00232E"/>
                </a:solidFill>
                <a:effectLst/>
                <a:latin typeface="Agency FB" panose="020B0503020202020204" pitchFamily="34" charset="0"/>
                <a:ea typeface="Aptos" panose="020B0004020202020204" pitchFamily="34" charset="0"/>
                <a:cs typeface="Cambria Math" panose="02040503050406030204" pitchFamily="18" charset="0"/>
              </a:rPr>
              <a:t>𝐾𝑓𝑙𝑜𝑤</a:t>
            </a:r>
            <a:r>
              <a:rPr lang="en-US"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×FLOW) + 5</a:t>
            </a:r>
          </a:p>
          <a:p>
            <a:endParaRPr lang="en-US" sz="1100" dirty="0">
              <a:latin typeface="Agency FB" panose="020B0503020202020204" pitchFamily="34" charset="0"/>
            </a:endParaRPr>
          </a:p>
        </p:txBody>
      </p:sp>
      <p:pic>
        <p:nvPicPr>
          <p:cNvPr id="487" name="Picture 486">
            <a:extLst>
              <a:ext uri="{FF2B5EF4-FFF2-40B4-BE49-F238E27FC236}">
                <a16:creationId xmlns:a16="http://schemas.microsoft.com/office/drawing/2014/main" id="{1B9C6B5F-5552-4169-D324-31E72C4F565D}"/>
              </a:ext>
            </a:extLst>
          </p:cNvPr>
          <p:cNvPicPr>
            <a:picLocks noChangeAspect="1"/>
          </p:cNvPicPr>
          <p:nvPr/>
        </p:nvPicPr>
        <p:blipFill>
          <a:blip r:embed="rId33"/>
          <a:stretch>
            <a:fillRect/>
          </a:stretch>
        </p:blipFill>
        <p:spPr>
          <a:xfrm>
            <a:off x="14157859" y="15293774"/>
            <a:ext cx="1552315" cy="1230553"/>
          </a:xfrm>
          <a:prstGeom prst="rect">
            <a:avLst/>
          </a:prstGeom>
        </p:spPr>
      </p:pic>
      <p:sp>
        <p:nvSpPr>
          <p:cNvPr id="488" name="TextBox 487">
            <a:extLst>
              <a:ext uri="{FF2B5EF4-FFF2-40B4-BE49-F238E27FC236}">
                <a16:creationId xmlns:a16="http://schemas.microsoft.com/office/drawing/2014/main" id="{5285F580-D8CA-4904-D59F-E4788964AC76}"/>
              </a:ext>
            </a:extLst>
          </p:cNvPr>
          <p:cNvSpPr txBox="1"/>
          <p:nvPr/>
        </p:nvSpPr>
        <p:spPr>
          <a:xfrm rot="16200000">
            <a:off x="15248788" y="15755160"/>
            <a:ext cx="1230552"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Table(6)</a:t>
            </a:r>
            <a:endParaRPr lang="en-US" sz="1200" b="1" dirty="0">
              <a:solidFill>
                <a:srgbClr val="C1E4F5"/>
              </a:solidFill>
              <a:latin typeface="Copperplate Gothic Bold" panose="020E0705020206020404" pitchFamily="34" charset="0"/>
            </a:endParaRPr>
          </a:p>
        </p:txBody>
      </p:sp>
      <p:sp>
        <p:nvSpPr>
          <p:cNvPr id="489" name="TextBox 488">
            <a:extLst>
              <a:ext uri="{FF2B5EF4-FFF2-40B4-BE49-F238E27FC236}">
                <a16:creationId xmlns:a16="http://schemas.microsoft.com/office/drawing/2014/main" id="{AA541C7F-3603-7243-0E06-733FDD91FB4D}"/>
              </a:ext>
            </a:extLst>
          </p:cNvPr>
          <p:cNvSpPr txBox="1"/>
          <p:nvPr/>
        </p:nvSpPr>
        <p:spPr>
          <a:xfrm>
            <a:off x="16028632" y="15282253"/>
            <a:ext cx="984461" cy="1200329"/>
          </a:xfrm>
          <a:prstGeom prst="rect">
            <a:avLst/>
          </a:prstGeom>
          <a:noFill/>
        </p:spPr>
        <p:txBody>
          <a:bodyPr wrap="square" rtlCol="0">
            <a:spAutoFit/>
          </a:bodyPr>
          <a:lstStyle/>
          <a:p>
            <a:pPr marL="0" marR="0">
              <a:lnSpc>
                <a:spcPct val="90000"/>
              </a:lnSpc>
            </a:pP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As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water flow</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increases,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DO levels</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rise. The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alarm</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triggers when DO exceeds 8 mg/L, starting from trial 6. The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error percentage</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 shows the accuracy of system readings, highlighting the need for </a:t>
            </a:r>
            <a:r>
              <a:rPr lang="en-US" sz="800" b="1"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balanced flow</a:t>
            </a:r>
            <a:r>
              <a:rPr lang="en-US" sz="800" kern="100" dirty="0">
                <a:solidFill>
                  <a:srgbClr val="00232E"/>
                </a:solidFill>
                <a:effectLst/>
                <a:latin typeface="Agency FB" panose="020B0503020202020204" pitchFamily="34" charset="0"/>
                <a:ea typeface="Aptos" panose="020B0004020202020204" pitchFamily="34" charset="0"/>
                <a:cs typeface="Arial" panose="020B0604020202020204" pitchFamily="34" charset="0"/>
              </a:rPr>
              <a:t>.</a:t>
            </a:r>
          </a:p>
        </p:txBody>
      </p:sp>
      <p:pic>
        <p:nvPicPr>
          <p:cNvPr id="492" name="Picture 491">
            <a:extLst>
              <a:ext uri="{FF2B5EF4-FFF2-40B4-BE49-F238E27FC236}">
                <a16:creationId xmlns:a16="http://schemas.microsoft.com/office/drawing/2014/main" id="{C2433ACB-E222-FF7E-A842-2620B3BAAA5D}"/>
              </a:ext>
            </a:extLst>
          </p:cNvPr>
          <p:cNvPicPr>
            <a:picLocks noChangeAspect="1"/>
          </p:cNvPicPr>
          <p:nvPr/>
        </p:nvPicPr>
        <p:blipFill>
          <a:blip r:embed="rId34"/>
          <a:stretch>
            <a:fillRect/>
          </a:stretch>
        </p:blipFill>
        <p:spPr>
          <a:xfrm>
            <a:off x="17273894" y="2377504"/>
            <a:ext cx="3957332" cy="1310781"/>
          </a:xfrm>
          <a:prstGeom prst="rect">
            <a:avLst/>
          </a:prstGeom>
        </p:spPr>
      </p:pic>
      <p:sp>
        <p:nvSpPr>
          <p:cNvPr id="493" name="TextBox 492">
            <a:extLst>
              <a:ext uri="{FF2B5EF4-FFF2-40B4-BE49-F238E27FC236}">
                <a16:creationId xmlns:a16="http://schemas.microsoft.com/office/drawing/2014/main" id="{72CE4B7C-042D-6388-3E12-FE4BFA12A938}"/>
              </a:ext>
            </a:extLst>
          </p:cNvPr>
          <p:cNvSpPr txBox="1"/>
          <p:nvPr/>
        </p:nvSpPr>
        <p:spPr>
          <a:xfrm>
            <a:off x="17273893" y="2100718"/>
            <a:ext cx="5518703" cy="307777"/>
          </a:xfrm>
          <a:prstGeom prst="rect">
            <a:avLst/>
          </a:prstGeom>
          <a:noFill/>
        </p:spPr>
        <p:txBody>
          <a:bodyPr wrap="square" rtlCol="0">
            <a:spAutoFit/>
          </a:bodyPr>
          <a:lstStyle/>
          <a:p>
            <a:r>
              <a:rPr lang="en-US" b="1" dirty="0">
                <a:solidFill>
                  <a:srgbClr val="00232E"/>
                </a:solidFill>
                <a:latin typeface="Agency FB" panose="020B0503020202020204" pitchFamily="34" charset="0"/>
              </a:rPr>
              <a:t>Table (7) </a:t>
            </a:r>
            <a:r>
              <a:rPr lang="en-US" dirty="0">
                <a:solidFill>
                  <a:srgbClr val="00232E"/>
                </a:solidFill>
                <a:latin typeface="Agency FB" panose="020B0503020202020204" pitchFamily="34" charset="0"/>
              </a:rPr>
              <a:t>sows how our test plan achieved the design requirements</a:t>
            </a:r>
          </a:p>
        </p:txBody>
      </p:sp>
      <p:sp>
        <p:nvSpPr>
          <p:cNvPr id="494" name="TextBox 493">
            <a:extLst>
              <a:ext uri="{FF2B5EF4-FFF2-40B4-BE49-F238E27FC236}">
                <a16:creationId xmlns:a16="http://schemas.microsoft.com/office/drawing/2014/main" id="{8A1A62C2-BCAE-ADFD-D642-0D8C71843537}"/>
              </a:ext>
            </a:extLst>
          </p:cNvPr>
          <p:cNvSpPr txBox="1"/>
          <p:nvPr/>
        </p:nvSpPr>
        <p:spPr>
          <a:xfrm rot="5400000">
            <a:off x="20706638" y="2880062"/>
            <a:ext cx="1308668"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Graph (7)</a:t>
            </a:r>
            <a:endParaRPr lang="en-US" sz="1200" b="1" dirty="0">
              <a:solidFill>
                <a:srgbClr val="C1E4F5"/>
              </a:solidFill>
              <a:latin typeface="Copperplate Gothic Bold" panose="020E0705020206020404" pitchFamily="34" charset="0"/>
            </a:endParaRPr>
          </a:p>
        </p:txBody>
      </p:sp>
      <p:sp>
        <p:nvSpPr>
          <p:cNvPr id="495" name="Google Shape;389;p20">
            <a:extLst>
              <a:ext uri="{FF2B5EF4-FFF2-40B4-BE49-F238E27FC236}">
                <a16:creationId xmlns:a16="http://schemas.microsoft.com/office/drawing/2014/main" id="{CB2926B1-C129-814D-F997-3C63D5621D4F}"/>
              </a:ext>
            </a:extLst>
          </p:cNvPr>
          <p:cNvSpPr txBox="1">
            <a:spLocks/>
          </p:cNvSpPr>
          <p:nvPr/>
        </p:nvSpPr>
        <p:spPr>
          <a:xfrm>
            <a:off x="17169321" y="11984025"/>
            <a:ext cx="5081700" cy="822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Montserrat ExtraBold"/>
              <a:buNone/>
              <a:defRPr sz="902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9pPr>
          </a:lstStyle>
          <a:p>
            <a:pPr algn="l"/>
            <a:r>
              <a:rPr lang="en-US" sz="3600" dirty="0"/>
              <a:t>Literature citation</a:t>
            </a:r>
            <a:endParaRPr lang="en-US" sz="4000" dirty="0"/>
          </a:p>
        </p:txBody>
      </p:sp>
      <p:sp>
        <p:nvSpPr>
          <p:cNvPr id="496" name="TextBox 495">
            <a:extLst>
              <a:ext uri="{FF2B5EF4-FFF2-40B4-BE49-F238E27FC236}">
                <a16:creationId xmlns:a16="http://schemas.microsoft.com/office/drawing/2014/main" id="{BA1DB29A-0501-7B68-9995-49F97706323C}"/>
              </a:ext>
            </a:extLst>
          </p:cNvPr>
          <p:cNvSpPr txBox="1"/>
          <p:nvPr/>
        </p:nvSpPr>
        <p:spPr>
          <a:xfrm>
            <a:off x="17229225" y="12574806"/>
            <a:ext cx="5208531" cy="3411190"/>
          </a:xfrm>
          <a:prstGeom prst="rect">
            <a:avLst/>
          </a:prstGeom>
          <a:noFill/>
        </p:spPr>
        <p:txBody>
          <a:bodyPr wrap="square" rtlCol="0">
            <a:spAutoFit/>
          </a:bodyPr>
          <a:lstStyle/>
          <a:p>
            <a:pPr>
              <a:lnSpc>
                <a:spcPct val="90000"/>
              </a:lnSpc>
              <a:spcAft>
                <a:spcPts val="800"/>
              </a:spcAft>
              <a:tabLst>
                <a:tab pos="457200" algn="l"/>
              </a:tabLst>
            </a:pPr>
            <a:r>
              <a:rPr lang="en-US" kern="100" dirty="0">
                <a:effectLst/>
                <a:latin typeface="Agency FB" panose="020B0503020202020204" pitchFamily="34" charset="0"/>
                <a:ea typeface="Aptos" panose="020B0004020202020204" pitchFamily="34" charset="0"/>
                <a:cs typeface="Arial" panose="020B0604020202020204" pitchFamily="34" charset="0"/>
              </a:rPr>
              <a:t>-        Food and Agriculture Organization of the United Nations (FAO). (2023</a:t>
            </a:r>
            <a:r>
              <a:rPr lang="en-US" i="1" kern="100" dirty="0">
                <a:effectLst/>
                <a:latin typeface="Agency FB" panose="020B0503020202020204" pitchFamily="34" charset="0"/>
                <a:ea typeface="Aptos" panose="020B0004020202020204" pitchFamily="34" charset="0"/>
                <a:cs typeface="Arial" panose="020B0604020202020204" pitchFamily="34" charset="0"/>
              </a:rPr>
              <a:t>). Aquaculture </a:t>
            </a:r>
            <a:br>
              <a:rPr lang="en-US" i="1" kern="100" dirty="0">
                <a:effectLst/>
                <a:latin typeface="Agency FB" panose="020B0503020202020204" pitchFamily="34" charset="0"/>
                <a:ea typeface="Aptos" panose="020B0004020202020204" pitchFamily="34" charset="0"/>
                <a:cs typeface="Arial" panose="020B0604020202020204" pitchFamily="34" charset="0"/>
              </a:rPr>
            </a:br>
            <a:r>
              <a:rPr lang="en-US" i="1" kern="100" dirty="0">
                <a:effectLst/>
                <a:latin typeface="Agency FB" panose="020B0503020202020204" pitchFamily="34" charset="0"/>
                <a:ea typeface="Aptos" panose="020B0004020202020204" pitchFamily="34" charset="0"/>
                <a:cs typeface="Arial" panose="020B0604020202020204" pitchFamily="34" charset="0"/>
              </a:rPr>
              <a:t>systems and technologies</a:t>
            </a:r>
            <a:r>
              <a:rPr lang="en-US" kern="100" dirty="0">
                <a:effectLst/>
                <a:latin typeface="Agency FB" panose="020B0503020202020204" pitchFamily="34" charset="0"/>
                <a:ea typeface="Aptos" panose="020B0004020202020204" pitchFamily="34" charset="0"/>
                <a:cs typeface="Arial" panose="020B0604020202020204" pitchFamily="34" charset="0"/>
              </a:rPr>
              <a:t>. </a:t>
            </a:r>
            <a:r>
              <a:rPr lang="en-US" u="sng" kern="100" dirty="0">
                <a:solidFill>
                  <a:srgbClr val="467886"/>
                </a:solidFill>
                <a:effectLst/>
                <a:latin typeface="Agency FB" panose="020B0503020202020204" pitchFamily="34" charset="0"/>
                <a:ea typeface="Aptos" panose="020B0004020202020204" pitchFamily="34" charset="0"/>
                <a:cs typeface="Arial" panose="020B0604020202020204" pitchFamily="34" charset="0"/>
                <a:hlinkClick r:id="rId35"/>
              </a:rPr>
              <a:t>https://www.fao.org/aquaculture</a:t>
            </a:r>
            <a:r>
              <a:rPr lang="en-US" kern="100" dirty="0">
                <a:effectLst/>
                <a:latin typeface="Agency FB" panose="020B0503020202020204" pitchFamily="34" charset="0"/>
                <a:ea typeface="Aptos" panose="020B0004020202020204" pitchFamily="34" charset="0"/>
                <a:cs typeface="Arial" panose="020B0604020202020204" pitchFamily="34" charset="0"/>
              </a:rPr>
              <a:t>. </a:t>
            </a:r>
            <a:br>
              <a:rPr lang="en-US" kern="100" dirty="0">
                <a:effectLst/>
                <a:latin typeface="Agency FB" panose="020B0503020202020204" pitchFamily="34" charset="0"/>
                <a:ea typeface="Aptos" panose="020B0004020202020204" pitchFamily="34" charset="0"/>
                <a:cs typeface="Arial" panose="020B0604020202020204" pitchFamily="34" charset="0"/>
              </a:rPr>
            </a:br>
            <a:r>
              <a:rPr lang="en-US" kern="100" dirty="0">
                <a:effectLst/>
                <a:latin typeface="Agency FB" panose="020B0503020202020204" pitchFamily="34" charset="0"/>
                <a:ea typeface="Aptos" panose="020B0004020202020204" pitchFamily="34" charset="0"/>
                <a:cs typeface="Arial" panose="020B0604020202020204" pitchFamily="34" charset="0"/>
              </a:rPr>
              <a:t>-         Chen, C.-H., Wu, Y.-C., Zhang, J.-X., &amp; Chen, Y.-H. (2022). </a:t>
            </a:r>
            <a:r>
              <a:rPr lang="en-US" kern="100" dirty="0" err="1">
                <a:effectLst/>
                <a:latin typeface="Agency FB" panose="020B0503020202020204" pitchFamily="34" charset="0"/>
                <a:ea typeface="Aptos" panose="020B0004020202020204" pitchFamily="34" charset="0"/>
                <a:cs typeface="Arial" panose="020B0604020202020204" pitchFamily="34" charset="0"/>
              </a:rPr>
              <a:t>Iot</a:t>
            </a:r>
            <a:r>
              <a:rPr lang="en-US" kern="100" dirty="0">
                <a:effectLst/>
                <a:latin typeface="Agency FB" panose="020B0503020202020204" pitchFamily="34" charset="0"/>
                <a:ea typeface="Aptos" panose="020B0004020202020204" pitchFamily="34" charset="0"/>
                <a:cs typeface="Arial" panose="020B0604020202020204" pitchFamily="34" charset="0"/>
              </a:rPr>
              <a:t>-based Fish Farm Water Quality Monitoring System. </a:t>
            </a:r>
            <a:r>
              <a:rPr lang="en-US" i="1" kern="100" dirty="0">
                <a:effectLst/>
                <a:latin typeface="Agency FB" panose="020B0503020202020204" pitchFamily="34" charset="0"/>
                <a:ea typeface="Aptos" panose="020B0004020202020204" pitchFamily="34" charset="0"/>
                <a:cs typeface="Arial" panose="020B0604020202020204" pitchFamily="34" charset="0"/>
              </a:rPr>
              <a:t>Sensors</a:t>
            </a:r>
            <a:r>
              <a:rPr lang="en-US" kern="100" dirty="0">
                <a:effectLst/>
                <a:latin typeface="Agency FB" panose="020B0503020202020204" pitchFamily="34" charset="0"/>
                <a:ea typeface="Aptos" panose="020B0004020202020204" pitchFamily="34" charset="0"/>
                <a:cs typeface="Arial" panose="020B0604020202020204" pitchFamily="34" charset="0"/>
              </a:rPr>
              <a:t>, </a:t>
            </a:r>
            <a:r>
              <a:rPr lang="en-US" i="1" kern="100" dirty="0">
                <a:effectLst/>
                <a:latin typeface="Agency FB" panose="020B0503020202020204" pitchFamily="34" charset="0"/>
                <a:ea typeface="Aptos" panose="020B0004020202020204" pitchFamily="34" charset="0"/>
                <a:cs typeface="Arial" panose="020B0604020202020204" pitchFamily="34" charset="0"/>
              </a:rPr>
              <a:t>22</a:t>
            </a:r>
            <a:r>
              <a:rPr lang="en-US" kern="100" dirty="0">
                <a:effectLst/>
                <a:latin typeface="Agency FB" panose="020B0503020202020204" pitchFamily="34" charset="0"/>
                <a:ea typeface="Aptos" panose="020B0004020202020204" pitchFamily="34" charset="0"/>
                <a:cs typeface="Arial" panose="020B0604020202020204" pitchFamily="34" charset="0"/>
              </a:rPr>
              <a:t>(17), 6700. </a:t>
            </a:r>
            <a:r>
              <a:rPr lang="en-US" u="sng" kern="100" dirty="0">
                <a:solidFill>
                  <a:srgbClr val="467886"/>
                </a:solidFill>
                <a:effectLst/>
                <a:latin typeface="Agency FB" panose="020B0503020202020204" pitchFamily="34" charset="0"/>
                <a:ea typeface="Aptos" panose="020B0004020202020204" pitchFamily="34" charset="0"/>
                <a:cs typeface="Arial" panose="020B0604020202020204" pitchFamily="34" charset="0"/>
                <a:hlinkClick r:id="rId36"/>
              </a:rPr>
              <a:t>https://doi.org/10.3390/s22176700</a:t>
            </a:r>
            <a:r>
              <a:rPr lang="en-US" kern="100" dirty="0">
                <a:effectLst/>
                <a:latin typeface="Agency FB" panose="020B0503020202020204" pitchFamily="34" charset="0"/>
                <a:ea typeface="Aptos" panose="020B0004020202020204" pitchFamily="34" charset="0"/>
                <a:cs typeface="Arial" panose="020B0604020202020204" pitchFamily="34" charset="0"/>
              </a:rPr>
              <a:t>  </a:t>
            </a:r>
            <a:br>
              <a:rPr lang="en-US" kern="100" dirty="0">
                <a:latin typeface="Agency FB" panose="020B0503020202020204" pitchFamily="34" charset="0"/>
                <a:ea typeface="Aptos" panose="020B0004020202020204" pitchFamily="34" charset="0"/>
                <a:cs typeface="Arial" panose="020B0604020202020204" pitchFamily="34" charset="0"/>
              </a:rPr>
            </a:br>
            <a:r>
              <a:rPr lang="en-US" kern="100" dirty="0">
                <a:effectLst/>
                <a:latin typeface="Agency FB" panose="020B0503020202020204" pitchFamily="34" charset="0"/>
                <a:ea typeface="Aptos" panose="020B0004020202020204" pitchFamily="34" charset="0"/>
                <a:cs typeface="Arial" panose="020B0604020202020204" pitchFamily="34" charset="0"/>
              </a:rPr>
              <a:t>-        Huang, D. Z. (2012). Modeling and simulation of the dissolved oxygen monitoring system in aquaculture</a:t>
            </a:r>
            <a:r>
              <a:rPr lang="en-US" i="1" kern="100" dirty="0">
                <a:effectLst/>
                <a:latin typeface="Agency FB" panose="020B0503020202020204" pitchFamily="34" charset="0"/>
                <a:ea typeface="Aptos" panose="020B0004020202020204" pitchFamily="34" charset="0"/>
                <a:cs typeface="Arial" panose="020B0604020202020204" pitchFamily="34" charset="0"/>
              </a:rPr>
              <a:t>. Advanced Materials Research, 605–607</a:t>
            </a:r>
            <a:r>
              <a:rPr lang="en-US" kern="100" dirty="0">
                <a:effectLst/>
                <a:latin typeface="Agency FB" panose="020B0503020202020204" pitchFamily="34" charset="0"/>
                <a:ea typeface="Aptos" panose="020B0004020202020204" pitchFamily="34" charset="0"/>
                <a:cs typeface="Arial" panose="020B0604020202020204" pitchFamily="34" charset="0"/>
              </a:rPr>
              <a:t>, 910–914. </a:t>
            </a:r>
            <a:r>
              <a:rPr lang="en-US" u="sng" kern="100" dirty="0">
                <a:solidFill>
                  <a:srgbClr val="467886"/>
                </a:solidFill>
                <a:effectLst/>
                <a:latin typeface="Agency FB" panose="020B0503020202020204" pitchFamily="34" charset="0"/>
                <a:ea typeface="Aptos" panose="020B0004020202020204" pitchFamily="34" charset="0"/>
                <a:cs typeface="Arial" panose="020B0604020202020204" pitchFamily="34" charset="0"/>
                <a:hlinkClick r:id="rId37"/>
              </a:rPr>
              <a:t>https://doi.org/10.4028/www.scientific.net/amr.605-607.910</a:t>
            </a:r>
            <a:r>
              <a:rPr lang="en-US" kern="100" dirty="0">
                <a:effectLst/>
                <a:latin typeface="Agency FB" panose="020B0503020202020204" pitchFamily="34" charset="0"/>
                <a:ea typeface="Aptos" panose="020B0004020202020204" pitchFamily="34" charset="0"/>
                <a:cs typeface="Arial" panose="020B0604020202020204" pitchFamily="34" charset="0"/>
              </a:rPr>
              <a:t> </a:t>
            </a:r>
            <a:br>
              <a:rPr lang="en-US" kern="100" dirty="0">
                <a:effectLst/>
                <a:latin typeface="Agency FB" panose="020B0503020202020204" pitchFamily="34" charset="0"/>
                <a:ea typeface="Aptos" panose="020B0004020202020204" pitchFamily="34" charset="0"/>
                <a:cs typeface="Arial" panose="020B0604020202020204" pitchFamily="34" charset="0"/>
              </a:rPr>
            </a:br>
            <a:r>
              <a:rPr lang="en-US" kern="100" dirty="0">
                <a:effectLst/>
                <a:latin typeface="Agency FB" panose="020B0503020202020204" pitchFamily="34" charset="0"/>
                <a:ea typeface="Aptos" panose="020B0004020202020204" pitchFamily="34" charset="0"/>
                <a:cs typeface="Arial" panose="020B0604020202020204" pitchFamily="34" charset="0"/>
              </a:rPr>
              <a:t>-         </a:t>
            </a:r>
            <a:r>
              <a:rPr lang="en-US" kern="100" dirty="0" err="1">
                <a:effectLst/>
                <a:latin typeface="Agency FB" panose="020B0503020202020204" pitchFamily="34" charset="0"/>
                <a:ea typeface="Aptos" panose="020B0004020202020204" pitchFamily="34" charset="0"/>
                <a:cs typeface="Arial" panose="020B0604020202020204" pitchFamily="34" charset="0"/>
              </a:rPr>
              <a:t>Meseguer</a:t>
            </a:r>
            <a:r>
              <a:rPr lang="en-US" kern="100" dirty="0">
                <a:effectLst/>
                <a:latin typeface="Agency FB" panose="020B0503020202020204" pitchFamily="34" charset="0"/>
                <a:ea typeface="Aptos" panose="020B0004020202020204" pitchFamily="34" charset="0"/>
                <a:cs typeface="Arial" panose="020B0604020202020204" pitchFamily="34" charset="0"/>
              </a:rPr>
              <a:t>, J., &amp; Quevedo, J. (2017). Real-time monitoring and control in water systems. </a:t>
            </a:r>
            <a:r>
              <a:rPr lang="en-US" i="1" kern="100" dirty="0">
                <a:effectLst/>
                <a:latin typeface="Agency FB" panose="020B0503020202020204" pitchFamily="34" charset="0"/>
                <a:ea typeface="Aptos" panose="020B0004020202020204" pitchFamily="34" charset="0"/>
                <a:cs typeface="Arial" panose="020B0604020202020204" pitchFamily="34" charset="0"/>
              </a:rPr>
              <a:t>Advances in Industrial Control</a:t>
            </a:r>
            <a:r>
              <a:rPr lang="ar-SA" kern="100" dirty="0">
                <a:effectLst/>
                <a:latin typeface="Agency FB" panose="020B0503020202020204" pitchFamily="34" charset="0"/>
                <a:ea typeface="Aptos" panose="020B0004020202020204" pitchFamily="34" charset="0"/>
                <a:cs typeface="Arial" panose="020B0604020202020204" pitchFamily="34" charset="0"/>
              </a:rPr>
              <a:t>)</a:t>
            </a:r>
            <a:r>
              <a:rPr lang="en-US" kern="100" dirty="0">
                <a:effectLst/>
                <a:latin typeface="Agency FB" panose="020B0503020202020204" pitchFamily="34" charset="0"/>
                <a:ea typeface="Aptos" panose="020B0004020202020204" pitchFamily="34" charset="0"/>
                <a:cs typeface="Arial" panose="020B0604020202020204" pitchFamily="34" charset="0"/>
              </a:rPr>
              <a:t>pp. 1–19).springer. </a:t>
            </a:r>
            <a:r>
              <a:rPr lang="en-US" u="sng" kern="100" dirty="0">
                <a:solidFill>
                  <a:srgbClr val="467886"/>
                </a:solidFill>
                <a:effectLst/>
                <a:latin typeface="Agency FB" panose="020B0503020202020204" pitchFamily="34" charset="0"/>
                <a:ea typeface="Aptos" panose="020B0004020202020204" pitchFamily="34" charset="0"/>
                <a:cs typeface="Arial" panose="020B0604020202020204" pitchFamily="34" charset="0"/>
                <a:hlinkClick r:id="rId38"/>
              </a:rPr>
              <a:t>https://doi.org/10.1007/978-3-319-50751-4_1</a:t>
            </a:r>
            <a:r>
              <a:rPr lang="en-US" kern="100" dirty="0">
                <a:effectLst/>
                <a:latin typeface="Agency FB" panose="020B0503020202020204" pitchFamily="34" charset="0"/>
                <a:ea typeface="Aptos" panose="020B0004020202020204" pitchFamily="34" charset="0"/>
                <a:cs typeface="Arial" panose="020B0604020202020204" pitchFamily="34" charset="0"/>
              </a:rPr>
              <a:t>  .-pppppppppppppp9867iK</a:t>
            </a:r>
          </a:p>
          <a:p>
            <a:pPr>
              <a:lnSpc>
                <a:spcPct val="90000"/>
              </a:lnSpc>
              <a:spcAft>
                <a:spcPts val="800"/>
              </a:spcAft>
              <a:tabLst>
                <a:tab pos="457200" algn="l"/>
              </a:tabLst>
            </a:pPr>
            <a:r>
              <a:rPr lang="en-US" kern="100" dirty="0">
                <a:effectLst/>
                <a:latin typeface="Agency FB" panose="020B0503020202020204" pitchFamily="34" charset="0"/>
                <a:ea typeface="Aptos" panose="020B0004020202020204" pitchFamily="34" charset="0"/>
                <a:cs typeface="Arial" panose="020B0604020202020204" pitchFamily="34" charset="0"/>
              </a:rPr>
              <a:t>-          United States Environmental Protection Agency (EPA). (2022</a:t>
            </a:r>
            <a:r>
              <a:rPr lang="en-US" i="1" kern="100" dirty="0">
                <a:effectLst/>
                <a:latin typeface="Agency FB" panose="020B0503020202020204" pitchFamily="34" charset="0"/>
                <a:ea typeface="Aptos" panose="020B0004020202020204" pitchFamily="34" charset="0"/>
                <a:cs typeface="Arial" panose="020B0604020202020204" pitchFamily="34" charset="0"/>
              </a:rPr>
              <a:t>). Water quality monitoring in </a:t>
            </a:r>
            <a:r>
              <a:rPr lang="en-US" i="1" kern="100" dirty="0" err="1">
                <a:effectLst/>
                <a:latin typeface="Agency FB" panose="020B0503020202020204" pitchFamily="34" charset="0"/>
                <a:ea typeface="Aptos" panose="020B0004020202020204" pitchFamily="34" charset="0"/>
                <a:cs typeface="Arial" panose="020B0604020202020204" pitchFamily="34" charset="0"/>
              </a:rPr>
              <a:t>aquaculture.</a:t>
            </a:r>
            <a:r>
              <a:rPr lang="en-US" u="sng" kern="100" dirty="0" err="1">
                <a:solidFill>
                  <a:srgbClr val="467886"/>
                </a:solidFill>
                <a:effectLst/>
                <a:latin typeface="Agency FB" panose="020B0503020202020204" pitchFamily="34" charset="0"/>
                <a:ea typeface="Aptos" panose="020B0004020202020204" pitchFamily="34" charset="0"/>
                <a:cs typeface="Arial" panose="020B0604020202020204" pitchFamily="34" charset="0"/>
                <a:hlinkClick r:id="rId39"/>
              </a:rPr>
              <a:t>https</a:t>
            </a:r>
            <a:r>
              <a:rPr lang="en-US" u="sng" kern="100" dirty="0">
                <a:solidFill>
                  <a:srgbClr val="467886"/>
                </a:solidFill>
                <a:effectLst/>
                <a:latin typeface="Agency FB" panose="020B0503020202020204" pitchFamily="34" charset="0"/>
                <a:ea typeface="Aptos" panose="020B0004020202020204" pitchFamily="34" charset="0"/>
                <a:cs typeface="Arial" panose="020B0604020202020204" pitchFamily="34" charset="0"/>
                <a:hlinkClick r:id="rId39"/>
              </a:rPr>
              <a:t>://www.epa.gov/water-quality-monitoring/aquaculture</a:t>
            </a:r>
            <a:r>
              <a:rPr lang="en-US" kern="100" dirty="0">
                <a:effectLst/>
                <a:latin typeface="Agency FB" panose="020B0503020202020204" pitchFamily="34" charset="0"/>
                <a:ea typeface="Aptos" panose="020B0004020202020204" pitchFamily="34" charset="0"/>
                <a:cs typeface="Arial" panose="020B0604020202020204" pitchFamily="34" charset="0"/>
              </a:rPr>
              <a:t>. </a:t>
            </a:r>
          </a:p>
          <a:p>
            <a:pPr>
              <a:lnSpc>
                <a:spcPct val="90000"/>
              </a:lnSpc>
              <a:spcAft>
                <a:spcPts val="800"/>
              </a:spcAft>
              <a:tabLst>
                <a:tab pos="457200" algn="l"/>
              </a:tabLst>
            </a:pPr>
            <a:endParaRPr lang="en-US" kern="100" dirty="0">
              <a:effectLst/>
              <a:latin typeface="Agency FB" panose="020B0503020202020204" pitchFamily="34" charset="0"/>
              <a:ea typeface="Aptos" panose="020B0004020202020204" pitchFamily="34" charset="0"/>
              <a:cs typeface="Arial" panose="020B0604020202020204" pitchFamily="34" charset="0"/>
            </a:endParaRPr>
          </a:p>
          <a:p>
            <a:pPr>
              <a:lnSpc>
                <a:spcPct val="90000"/>
              </a:lnSpc>
              <a:spcAft>
                <a:spcPts val="800"/>
              </a:spcAft>
              <a:tabLst>
                <a:tab pos="457200" algn="l"/>
              </a:tabLst>
            </a:pPr>
            <a:endParaRPr lang="en-US" kern="100" dirty="0">
              <a:effectLst/>
              <a:latin typeface="Agency FB" panose="020B0503020202020204" pitchFamily="34" charset="0"/>
              <a:ea typeface="Aptos" panose="020B0004020202020204" pitchFamily="34" charset="0"/>
              <a:cs typeface="Arial" panose="020B0604020202020204" pitchFamily="34" charset="0"/>
            </a:endParaRPr>
          </a:p>
          <a:p>
            <a:pPr marR="0" lvl="0" rtl="0">
              <a:lnSpc>
                <a:spcPct val="90000"/>
              </a:lnSpc>
              <a:spcAft>
                <a:spcPts val="800"/>
              </a:spcAft>
              <a:tabLst>
                <a:tab pos="457200" algn="l"/>
              </a:tabLst>
            </a:pPr>
            <a:endParaRPr lang="en-US" kern="100" dirty="0">
              <a:effectLst/>
              <a:latin typeface="Agency FB" panose="020B0503020202020204" pitchFamily="34" charset="0"/>
              <a:ea typeface="Aptos" panose="020B0004020202020204" pitchFamily="34" charset="0"/>
              <a:cs typeface="Arial" panose="020B0604020202020204" pitchFamily="34" charset="0"/>
            </a:endParaRPr>
          </a:p>
        </p:txBody>
      </p:sp>
      <p:sp>
        <p:nvSpPr>
          <p:cNvPr id="498" name="Oval 497">
            <a:extLst>
              <a:ext uri="{FF2B5EF4-FFF2-40B4-BE49-F238E27FC236}">
                <a16:creationId xmlns:a16="http://schemas.microsoft.com/office/drawing/2014/main" id="{4C892DAA-61D0-C9C4-503A-229B1826E9C9}"/>
              </a:ext>
            </a:extLst>
          </p:cNvPr>
          <p:cNvSpPr/>
          <p:nvPr/>
        </p:nvSpPr>
        <p:spPr>
          <a:xfrm>
            <a:off x="660572" y="101651"/>
            <a:ext cx="1909235" cy="1909235"/>
          </a:xfrm>
          <a:prstGeom prst="ellipse">
            <a:avLst/>
          </a:prstGeom>
          <a:solidFill>
            <a:schemeClr val="accent1">
              <a:lumMod val="40000"/>
              <a:lumOff val="6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Oval 498">
            <a:extLst>
              <a:ext uri="{FF2B5EF4-FFF2-40B4-BE49-F238E27FC236}">
                <a16:creationId xmlns:a16="http://schemas.microsoft.com/office/drawing/2014/main" id="{3E1A677B-2964-3E27-4E72-1632350E403D}"/>
              </a:ext>
            </a:extLst>
          </p:cNvPr>
          <p:cNvSpPr/>
          <p:nvPr/>
        </p:nvSpPr>
        <p:spPr>
          <a:xfrm>
            <a:off x="20161157" y="184538"/>
            <a:ext cx="1909235" cy="1909235"/>
          </a:xfrm>
          <a:prstGeom prst="ellipse">
            <a:avLst/>
          </a:prstGeom>
          <a:solidFill>
            <a:schemeClr val="accent2">
              <a:lumMod val="40000"/>
              <a:lumOff val="6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0" name="Google Shape;389;p20">
            <a:extLst>
              <a:ext uri="{FF2B5EF4-FFF2-40B4-BE49-F238E27FC236}">
                <a16:creationId xmlns:a16="http://schemas.microsoft.com/office/drawing/2014/main" id="{38F2B893-CC8C-6174-17C9-DA42212DC4CE}"/>
              </a:ext>
            </a:extLst>
          </p:cNvPr>
          <p:cNvSpPr txBox="1">
            <a:spLocks/>
          </p:cNvSpPr>
          <p:nvPr/>
        </p:nvSpPr>
        <p:spPr>
          <a:xfrm>
            <a:off x="17250390" y="14915058"/>
            <a:ext cx="5081700" cy="822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Montserrat ExtraBold"/>
              <a:buNone/>
              <a:defRPr sz="902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7800"/>
              <a:buFont typeface="Montserrat ExtraBold"/>
              <a:buNone/>
              <a:defRPr sz="7800" b="0" i="0" u="none" strike="noStrike" cap="none">
                <a:solidFill>
                  <a:schemeClr val="dk1"/>
                </a:solidFill>
                <a:latin typeface="Montserrat ExtraBold"/>
                <a:ea typeface="Montserrat ExtraBold"/>
                <a:cs typeface="Montserrat ExtraBold"/>
                <a:sym typeface="Montserrat ExtraBold"/>
              </a:defRPr>
            </a:lvl9pPr>
          </a:lstStyle>
          <a:p>
            <a:pPr algn="l"/>
            <a:r>
              <a:rPr lang="en-US" sz="3600" dirty="0"/>
              <a:t>Further information</a:t>
            </a:r>
            <a:endParaRPr lang="en-US" sz="4000" dirty="0"/>
          </a:p>
        </p:txBody>
      </p:sp>
      <p:pic>
        <p:nvPicPr>
          <p:cNvPr id="502" name="Picture 501">
            <a:extLst>
              <a:ext uri="{FF2B5EF4-FFF2-40B4-BE49-F238E27FC236}">
                <a16:creationId xmlns:a16="http://schemas.microsoft.com/office/drawing/2014/main" id="{50D02D2E-5952-14CC-1943-61B6AF30B57F}"/>
              </a:ext>
            </a:extLst>
          </p:cNvPr>
          <p:cNvPicPr>
            <a:picLocks noChangeAspect="1"/>
          </p:cNvPicPr>
          <p:nvPr/>
        </p:nvPicPr>
        <p:blipFill>
          <a:blip r:embed="rId40"/>
          <a:stretch>
            <a:fillRect/>
          </a:stretch>
        </p:blipFill>
        <p:spPr>
          <a:xfrm>
            <a:off x="9525969" y="3458105"/>
            <a:ext cx="1409396" cy="1054435"/>
          </a:xfrm>
          <a:prstGeom prst="rect">
            <a:avLst/>
          </a:prstGeom>
        </p:spPr>
      </p:pic>
      <p:sp>
        <p:nvSpPr>
          <p:cNvPr id="509" name="TextBox 508">
            <a:extLst>
              <a:ext uri="{FF2B5EF4-FFF2-40B4-BE49-F238E27FC236}">
                <a16:creationId xmlns:a16="http://schemas.microsoft.com/office/drawing/2014/main" id="{7E4248E4-DF16-00E0-EE3B-D4684F934A52}"/>
              </a:ext>
            </a:extLst>
          </p:cNvPr>
          <p:cNvSpPr txBox="1"/>
          <p:nvPr/>
        </p:nvSpPr>
        <p:spPr>
          <a:xfrm rot="5400000">
            <a:off x="10533756" y="3843108"/>
            <a:ext cx="1084453" cy="307777"/>
          </a:xfrm>
          <a:prstGeom prst="rect">
            <a:avLst/>
          </a:prstGeom>
          <a:solidFill>
            <a:srgbClr val="156082"/>
          </a:solidFill>
          <a:ln>
            <a:noFill/>
          </a:ln>
        </p:spPr>
        <p:txBody>
          <a:bodyPr wrap="square" rtlCol="0">
            <a:spAutoFit/>
          </a:bodyPr>
          <a:lstStyle/>
          <a:p>
            <a:pPr algn="ctr"/>
            <a:r>
              <a:rPr lang="en-US" b="1" dirty="0">
                <a:solidFill>
                  <a:srgbClr val="C1E4F5"/>
                </a:solidFill>
                <a:latin typeface="Agency FB" panose="020B0503020202020204" pitchFamily="34" charset="0"/>
              </a:rPr>
              <a:t>Figure (4)</a:t>
            </a:r>
            <a:endParaRPr lang="en-US" sz="1200" b="1" dirty="0">
              <a:solidFill>
                <a:srgbClr val="C1E4F5"/>
              </a:solidFill>
              <a:latin typeface="Copperplate Gothic Bold" panose="020E0705020206020404" pitchFamily="34" charset="0"/>
            </a:endParaRPr>
          </a:p>
        </p:txBody>
      </p:sp>
      <p:sp>
        <p:nvSpPr>
          <p:cNvPr id="510" name="TextBox 509">
            <a:extLst>
              <a:ext uri="{FF2B5EF4-FFF2-40B4-BE49-F238E27FC236}">
                <a16:creationId xmlns:a16="http://schemas.microsoft.com/office/drawing/2014/main" id="{B12867B8-CDA6-0190-3CB7-69A35CF94B89}"/>
              </a:ext>
            </a:extLst>
          </p:cNvPr>
          <p:cNvSpPr txBox="1"/>
          <p:nvPr/>
        </p:nvSpPr>
        <p:spPr>
          <a:xfrm>
            <a:off x="17327880" y="15576043"/>
            <a:ext cx="3903346" cy="1169551"/>
          </a:xfrm>
          <a:prstGeom prst="rect">
            <a:avLst/>
          </a:prstGeom>
          <a:noFill/>
        </p:spPr>
        <p:txBody>
          <a:bodyPr wrap="square" rtlCol="0">
            <a:spAutoFit/>
          </a:bodyPr>
          <a:lstStyle/>
          <a:p>
            <a:r>
              <a:rPr lang="en-US" dirty="0">
                <a:hlinkClick r:id="rId41"/>
              </a:rPr>
              <a:t>-mohamed.2522043@stemelsadat.moe.edu.eg</a:t>
            </a:r>
            <a:endParaRPr lang="en-US" dirty="0"/>
          </a:p>
          <a:p>
            <a:br>
              <a:rPr lang="en-US" dirty="0"/>
            </a:br>
            <a:r>
              <a:rPr lang="en-US" dirty="0">
                <a:hlinkClick r:id="rId42"/>
              </a:rPr>
              <a:t>-Ahmed.2522029@stemelsadat.moe.edu.eg</a:t>
            </a:r>
            <a:r>
              <a:rPr lang="en-US" dirty="0"/>
              <a:t> </a:t>
            </a:r>
          </a:p>
          <a:p>
            <a:endParaRPr lang="en-US" dirty="0"/>
          </a:p>
          <a:p>
            <a:r>
              <a:rPr lang="en-US" dirty="0">
                <a:hlinkClick r:id="rId43"/>
              </a:rPr>
              <a:t>-fares.2522038@stemelsadat.moe.edu.eg</a:t>
            </a:r>
            <a:r>
              <a:rPr lang="en-US" dirty="0"/>
              <a:t> </a:t>
            </a:r>
          </a:p>
        </p:txBody>
      </p:sp>
      <p:pic>
        <p:nvPicPr>
          <p:cNvPr id="387" name="Graphic 386" descr="Email with solid fill">
            <a:extLst>
              <a:ext uri="{FF2B5EF4-FFF2-40B4-BE49-F238E27FC236}">
                <a16:creationId xmlns:a16="http://schemas.microsoft.com/office/drawing/2014/main" id="{472E11E2-B9BC-9089-B169-72E3C1E5B248}"/>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21207083" y="15642618"/>
            <a:ext cx="914400" cy="914400"/>
          </a:xfrm>
          <a:prstGeom prst="rect">
            <a:avLst/>
          </a:prstGeom>
        </p:spPr>
      </p:pic>
      <p:sp>
        <p:nvSpPr>
          <p:cNvPr id="401" name="TextBox 400">
            <a:extLst>
              <a:ext uri="{FF2B5EF4-FFF2-40B4-BE49-F238E27FC236}">
                <a16:creationId xmlns:a16="http://schemas.microsoft.com/office/drawing/2014/main" id="{207BCCA8-56CA-11C8-1036-433A97F2DD81}"/>
              </a:ext>
            </a:extLst>
          </p:cNvPr>
          <p:cNvSpPr txBox="1"/>
          <p:nvPr/>
        </p:nvSpPr>
        <p:spPr>
          <a:xfrm>
            <a:off x="3792712" y="760412"/>
            <a:ext cx="15325668" cy="954107"/>
          </a:xfrm>
          <a:prstGeom prst="rect">
            <a:avLst/>
          </a:prstGeom>
          <a:noFill/>
        </p:spPr>
        <p:txBody>
          <a:bodyPr wrap="square" rtlCol="0">
            <a:spAutoFit/>
          </a:bodyPr>
          <a:lstStyle/>
          <a:p>
            <a:pPr algn="ctr"/>
            <a:r>
              <a:rPr lang="en-US" sz="2800" dirty="0">
                <a:solidFill>
                  <a:srgbClr val="00232E"/>
                </a:solidFill>
                <a:latin typeface="Agency FB" panose="020B0503020202020204" pitchFamily="34" charset="0"/>
              </a:rPr>
              <a:t>El-Sadat stem school- grade12- semester1 -schoolyear (2024/2025) -25307</a:t>
            </a:r>
          </a:p>
          <a:p>
            <a:pPr algn="ctr"/>
            <a:r>
              <a:rPr lang="en-US" sz="2800" b="1" dirty="0">
                <a:solidFill>
                  <a:srgbClr val="00232E"/>
                </a:solidFill>
                <a:latin typeface="Agency FB" panose="020B0503020202020204" pitchFamily="34" charset="0"/>
              </a:rPr>
              <a:t>Ahmed Mohamed- Mohammed Amr- Fares Mohammed</a:t>
            </a:r>
          </a:p>
        </p:txBody>
      </p:sp>
    </p:spTree>
  </p:cSld>
  <p:clrMapOvr>
    <a:masterClrMapping/>
  </p:clrMapOvr>
</p:sld>
</file>

<file path=ppt/theme/theme1.xml><?xml version="1.0" encoding="utf-8"?>
<a:theme xmlns:a="http://schemas.openxmlformats.org/drawingml/2006/main" name="Geometric Style Research Poster by Slidesgo">
  <a:themeElements>
    <a:clrScheme name="Simple Light">
      <a:dk1>
        <a:srgbClr val="142360"/>
      </a:dk1>
      <a:lt1>
        <a:srgbClr val="90EFF1"/>
      </a:lt1>
      <a:dk2>
        <a:srgbClr val="FFFFFF"/>
      </a:dk2>
      <a:lt2>
        <a:srgbClr val="D1F4FF"/>
      </a:lt2>
      <a:accent1>
        <a:srgbClr val="0055A5"/>
      </a:accent1>
      <a:accent2>
        <a:srgbClr val="0095D5"/>
      </a:accent2>
      <a:accent3>
        <a:srgbClr val="FFFFFF"/>
      </a:accent3>
      <a:accent4>
        <a:srgbClr val="FFFFFF"/>
      </a:accent4>
      <a:accent5>
        <a:srgbClr val="FFFFFF"/>
      </a:accent5>
      <a:accent6>
        <a:srgbClr val="FFFFFF"/>
      </a:accent6>
      <a:hlink>
        <a:srgbClr val="1423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3E17073B4F01B43A515834D897F0378" ma:contentTypeVersion="5" ma:contentTypeDescription="Create a new document." ma:contentTypeScope="" ma:versionID="d36124421ad7d36c21d169fe4f16e030">
  <xsd:schema xmlns:xsd="http://www.w3.org/2001/XMLSchema" xmlns:xs="http://www.w3.org/2001/XMLSchema" xmlns:p="http://schemas.microsoft.com/office/2006/metadata/properties" xmlns:ns3="6ce8ce3d-6fc1-42b1-ac9b-589e2707081f" targetNamespace="http://schemas.microsoft.com/office/2006/metadata/properties" ma:root="true" ma:fieldsID="f6392681794dad12e3f872dded1ffef7" ns3:_="">
    <xsd:import namespace="6ce8ce3d-6fc1-42b1-ac9b-589e2707081f"/>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e8ce3d-6fc1-42b1-ac9b-589e270708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ce8ce3d-6fc1-42b1-ac9b-589e2707081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0F0071D-CED2-413D-893C-5E3A438859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e8ce3d-6fc1-42b1-ac9b-589e270708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A0938D-DA2B-48CA-9532-775C6FA0F551}">
  <ds:schemaRefs>
    <ds:schemaRef ds:uri="http://purl.org/dc/terms/"/>
    <ds:schemaRef ds:uri="http://purl.org/dc/elements/1.1/"/>
    <ds:schemaRef ds:uri="http://schemas.microsoft.com/office/2006/documentManagement/types"/>
    <ds:schemaRef ds:uri="http://purl.org/dc/dcmitype/"/>
    <ds:schemaRef ds:uri="http://www.w3.org/XML/1998/namespace"/>
    <ds:schemaRef ds:uri="http://schemas.openxmlformats.org/package/2006/metadata/core-properties"/>
    <ds:schemaRef ds:uri="http://schemas.microsoft.com/office/infopath/2007/PartnerControls"/>
    <ds:schemaRef ds:uri="6ce8ce3d-6fc1-42b1-ac9b-589e2707081f"/>
    <ds:schemaRef ds:uri="http://schemas.microsoft.com/office/2006/metadata/properties"/>
  </ds:schemaRefs>
</ds:datastoreItem>
</file>

<file path=customXml/itemProps3.xml><?xml version="1.0" encoding="utf-8"?>
<ds:datastoreItem xmlns:ds="http://schemas.openxmlformats.org/officeDocument/2006/customXml" ds:itemID="{1D605ED2-D1A4-49D8-9F9B-011BCD06EFD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2028</TotalTime>
  <Words>2402</Words>
  <Application>Microsoft Office PowerPoint</Application>
  <PresentationFormat>Custom</PresentationFormat>
  <Paragraphs>130</Paragraphs>
  <Slides>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Aptos</vt:lpstr>
      <vt:lpstr>Montserrat ExtraBold</vt:lpstr>
      <vt:lpstr>Boucherie Block</vt:lpstr>
      <vt:lpstr>Arial</vt:lpstr>
      <vt:lpstr>Cambria Math</vt:lpstr>
      <vt:lpstr>Roboto</vt:lpstr>
      <vt:lpstr>Agency FB</vt:lpstr>
      <vt:lpstr>Aharoni</vt:lpstr>
      <vt:lpstr>Copperplate Gothic Bold</vt:lpstr>
      <vt:lpstr>Geometric Style Research Poster by Slidesgo</vt:lpstr>
      <vt:lpstr>Abstarct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fares</dc:creator>
  <cp:lastModifiedBy>Fares Mohmed Nabile Zaky Elshreif</cp:lastModifiedBy>
  <cp:revision>8</cp:revision>
  <dcterms:modified xsi:type="dcterms:W3CDTF">2026-06-09T14:34:40Z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0x01010013E17073B4F01B43A515834D897F0378</vt:lpwstr>
  </property>
</Properties>
</file>